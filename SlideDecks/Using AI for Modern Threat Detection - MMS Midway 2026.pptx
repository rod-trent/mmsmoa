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24" r:id="rId38"/>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 Id="rId38"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The callback slide. If you were at my MMS MOA session, slide 16 was 'From KQL Query to MCP Tool: Step-by-Step' and it was seven steps, four of them engineering. Microsoft now ships step 4 as a menu item: open a saved advanced hunting query in the Defender portal, pick 'Save as tool' from the query's context menu or from the KQL box menu, and fill in Name, Description, Collection and Default workspace. Parameters come from putting {ParameterName} directly in the KQL and then naming and describing each one. Saved tools appear on the Tools tab in Advanced hunting, and a collection gets its own MCP server URL you point a client at. Resist the urge to say 'now it is easy'. The honest line is that the plumbing went away and the judgment did not. The highest-leverage field on that panel is the description, because that is what the model reads when it decides which tool to call - Microsoft's own guidance is short, action-oriented, start with a verb and a resource, describe purpose rather than parameters. That is MOA slide 21 restated by the vendor. Caveats, once: prerelease; needs Sentinel data lake and Microsoft Defender licenses; creating, updating or deleting tools needs Security Operator, Security Admin or Global Admin while listing and invoking needs only Security Reader or Global Reader; and custom collections are consumed from Security Copilot, Copilot Studio, Foundry or VS Code - not from the claude.ai connector. About 2 minutes, and it is cuttable if you are running short - but it is the slide that lands with anyone who saw the MOA session.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200"/>
              <a:t>Your Best Hunts Become Tools</a:t>
            </a:r>
          </a:p>
        </p:txBody>
      </p:sp>
      <p:sp>
        <p:nvSpPr>
          <p:cNvPr id="3" name="Text Placeholder 2"/>
          <p:cNvSpPr>
            <a:spLocks noGrp="1"/>
          </p:cNvSpPr>
          <p:nvPr>
            <p:ph type="body" idx="1"/>
          </p:nvPr>
        </p:nvSpPr>
        <p:spPr/>
        <p:txBody>
          <a:bodyPr/>
          <a:lstStyle/>
          <a:p>
            <a:r>
              <a:t>At MMS MOA, this was seven steps</a:t>
            </a:r>
          </a:p>
        </p:txBody>
      </p:sp>
      <p:sp>
        <p:nvSpPr>
          <p:cNvPr id="4" name="Content Placeholder 3"/>
          <p:cNvSpPr>
            <a:spLocks noGrp="1"/>
          </p:cNvSpPr>
          <p:nvPr>
            <p:ph sz="half" idx="2"/>
          </p:nvPr>
        </p:nvSpPr>
        <p:spPr/>
        <p:txBody>
          <a:bodyPr/>
          <a:lstStyle/>
          <a:p>
            <a:r>
              <a:rPr sz="1600"/>
              <a:t>Identify the repeatable KQL in your runbooks</a:t>
            </a:r>
          </a:p>
          <a:p>
            <a:r>
              <a:rPr sz="1600"/>
              <a:t>Parameterize it: time range, entity values, thresholds</a:t>
            </a:r>
          </a:p>
          <a:p>
            <a:r>
              <a:rPr sz="1600"/>
              <a:t>Define the tool schema: name, description, parameter types</a:t>
            </a:r>
          </a:p>
          <a:p>
            <a:r>
              <a:rPr sz="1600"/>
              <a:t>Implement the handler: call the API, return structured JSON</a:t>
            </a:r>
          </a:p>
          <a:p>
            <a:r>
              <a:rPr sz="1600"/>
              <a:t>Enrich: join watchlists, threat intel, entity data</a:t>
            </a:r>
          </a:p>
          <a:p>
            <a:r>
              <a:rPr sz="1600"/>
              <a:t>Test against real incidents</a:t>
            </a:r>
          </a:p>
          <a:p>
            <a:r>
              <a:rPr sz="1600"/>
              <a:t>Document it — the description is what the AI reads</a:t>
            </a:r>
          </a:p>
        </p:txBody>
      </p:sp>
      <p:sp>
        <p:nvSpPr>
          <p:cNvPr id="5" name="Text Placeholder 4"/>
          <p:cNvSpPr>
            <a:spLocks noGrp="1"/>
          </p:cNvSpPr>
          <p:nvPr>
            <p:ph type="body" sz="quarter" idx="3"/>
          </p:nvPr>
        </p:nvSpPr>
        <p:spPr/>
        <p:txBody>
          <a:bodyPr/>
          <a:lstStyle/>
          <a:p>
            <a:r>
              <a:t>Today it is a menu item</a:t>
            </a:r>
          </a:p>
        </p:txBody>
      </p:sp>
      <p:sp>
        <p:nvSpPr>
          <p:cNvPr id="6" name="Content Placeholder 5"/>
          <p:cNvSpPr>
            <a:spLocks noGrp="1"/>
          </p:cNvSpPr>
          <p:nvPr>
            <p:ph sz="quarter" idx="4"/>
          </p:nvPr>
        </p:nvSpPr>
        <p:spPr/>
        <p:txBody>
          <a:bodyPr/>
          <a:lstStyle/>
          <a:p>
            <a:r>
              <a:rPr sz="1600"/>
              <a:t>Open the saved query in Advanced hunting</a:t>
            </a:r>
          </a:p>
          <a:p>
            <a:r>
              <a:rPr sz="1600"/>
              <a:t>Type {ParameterName} inline where the values go</a:t>
            </a:r>
          </a:p>
          <a:p>
            <a:r>
              <a:rPr sz="1600"/>
              <a:t>Save as tool — name, description, collection, default workspace</a:t>
            </a:r>
          </a:p>
          <a:p>
            <a:r>
              <a:rPr sz="1600"/>
              <a:t>No handler. Microsoft runs the query. This step is gone.</a:t>
            </a:r>
          </a:p>
          <a:p>
            <a:r>
              <a:rPr sz="1600"/>
              <a:t>Enrichment still lives in your KQL</a:t>
            </a:r>
          </a:p>
          <a:p>
            <a:r>
              <a:rPr sz="1600"/>
              <a:t>Test it the way you always did</a:t>
            </a:r>
          </a:p>
          <a:p>
            <a:r>
              <a:rPr sz="1600"/>
              <a:t>The description still decides whether the agent picks it</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One step of seven went away, and it was the plumbing. The six that decide whether the agent picks the right tool are still yours. Preview; needs the data lake plus Defender licenses. Security Operator or Admin to create, Security Reader to invoke.</a:t>
            </a:r>
          </a:p>
        </p:txBody>
      </p:sp>
      <p:pic>
        <p:nvPicPr>
          <p:cNvPr id="11" name="Picture 7" descr="exclaim.png"/>
          <p:cNvPicPr>
            <a:picLocks noChangeAspect="1"/>
          </p:cNvPicPr>
          <p:nvPr/>
        </p:nvPicPr>
        <p:blipFill>
          <a:blip r:embed="rId3"/>
          <a:stretch>
            <a:fillRect/>
          </a:stretch>
        </p:blipFill>
        <p:spPr>
          <a:xfrm>
            <a:off x="1024128" y="5669280"/>
            <a:ext cx="411480" cy="4114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a:xfrm>
            <a:off x="831850" y="658178"/>
            <a:ext cx="10515600" cy="2852737"/>
          </a:xfrm>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a:xfrm>
            <a:off x="831850" y="3537903"/>
            <a:ext cx="10515600" cy="1500187"/>
          </a:xfrm>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399032" y="4087368"/>
            <a:ext cx="1463040" cy="1463040"/>
          </a:xfrm>
          <a:prstGeom prst="rect">
            <a:avLst/>
          </a:prstGeom>
        </p:spPr>
      </p:pic>
      <p:sp>
        <p:nvSpPr>
          <p:cNvPr id="7" name="TextBox 6"/>
          <p:cNvSpPr txBox="1"/>
          <p:nvPr/>
        </p:nvSpPr>
        <p:spPr>
          <a:xfrm>
            <a:off x="3072384" y="452628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072384" y="4892040"/>
            <a:ext cx="4754880" cy="365760"/>
          </a:xfrm>
          <a:prstGeom prst="rect">
            <a:avLst/>
          </a:prstGeom>
          <a:noFill/>
        </p:spPr>
        <p:txBody>
          <a:bodyPr wrap="none" anchor="ctr" tIns="0" bIns="0" lIns="0">
            <a:spAutoFit/>
          </a:bodyPr>
          <a:lstStyle/>
          <a:p>
            <a:pPr algn="l"/>
            <a:r>
              <a:rPr sz="1700" b="1">
                <a:solidFill>
                  <a:srgbClr val="F2B134"/>
                </a:solidFill>
              </a:rPr>
              <a:t>go.rodtrent.com/go/c638n85</a:t>
            </a:r>
          </a:p>
        </p:txBody>
      </p:sp>
      <p:sp>
        <p:nvSpPr>
          <p:cNvPr id="9" name="QR repo TextBox 6"/>
          <p:cNvSpPr txBox="1"/>
          <p:nvPr/>
        </p:nvSpPr>
        <p:spPr>
          <a:xfrm>
            <a:off x="8357616" y="4526280"/>
            <a:ext cx="4754880" cy="365760"/>
          </a:xfrm>
          <a:prstGeom prst="rect">
            <a:avLst/>
          </a:prstGeom>
          <a:noFill/>
        </p:spPr>
        <p:txBody>
          <a:bodyPr wrap="none" anchor="ctr" tIns="0" bIns="0" lIns="0">
            <a:spAutoFit/>
          </a:bodyPr>
          <a:lstStyle/>
          <a:p>
            <a:pPr algn="l"/>
            <a:r>
              <a:rPr sz="1300" b="0">
                <a:solidFill>
                  <a:srgbClr val="C9D6F0"/>
                </a:solidFill>
              </a:rPr>
              <a:t>All the code, prompts, and decks</a:t>
            </a:r>
          </a:p>
        </p:txBody>
      </p:sp>
      <p:sp>
        <p:nvSpPr>
          <p:cNvPr id="10" name="QR repo TextBox 7"/>
          <p:cNvSpPr txBox="1"/>
          <p:nvPr/>
        </p:nvSpPr>
        <p:spPr>
          <a:xfrm>
            <a:off x="8357616" y="4892040"/>
            <a:ext cx="4754880" cy="365760"/>
          </a:xfrm>
          <a:prstGeom prst="rect">
            <a:avLst/>
          </a:prstGeom>
          <a:noFill/>
        </p:spPr>
        <p:txBody>
          <a:bodyPr wrap="none" anchor="ctr" tIns="0" bIns="0" lIns="0">
            <a:spAutoFit/>
          </a:bodyPr>
          <a:lstStyle/>
          <a:p>
            <a:pPr algn="l"/>
            <a:r>
              <a:rPr sz="1700" b="1">
                <a:solidFill>
                  <a:srgbClr val="F2B134"/>
                </a:solidFill>
              </a:rPr>
              <a:t>go.rodtrent.com/go/eje7vdj</a:t>
            </a:r>
          </a:p>
        </p:txBody>
      </p:sp>
      <p:pic>
        <p:nvPicPr>
          <p:cNvPr id="11" name="QR repo Picture" descr="qr-repo.png"/>
          <p:cNvPicPr>
            <a:picLocks noChangeAspect="1"/>
          </p:cNvPicPr>
          <p:nvPr/>
        </p:nvPicPr>
        <p:blipFill>
          <a:blip r:embed="rId5"/>
          <a:stretch>
            <a:fillRect/>
          </a:stretch>
        </p:blipFill>
        <p:spPr>
          <a:xfrm>
            <a:off x="6684264" y="4087368"/>
            <a:ext cx="1463040" cy="1463040"/>
          </a:xfrm>
          <a:prstGeom prst="rect">
            <a:avLst/>
          </a:prstGeom>
        </p:spPr>
      </p:pic>
    </p:spTree>
    <p:extLst>
      <p:ext uri="{BB962C8B-B14F-4D97-AF65-F5344CB8AC3E}">
        <p14:creationId xmlns:p14="http://schemas.microsoft.com/office/powerpoint/2010/main" val="22799427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go.rodtrent.com/go/c638n85</a:t>
            </a:r>
            <a:r>
              <a:rPr sz="1250" b="1">
                <a:solidFill>
                  <a:srgbClr val="F2B134"/>
                </a:solidFill>
                <a:latin typeface="Calibri"/>
              </a:rPr>
              <a:t xml:space="preserve">     ·     </a:t>
            </a:r>
            <a:r>
              <a:rPr sz="1250" b="1">
                <a:solidFill>
                  <a:srgbClr val="F2B134"/>
                </a:solidFill>
                <a:latin typeface="Calibri"/>
              </a:rPr>
              <a:t>Demo code:  go.rodtrent.com/go/eje7vdj</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