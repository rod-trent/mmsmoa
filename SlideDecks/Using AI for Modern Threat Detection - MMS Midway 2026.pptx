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24" r:id="rId18"/>
    <p:sldId id="312" r:id="rId19"/>
    <p:sldId id="313" r:id="rId20"/>
    <p:sldId id="314" r:id="rId21"/>
    <p:sldId id="315" r:id="rId22"/>
    <p:sldId id="316" r:id="rId23"/>
    <p:sldId id="317" r:id="rId24"/>
    <p:sldId id="318" r:id="rId25"/>
    <p:sldId id="319" r:id="rId26"/>
    <p:sldId id="320" r:id="rId27"/>
    <p:sldId id="321" r:id="rId28"/>
    <p:sldId id="322" r:id="rId29"/>
    <p:sldId id="323"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24"/>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90015FE-F1F5-4FCF-B037-996FCAEDEF0F}" v="1" dt="2026-10-24T13:47:45.24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490" autoAdjust="0"/>
  </p:normalViewPr>
  <p:slideViewPr>
    <p:cSldViewPr snapToGrid="0">
      <p:cViewPr varScale="1">
        <p:scale>
          <a:sx n="124" d="100"/>
          <a:sy n="124" d="100"/>
        </p:scale>
        <p:origin x="1720" y="8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21" Type="http://schemas.openxmlformats.org/officeDocument/2006/relationships/slide" Target="slides/slide16.xml"/><Relationship Id="rId34" Type="http://schemas.openxmlformats.org/officeDocument/2006/relationships/viewProps" Target="viewProp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handoutMaster" Target="handoutMasters/handoutMaster1.xml"/><Relationship Id="rId37"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tableStyles" Target="tableStyle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theme" Target="theme/theme1.xml"/><Relationship Id="rId8" Type="http://schemas.openxmlformats.org/officeDocument/2006/relationships/slide" Target="slides/slide3.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custSel modSld">
      <pc:chgData name="Rod Trent" userId="9f177c9e-5e30-4e0c-b08c-05ddc3564d39" providerId="ADAL" clId="{1A93B2F6-7DF8-4A32-B259-58BFFAEA055C}" dt="2026-10-24T14:39:14.080" v="180" actId="20577"/>
      <pc:docMkLst>
        <pc:docMk/>
      </pc:docMkLst>
      <pc:sldChg chg="delSp mod">
        <pc:chgData name="Rod Trent" userId="9f177c9e-5e30-4e0c-b08c-05ddc3564d39" providerId="ADAL" clId="{1A93B2F6-7DF8-4A32-B259-58BFFAEA055C}" dt="2026-10-24T12:57:56.597" v="53" actId="478"/>
        <pc:sldMkLst>
          <pc:docMk/>
          <pc:sldMk cId="2692478915" sldId="303"/>
        </pc:sldMkLst>
        <pc:graphicFrameChg chg="del">
          <ac:chgData name="Rod Trent" userId="9f177c9e-5e30-4e0c-b08c-05ddc3564d39" providerId="ADAL" clId="{1A93B2F6-7DF8-4A32-B259-58BFFAEA055C}" dt="2026-10-24T12:57:56.597" v="53" actId="478"/>
          <ac:graphicFrameMkLst>
            <pc:docMk/>
            <pc:sldMk cId="2692478915" sldId="303"/>
            <ac:graphicFrameMk id="4" creationId="{EE1BF406-C981-0C18-EA6D-A2B5B60886A9}"/>
          </ac:graphicFrameMkLst>
        </pc:graphicFrameChg>
      </pc:sldChg>
      <pc:sldChg chg="modSp mod">
        <pc:chgData name="Rod Trent" userId="9f177c9e-5e30-4e0c-b08c-05ddc3564d39" providerId="ADAL" clId="{1A93B2F6-7DF8-4A32-B259-58BFFAEA055C}" dt="2026-10-23T17:44:40.621" v="0" actId="1076"/>
        <pc:sldMkLst>
          <pc:docMk/>
          <pc:sldMk cId="0" sldId="305"/>
        </pc:sldMkLst>
        <pc:spChg chg="mod">
          <ac:chgData name="Rod Trent" userId="9f177c9e-5e30-4e0c-b08c-05ddc3564d39" providerId="ADAL" clId="{1A93B2F6-7DF8-4A32-B259-58BFFAEA055C}" dt="2026-10-23T17:44:40.621" v="0" actId="1076"/>
          <ac:spMkLst>
            <pc:docMk/>
            <pc:sldMk cId="0" sldId="305"/>
            <ac:spMk id="27" creationId="{00000000-0000-0000-0000-000000000000}"/>
          </ac:spMkLst>
        </pc:spChg>
      </pc:sldChg>
      <pc:sldChg chg="addSp modSp mod modNotesTx">
        <pc:chgData name="Rod Trent" userId="9f177c9e-5e30-4e0c-b08c-05ddc3564d39" providerId="ADAL" clId="{1A93B2F6-7DF8-4A32-B259-58BFFAEA055C}" dt="2026-10-24T14:39:14.080" v="180" actId="20577"/>
        <pc:sldMkLst>
          <pc:docMk/>
          <pc:sldMk cId="0" sldId="306"/>
        </pc:sldMkLst>
        <pc:spChg chg="mod">
          <ac:chgData name="Rod Trent" userId="9f177c9e-5e30-4e0c-b08c-05ddc3564d39" providerId="ADAL" clId="{1A93B2F6-7DF8-4A32-B259-58BFFAEA055C}" dt="2026-10-23T17:46:23.484" v="1" actId="1076"/>
          <ac:spMkLst>
            <pc:docMk/>
            <pc:sldMk cId="0" sldId="306"/>
            <ac:spMk id="7" creationId="{00000000-0000-0000-0000-000000000000}"/>
          </ac:spMkLst>
        </pc:spChg>
        <pc:spChg chg="mod">
          <ac:chgData name="Rod Trent" userId="9f177c9e-5e30-4e0c-b08c-05ddc3564d39" providerId="ADAL" clId="{1A93B2F6-7DF8-4A32-B259-58BFFAEA055C}" dt="2026-10-23T17:46:23.484" v="1" actId="1076"/>
          <ac:spMkLst>
            <pc:docMk/>
            <pc:sldMk cId="0" sldId="306"/>
            <ac:spMk id="9" creationId="{00000000-0000-0000-0000-000000000000}"/>
          </ac:spMkLst>
        </pc:spChg>
        <pc:spChg chg="add mod">
          <ac:chgData name="Rod Trent" userId="9f177c9e-5e30-4e0c-b08c-05ddc3564d39" providerId="ADAL" clId="{1A93B2F6-7DF8-4A32-B259-58BFFAEA055C}" dt="2026-10-23T17:47:33.307" v="7" actId="20577"/>
          <ac:spMkLst>
            <pc:docMk/>
            <pc:sldMk cId="0" sldId="306"/>
            <ac:spMk id="11" creationId="{511E7DBB-0238-4BAA-C50E-6FB1E4290155}"/>
          </ac:spMkLst>
        </pc:spChg>
        <pc:picChg chg="mod">
          <ac:chgData name="Rod Trent" userId="9f177c9e-5e30-4e0c-b08c-05ddc3564d39" providerId="ADAL" clId="{1A93B2F6-7DF8-4A32-B259-58BFFAEA055C}" dt="2026-10-23T17:46:23.484" v="1" actId="1076"/>
          <ac:picMkLst>
            <pc:docMk/>
            <pc:sldMk cId="0" sldId="306"/>
            <ac:picMk id="8" creationId="{00000000-0000-0000-0000-000000000000}"/>
          </ac:picMkLst>
        </pc:picChg>
        <pc:picChg chg="add mod">
          <ac:chgData name="Rod Trent" userId="9f177c9e-5e30-4e0c-b08c-05ddc3564d39" providerId="ADAL" clId="{1A93B2F6-7DF8-4A32-B259-58BFFAEA055C}" dt="2026-10-24T14:18:53.744" v="102" actId="1076"/>
          <ac:picMkLst>
            <pc:docMk/>
            <pc:sldMk cId="0" sldId="306"/>
            <ac:picMk id="12" creationId="{A8D7C9CE-F89A-DD31-4AE1-DDA827246D4C}"/>
          </ac:picMkLst>
        </pc:picChg>
      </pc:sldChg>
      <pc:sldChg chg="modSp mod">
        <pc:chgData name="Rod Trent" userId="9f177c9e-5e30-4e0c-b08c-05ddc3564d39" providerId="ADAL" clId="{1A93B2F6-7DF8-4A32-B259-58BFFAEA055C}" dt="2026-10-23T17:47:59.756" v="8" actId="1076"/>
        <pc:sldMkLst>
          <pc:docMk/>
          <pc:sldMk cId="0" sldId="308"/>
        </pc:sldMkLst>
        <pc:spChg chg="mod">
          <ac:chgData name="Rod Trent" userId="9f177c9e-5e30-4e0c-b08c-05ddc3564d39" providerId="ADAL" clId="{1A93B2F6-7DF8-4A32-B259-58BFFAEA055C}" dt="2026-10-23T17:47:59.756" v="8" actId="1076"/>
          <ac:spMkLst>
            <pc:docMk/>
            <pc:sldMk cId="0" sldId="308"/>
            <ac:spMk id="9001" creationId="{00000000-0000-0000-0000-000000000000}"/>
          </ac:spMkLst>
        </pc:spChg>
      </pc:sldChg>
      <pc:sldChg chg="modSp mod modNotesTx">
        <pc:chgData name="Rod Trent" userId="9f177c9e-5e30-4e0c-b08c-05ddc3564d39" providerId="ADAL" clId="{1A93B2F6-7DF8-4A32-B259-58BFFAEA055C}" dt="2026-10-24T13:47:44.879" v="100" actId="20577"/>
        <pc:sldMkLst>
          <pc:docMk/>
          <pc:sldMk cId="0" sldId="311"/>
        </pc:sldMkLst>
        <pc:spChg chg="mod">
          <ac:chgData name="Rod Trent" userId="9f177c9e-5e30-4e0c-b08c-05ddc3564d39" providerId="ADAL" clId="{1A93B2F6-7DF8-4A32-B259-58BFFAEA055C}" dt="2026-10-23T17:49:58.138" v="36" actId="1035"/>
          <ac:spMkLst>
            <pc:docMk/>
            <pc:sldMk cId="0" sldId="311"/>
            <ac:spMk id="3" creationId="{00000000-0000-0000-0000-000000000000}"/>
          </ac:spMkLst>
        </pc:spChg>
        <pc:spChg chg="mod">
          <ac:chgData name="Rod Trent" userId="9f177c9e-5e30-4e0c-b08c-05ddc3564d39" providerId="ADAL" clId="{1A93B2F6-7DF8-4A32-B259-58BFFAEA055C}" dt="2026-10-23T17:49:58.138" v="36" actId="1035"/>
          <ac:spMkLst>
            <pc:docMk/>
            <pc:sldMk cId="0" sldId="311"/>
            <ac:spMk id="4" creationId="{00000000-0000-0000-0000-000000000000}"/>
          </ac:spMkLst>
        </pc:spChg>
        <pc:spChg chg="mod">
          <ac:chgData name="Rod Trent" userId="9f177c9e-5e30-4e0c-b08c-05ddc3564d39" providerId="ADAL" clId="{1A93B2F6-7DF8-4A32-B259-58BFFAEA055C}" dt="2026-10-23T17:49:58.138" v="36" actId="1035"/>
          <ac:spMkLst>
            <pc:docMk/>
            <pc:sldMk cId="0" sldId="311"/>
            <ac:spMk id="5" creationId="{00000000-0000-0000-0000-000000000000}"/>
          </ac:spMkLst>
        </pc:spChg>
      </pc:sldChg>
      <pc:sldChg chg="delSp mod">
        <pc:chgData name="Rod Trent" userId="9f177c9e-5e30-4e0c-b08c-05ddc3564d39" providerId="ADAL" clId="{1A93B2F6-7DF8-4A32-B259-58BFFAEA055C}" dt="2026-10-23T17:50:52.010" v="37" actId="478"/>
        <pc:sldMkLst>
          <pc:docMk/>
          <pc:sldMk cId="0" sldId="314"/>
        </pc:sldMkLst>
        <pc:spChg chg="del">
          <ac:chgData name="Rod Trent" userId="9f177c9e-5e30-4e0c-b08c-05ddc3564d39" providerId="ADAL" clId="{1A93B2F6-7DF8-4A32-B259-58BFFAEA055C}" dt="2026-10-23T17:50:52.010" v="37" actId="478"/>
          <ac:spMkLst>
            <pc:docMk/>
            <pc:sldMk cId="0" sldId="314"/>
            <ac:spMk id="27" creationId="{00000000-0000-0000-0000-000000000000}"/>
          </ac:spMkLst>
        </pc:spChg>
        <pc:spChg chg="del">
          <ac:chgData name="Rod Trent" userId="9f177c9e-5e30-4e0c-b08c-05ddc3564d39" providerId="ADAL" clId="{1A93B2F6-7DF8-4A32-B259-58BFFAEA055C}" dt="2026-10-23T17:50:52.010" v="37" actId="478"/>
          <ac:spMkLst>
            <pc:docMk/>
            <pc:sldMk cId="0" sldId="314"/>
            <ac:spMk id="29" creationId="{00000000-0000-0000-0000-000000000000}"/>
          </ac:spMkLst>
        </pc:spChg>
        <pc:picChg chg="del">
          <ac:chgData name="Rod Trent" userId="9f177c9e-5e30-4e0c-b08c-05ddc3564d39" providerId="ADAL" clId="{1A93B2F6-7DF8-4A32-B259-58BFFAEA055C}" dt="2026-10-23T17:50:52.010" v="37" actId="478"/>
          <ac:picMkLst>
            <pc:docMk/>
            <pc:sldMk cId="0" sldId="314"/>
            <ac:picMk id="28" creationId="{00000000-0000-0000-0000-000000000000}"/>
          </ac:picMkLst>
        </pc:picChg>
      </pc:sldChg>
      <pc:sldChg chg="modSp mod">
        <pc:chgData name="Rod Trent" userId="9f177c9e-5e30-4e0c-b08c-05ddc3564d39" providerId="ADAL" clId="{1A93B2F6-7DF8-4A32-B259-58BFFAEA055C}" dt="2026-10-24T14:23:17.535" v="103" actId="1076"/>
        <pc:sldMkLst>
          <pc:docMk/>
          <pc:sldMk cId="0" sldId="316"/>
        </pc:sldMkLst>
        <pc:spChg chg="mod">
          <ac:chgData name="Rod Trent" userId="9f177c9e-5e30-4e0c-b08c-05ddc3564d39" providerId="ADAL" clId="{1A93B2F6-7DF8-4A32-B259-58BFFAEA055C}" dt="2026-10-23T17:53:26.682" v="52" actId="1036"/>
          <ac:spMkLst>
            <pc:docMk/>
            <pc:sldMk cId="0" sldId="316"/>
            <ac:spMk id="18" creationId="{00000000-0000-0000-0000-000000000000}"/>
          </ac:spMkLst>
        </pc:spChg>
        <pc:spChg chg="mod">
          <ac:chgData name="Rod Trent" userId="9f177c9e-5e30-4e0c-b08c-05ddc3564d39" providerId="ADAL" clId="{1A93B2F6-7DF8-4A32-B259-58BFFAEA055C}" dt="2026-10-23T17:53:26.682" v="52" actId="1036"/>
          <ac:spMkLst>
            <pc:docMk/>
            <pc:sldMk cId="0" sldId="316"/>
            <ac:spMk id="19" creationId="{00000000-0000-0000-0000-000000000000}"/>
          </ac:spMkLst>
        </pc:spChg>
        <pc:spChg chg="mod">
          <ac:chgData name="Rod Trent" userId="9f177c9e-5e30-4e0c-b08c-05ddc3564d39" providerId="ADAL" clId="{1A93B2F6-7DF8-4A32-B259-58BFFAEA055C}" dt="2026-10-23T17:53:26.682" v="52" actId="1036"/>
          <ac:spMkLst>
            <pc:docMk/>
            <pc:sldMk cId="0" sldId="316"/>
            <ac:spMk id="20" creationId="{00000000-0000-0000-0000-000000000000}"/>
          </ac:spMkLst>
        </pc:spChg>
        <pc:spChg chg="mod">
          <ac:chgData name="Rod Trent" userId="9f177c9e-5e30-4e0c-b08c-05ddc3564d39" providerId="ADAL" clId="{1A93B2F6-7DF8-4A32-B259-58BFFAEA055C}" dt="2026-10-24T14:23:17.535" v="103" actId="1076"/>
          <ac:spMkLst>
            <pc:docMk/>
            <pc:sldMk cId="0" sldId="316"/>
            <ac:spMk id="21" creationId="{00000000-0000-0000-0000-000000000000}"/>
          </ac:spMkLst>
        </pc:spChg>
      </pc:sldChg>
      <pc:sldChg chg="modNotesTx">
        <pc:chgData name="Rod Trent" userId="9f177c9e-5e30-4e0c-b08c-05ddc3564d39" providerId="ADAL" clId="{1A93B2F6-7DF8-4A32-B259-58BFFAEA055C}" dt="2026-10-24T14:36:31.249" v="105" actId="255"/>
        <pc:sldMkLst>
          <pc:docMk/>
          <pc:sldMk cId="2279942714" sldId="317"/>
        </pc:sldMkLst>
      </pc:sldChg>
      <pc:sldChg chg="modNotesTx">
        <pc:chgData name="Rod Trent" userId="9f177c9e-5e30-4e0c-b08c-05ddc3564d39" providerId="ADAL" clId="{1A93B2F6-7DF8-4A32-B259-58BFFAEA055C}" dt="2026-10-24T14:38:54.232" v="125" actId="6549"/>
        <pc:sldMkLst>
          <pc:docMk/>
          <pc:sldMk cId="0" sldId="320"/>
        </pc:sldMkLst>
      </pc:sldChg>
    </pc:docChg>
  </pc:docChgLst>
  <pc:docChgLst>
    <pc:chgData name="Rod Trent" userId="9f177c9e-5e30-4e0c-b08c-05ddc3564d39" providerId="ADAL" clId="{502CD8A4-FA41-4DDE-A8CB-F9C5EAF15F1C}"/>
    <pc:docChg chg="custSel modSld">
      <pc:chgData name="Rod Trent" userId="9f177c9e-5e30-4e0c-b08c-05ddc3564d39" providerId="ADAL" clId="{502CD8A4-FA41-4DDE-A8CB-F9C5EAF15F1C}" dt="2026-10-22T00:42:54.077" v="2" actId="478"/>
      <pc:docMkLst>
        <pc:docMk/>
      </pc:docMkLst>
      <pc:sldChg chg="delSp mod">
        <pc:chgData name="Rod Trent" userId="9f177c9e-5e30-4e0c-b08c-05ddc3564d39" providerId="ADAL" clId="{502CD8A4-FA41-4DDE-A8CB-F9C5EAF15F1C}" dt="2026-10-22T00:42:54.077" v="2" actId="478"/>
        <pc:sldMkLst>
          <pc:docMk/>
          <pc:sldMk cId="0" sldId="324"/>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endParaRPr/>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 The two new numbers are the ones that land with managers. Prophet Security 2026: 60% had an alert they ignored or never investigated later prove material - for 34%, three or more times in a year. And 40% have turned off a detection rule, or say they might, because they lack the resources to investigate what it produces. That second one is the setup for Mission 2: teams are not missing these things because the rule does not exist, they are missing them because nobody can afford to run the rule.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endParaRPr lang="en-US" dirty="0"/>
          </a:p>
          <a:p>
            <a:endParaRPr lang="en-US" dirty="0"/>
          </a:p>
          <a:p>
            <a:r>
              <a:rPr lang="en-US" dirty="0"/>
              <a:t>Show my Grok Bot Hypothesis </a:t>
            </a:r>
            <a:r>
              <a:rPr lang="en-US"/>
              <a:t>response for the day.</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 Two things on this slide now. First, the MCP card no longer lists Logic Apps - it is not a documented Sentinel MCP client, and Claude/ChatGPT reach it through the prerelease custom connector, data exploration only. Second, the band: Vectra 2026, 76% of defenders say AI agents or assistants already handle more than 10% of their workload. Use it to reframe the slide from 'here is what exists' to 'you are already running most of this - the question is under what controls'.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Read the template aloud once. Then map each annotation on the right to the pattern it implements. Encourage people to photograph this slide; also tell them it's in the notes. Mention it works equally well in Claude, ChatGPT, and Security Copilot: the patterns are tool-agnostic.</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Walk through what it looks like in Demo. </a:t>
            </a:r>
            <a:r>
              <a:rPr lang="en-US" sz="1200" b="1" i="0" kern="1200" dirty="0">
                <a:solidFill>
                  <a:schemeClr val="tx1"/>
                </a:solidFill>
                <a:effectLst/>
                <a:latin typeface="+mn-lt"/>
                <a:ea typeface="+mn-ea"/>
                <a:cs typeface="+mn-cs"/>
              </a:rPr>
              <a:t>Prompts That Produce Evidence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callback slide. If you were at my MMS MOA session, slide 16 was 'From KQL Query to MCP Tool: Step-by-Step' and it was seven steps, four of them engineering. Microsoft now ships step 4 as a menu item: open a saved advanced hunting query in the Defender portal, pick 'Save as tool' from the query's context menu or from the KQL box menu, and fill in Name, Description, Collection and Default workspace. Parameters come from putting {ParameterName} directly in the KQL and then naming and describing each one. Saved tools appear on the Tools tab in Advanced hunting, and a collection gets its own MCP server URL you point a client at. Resist the urge to say 'now it is easy'. The honest line is that the plumbing went away and the judgment did not. The highest-leverage field on that panel is the description, because that is what the model reads when it decides which tool to call - Microsoft's own guidance is short, action-oriented, start with a verb and a resource, describe purpose rather than parameters. That is MOA slide 21 restated by the vendor. Caveats, once: prerelease; needs Sentinel data lake and Microsoft Defender licenses; creating, updating or deleting tools needs Security Operator, Security Admin or Global Admin while listing and invoking needs only Security Reader or Global Reader; and custom collections are consumed from Security Copilot, Copilot Studio, Foundry or VS Code - not from the claude.ai connector. About 2 minutes, and it is cuttable if you are running short - but it is the slide that lands with anyone who saw the MOA session.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a:p>
            <a:endParaRPr/>
          </a:p>
          <a:p>
            <a:r>
              <a:t>The two QRs and URLs on this slide are short links, so the screen no longer shows the real address. go.rodtrent.com/go/c638n85 is the demo site: it opens mms-midway-demos.vercel.app/?s=hunt, this session's own tab. go.rodtrent.com/go/eje7vdj is the repo, github.com/rod-trent/MMSMOA. If anyone asks, the site is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 Callback to slide 6 if you want it: 40% have turned off a detection rule, or say they might, for lack of capacity to investigate the output (Prophet Security, 2026). That is exactly the gap this mission hunts in.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3200" dirty="0"/>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 Numbering here follows the 2026 edition of the OWASP Top 10 for LLM Applications. Excessive Agency moved from LLM06 to LLM03, Misinformation from LLM09 to LLM07, and Improper Output Handling from LLM05 to LLM10. LLM01 and LLM02 are unchanged. If someone in the room cites the older numbers, that is why - acknowledge it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endParaRPr lang="en-US" dirty="0"/>
          </a:p>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a:p>
            <a:endParaRPr/>
          </a:p>
          <a:p>
            <a:r>
              <a:t>Both URLs on the footer are short links. go.rodtrent.com/go/c638n85 is the demo site (mms-midway-demos.vercel.app/?s=hunt, this session's tab) and go.rodtrent.com/go/eje7vdj is the repo (github.com/rod-trent/MMSMOA). If anyone asks for the real address, the site is mms-midway-demos.vercel.app - worth having ready, because the slide does not show it.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build a hunting prompt live for anyone who brings a hypothesis.</a:t>
            </a:r>
          </a:p>
          <a:p>
            <a:endParaRPr/>
          </a:p>
          <a:p>
            <a:r>
              <a:t>The gold line points back at yesterday's SOC session for anyone who missed it; slides and demos are in the repo and on the demo site.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9.svg"/><Relationship Id="rId1" Type="http://schemas.openxmlformats.org/officeDocument/2006/relationships/slideMaster" Target="../slideMasters/slideMaster1.xml"/><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3" Type="http://schemas.openxmlformats.org/officeDocument/2006/relationships/image" Target="../media/image3.svg"/><Relationship Id="rId7" Type="http://schemas.openxmlformats.org/officeDocument/2006/relationships/image" Target="../media/image18.png"/><Relationship Id="rId12" Type="http://schemas.openxmlformats.org/officeDocument/2006/relationships/image" Target="../media/image23.png"/><Relationship Id="rId17" Type="http://schemas.openxmlformats.org/officeDocument/2006/relationships/image" Target="../media/image28.png"/><Relationship Id="rId2" Type="http://schemas.openxmlformats.org/officeDocument/2006/relationships/image" Target="../media/image14.svg"/><Relationship Id="rId16" Type="http://schemas.openxmlformats.org/officeDocument/2006/relationships/image" Target="../media/image27.svg"/><Relationship Id="rId1" Type="http://schemas.openxmlformats.org/officeDocument/2006/relationships/slideMaster" Target="../slideMasters/slideMaster1.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5" Type="http://schemas.openxmlformats.org/officeDocument/2006/relationships/image" Target="../media/image26.png"/><Relationship Id="rId10" Type="http://schemas.openxmlformats.org/officeDocument/2006/relationships/image" Target="../media/image21.png"/><Relationship Id="rId19" Type="http://schemas.openxmlformats.org/officeDocument/2006/relationships/image" Target="../media/image30.png"/><Relationship Id="rId4" Type="http://schemas.openxmlformats.org/officeDocument/2006/relationships/image" Target="../media/image15.png"/><Relationship Id="rId9" Type="http://schemas.openxmlformats.org/officeDocument/2006/relationships/image" Target="../media/image20.png"/><Relationship Id="rId14" Type="http://schemas.openxmlformats.org/officeDocument/2006/relationships/image" Target="../media/image25.png"/></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1.sv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2.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4.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0.png"/><Relationship Id="rId1" Type="http://schemas.openxmlformats.org/officeDocument/2006/relationships/slideMaster" Target="../slideMasters/slideMaster2.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3" Type="http://schemas.openxmlformats.org/officeDocument/2006/relationships/image" Target="../media/image3.svg"/><Relationship Id="rId7" Type="http://schemas.openxmlformats.org/officeDocument/2006/relationships/image" Target="../media/image18.png"/><Relationship Id="rId12" Type="http://schemas.openxmlformats.org/officeDocument/2006/relationships/image" Target="../media/image23.png"/><Relationship Id="rId17" Type="http://schemas.openxmlformats.org/officeDocument/2006/relationships/image" Target="../media/image28.png"/><Relationship Id="rId2" Type="http://schemas.openxmlformats.org/officeDocument/2006/relationships/image" Target="../media/image14.svg"/><Relationship Id="rId16" Type="http://schemas.openxmlformats.org/officeDocument/2006/relationships/image" Target="../media/image27.svg"/><Relationship Id="rId1" Type="http://schemas.openxmlformats.org/officeDocument/2006/relationships/slideMaster" Target="../slideMasters/slideMaster2.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5" Type="http://schemas.openxmlformats.org/officeDocument/2006/relationships/image" Target="../media/image26.png"/><Relationship Id="rId10" Type="http://schemas.openxmlformats.org/officeDocument/2006/relationships/image" Target="../media/image21.png"/><Relationship Id="rId19" Type="http://schemas.openxmlformats.org/officeDocument/2006/relationships/image" Target="../media/image30.png"/><Relationship Id="rId4" Type="http://schemas.openxmlformats.org/officeDocument/2006/relationships/image" Target="../media/image15.png"/><Relationship Id="rId9" Type="http://schemas.openxmlformats.org/officeDocument/2006/relationships/image" Target="../media/image20.png"/><Relationship Id="rId14"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sv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image" Target="../media/image31.svg"/><Relationship Id="rId2" Type="http://schemas.openxmlformats.org/officeDocument/2006/relationships/slideLayout" Target="../slideLayouts/slideLayout17.xml"/><Relationship Id="rId16" Type="http://schemas.openxmlformats.org/officeDocument/2006/relationships/theme" Target="../theme/theme2.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38.png"/><Relationship Id="rId5" Type="http://schemas.openxmlformats.org/officeDocument/2006/relationships/image" Target="../media/image37.svg"/><Relationship Id="rId4" Type="http://schemas.openxmlformats.org/officeDocument/2006/relationships/image" Target="../media/image36.jp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6.xml"/><Relationship Id="rId1" Type="http://schemas.openxmlformats.org/officeDocument/2006/relationships/slideLayout" Target="../slideLayouts/slideLayout9.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4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9.xml"/><Relationship Id="rId1" Type="http://schemas.openxmlformats.org/officeDocument/2006/relationships/slideLayout" Target="../slideLayouts/slideLayout9.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10.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48.png"/><Relationship Id="rId7" Type="http://schemas.openxmlformats.org/officeDocument/2006/relationships/image" Target="../media/image54.png"/><Relationship Id="rId12" Type="http://schemas.openxmlformats.org/officeDocument/2006/relationships/image" Target="../media/image58.png"/><Relationship Id="rId2" Type="http://schemas.openxmlformats.org/officeDocument/2006/relationships/notesSlide" Target="../notesSlides/notesSlide10.xml"/><Relationship Id="rId1" Type="http://schemas.openxmlformats.org/officeDocument/2006/relationships/slideLayout" Target="../slideLayouts/slideLayout9.xml"/><Relationship Id="rId6" Type="http://schemas.openxmlformats.org/officeDocument/2006/relationships/image" Target="../media/image53.png"/><Relationship Id="rId11" Type="http://schemas.openxmlformats.org/officeDocument/2006/relationships/image" Target="../media/image57.png"/><Relationship Id="rId5" Type="http://schemas.openxmlformats.org/officeDocument/2006/relationships/image" Target="../media/image52.png"/><Relationship Id="rId10" Type="http://schemas.openxmlformats.org/officeDocument/2006/relationships/image" Target="../media/image40.png"/><Relationship Id="rId4" Type="http://schemas.openxmlformats.org/officeDocument/2006/relationships/image" Target="../media/image51.png"/><Relationship Id="rId9" Type="http://schemas.openxmlformats.org/officeDocument/2006/relationships/image" Target="../media/image56.png"/></Relationships>
</file>

<file path=ppt/slides/_rels/slide11.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9.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9.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7.png"/></Relationships>
</file>

<file path=ppt/slides/_rels/slide12.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43.png"/><Relationship Id="rId2" Type="http://schemas.openxmlformats.org/officeDocument/2006/relationships/notesSlide" Target="../notesSlides/notesSlide12.xml"/><Relationship Id="rId1" Type="http://schemas.openxmlformats.org/officeDocument/2006/relationships/slideLayout" Target="../slideLayouts/slideLayout9.xml"/><Relationship Id="rId6" Type="http://schemas.openxmlformats.org/officeDocument/2006/relationships/image" Target="../media/image39.png"/><Relationship Id="rId5" Type="http://schemas.openxmlformats.org/officeDocument/2006/relationships/image" Target="../media/image60.png"/><Relationship Id="rId4" Type="http://schemas.openxmlformats.org/officeDocument/2006/relationships/image" Target="../media/image5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4.xml"/><Relationship Id="rId1" Type="http://schemas.openxmlformats.org/officeDocument/2006/relationships/slideLayout" Target="../slideLayouts/slideLayout5.xml"/><Relationship Id="rId4" Type="http://schemas.openxmlformats.org/officeDocument/2006/relationships/image" Target="../media/image64.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1.png"/><Relationship Id="rId7" Type="http://schemas.openxmlformats.org/officeDocument/2006/relationships/image" Target="../media/image39.png"/><Relationship Id="rId2" Type="http://schemas.openxmlformats.org/officeDocument/2006/relationships/notesSlide" Target="../notesSlides/notesSlide20.xml"/><Relationship Id="rId1" Type="http://schemas.openxmlformats.org/officeDocument/2006/relationships/slideLayout" Target="../slideLayouts/slideLayout9.xml"/><Relationship Id="rId6" Type="http://schemas.openxmlformats.org/officeDocument/2006/relationships/image" Target="../media/image65.png"/><Relationship Id="rId5" Type="http://schemas.openxmlformats.org/officeDocument/2006/relationships/image" Target="../media/image52.png"/><Relationship Id="rId4" Type="http://schemas.openxmlformats.org/officeDocument/2006/relationships/image" Target="../media/image50.png"/></Relationships>
</file>

<file path=ppt/slides/_rels/slide2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1.xml"/><Relationship Id="rId1" Type="http://schemas.openxmlformats.org/officeDocument/2006/relationships/slideLayout" Target="../slideLayouts/slideLayout9.xml"/><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56.png"/><Relationship Id="rId7" Type="http://schemas.openxmlformats.org/officeDocument/2006/relationships/image" Target="../media/image52.png"/><Relationship Id="rId12" Type="http://schemas.openxmlformats.org/officeDocument/2006/relationships/image" Target="../media/image59.png"/><Relationship Id="rId2" Type="http://schemas.openxmlformats.org/officeDocument/2006/relationships/notesSlide" Target="../notesSlides/notesSlide22.xml"/><Relationship Id="rId1" Type="http://schemas.openxmlformats.org/officeDocument/2006/relationships/slideLayout" Target="../slideLayouts/slideLayout9.xml"/><Relationship Id="rId6" Type="http://schemas.openxmlformats.org/officeDocument/2006/relationships/image" Target="../media/image53.png"/><Relationship Id="rId11" Type="http://schemas.openxmlformats.org/officeDocument/2006/relationships/image" Target="../media/image54.png"/><Relationship Id="rId5" Type="http://schemas.openxmlformats.org/officeDocument/2006/relationships/image" Target="../media/image40.png"/><Relationship Id="rId10" Type="http://schemas.openxmlformats.org/officeDocument/2006/relationships/image" Target="../media/image58.png"/><Relationship Id="rId4" Type="http://schemas.openxmlformats.org/officeDocument/2006/relationships/image" Target="../media/image48.png"/><Relationship Id="rId9" Type="http://schemas.openxmlformats.org/officeDocument/2006/relationships/image" Target="../media/image57.png"/></Relationships>
</file>

<file path=ppt/slides/_rels/slide2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3.xml"/><Relationship Id="rId1" Type="http://schemas.openxmlformats.org/officeDocument/2006/relationships/slideLayout" Target="../slideLayouts/slideLayout9.xml"/><Relationship Id="rId6" Type="http://schemas.openxmlformats.org/officeDocument/2006/relationships/image" Target="../media/image53.png"/><Relationship Id="rId5" Type="http://schemas.openxmlformats.org/officeDocument/2006/relationships/image" Target="../media/image46.png"/><Relationship Id="rId4" Type="http://schemas.openxmlformats.org/officeDocument/2006/relationships/image" Target="../media/image6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4">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chrissires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1226886" y="5784574"/>
            <a:ext cx="10515600" cy="804672"/>
          </a:xfrm>
          <a:prstGeom prst="rect">
            <a:avLst/>
          </a:prstGeom>
          <a:noFill/>
        </p:spPr>
        <p:txBody>
          <a:bodyPr wrap="square" lIns="0" tIns="18288" rIns="0" bIns="18288" anchor="t">
            <a:spAutoFit/>
          </a:bodyPr>
          <a:lstStyle/>
          <a:p>
            <a:pPr algn="l"/>
            <a:r>
              <a:rPr sz="1400" b="0" i="1" dirty="0">
                <a:solidFill>
                  <a:srgbClr val="C9D6F0"/>
                </a:solidFill>
                <a:latin typeface="Calibri"/>
              </a:rPr>
              <a:t>The bottleneck is not ideas. It is the hours it takes to turn a hypothesis into a query, a result, and a decision. The interesting hunt is the one you never started.</a:t>
            </a:r>
          </a:p>
          <a:p>
            <a:pPr algn="l"/>
            <a:r>
              <a:rPr sz="1400" b="0" i="1" dirty="0">
                <a:solidFill>
                  <a:srgbClr val="C9D6F0"/>
                </a:solidFill>
                <a:latin typeface="Calibri"/>
              </a:rPr>
              <a:t>Prophet Security, 2026: 60% say an ignored alert later proved material; 40% have turned off a detection rule, or say they might.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dirty="0"/>
              <a:t>Hypothesis lives in a hunter's head; only seniors can write the KQL</a:t>
            </a:r>
          </a:p>
          <a:p>
            <a:r>
              <a:rPr sz="1600" dirty="0"/>
              <a:t>One query, one table, one hunter at a time</a:t>
            </a:r>
          </a:p>
          <a:p>
            <a:r>
              <a:rPr sz="1600" dirty="0"/>
              <a:t>Dashboards show what you thought to chart</a:t>
            </a:r>
          </a:p>
          <a:p>
            <a:r>
              <a:rPr sz="1600" dirty="0"/>
              <a:t>Anomalies found by eyeballing rows</a:t>
            </a:r>
          </a:p>
          <a:p>
            <a:r>
              <a:rPr sz="1600" dirty="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dirty="0"/>
              <a:t>Hypothesis stated in plain language; the model drafts, explains, and tunes the query</a:t>
            </a:r>
          </a:p>
          <a:p>
            <a:r>
              <a:rPr sz="1600" dirty="0"/>
              <a:t>Model pivots across tables and sources in one conversation</a:t>
            </a:r>
          </a:p>
          <a:p>
            <a:r>
              <a:rPr sz="1600" dirty="0"/>
              <a:t>Model proposes the chart, the baseline, and the outlier</a:t>
            </a:r>
          </a:p>
          <a:p>
            <a:r>
              <a:rPr sz="1600" dirty="0"/>
              <a:t>Statistical + semantic anomaly surfacing at scale</a:t>
            </a:r>
          </a:p>
          <a:p>
            <a:r>
              <a:rPr sz="1600" dirty="0"/>
              <a:t>Evidence, timeline, and rationale produced as you go</a:t>
            </a:r>
          </a:p>
        </p:txBody>
      </p:sp>
      <p:sp>
        <p:nvSpPr>
          <p:cNvPr id="7" name="Rounded Rectangle 6"/>
          <p:cNvSpPr/>
          <p:nvPr/>
        </p:nvSpPr>
        <p:spPr>
          <a:xfrm>
            <a:off x="920761" y="5011309"/>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103641" y="5148469"/>
            <a:ext cx="411480" cy="411480"/>
          </a:xfrm>
          <a:prstGeom prst="rect">
            <a:avLst/>
          </a:prstGeom>
        </p:spPr>
      </p:pic>
      <p:sp>
        <p:nvSpPr>
          <p:cNvPr id="9" name="TextBox 8"/>
          <p:cNvSpPr txBox="1"/>
          <p:nvPr/>
        </p:nvSpPr>
        <p:spPr>
          <a:xfrm>
            <a:off x="1633993" y="5011309"/>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
        <p:nvSpPr>
          <p:cNvPr id="11" name="TextBox 10">
            <a:extLst>
              <a:ext uri="{FF2B5EF4-FFF2-40B4-BE49-F238E27FC236}">
                <a16:creationId xmlns:a16="http://schemas.microsoft.com/office/drawing/2014/main" id="{511E7DBB-0238-4BAA-C50E-6FB1E4290155}"/>
              </a:ext>
            </a:extLst>
          </p:cNvPr>
          <p:cNvSpPr txBox="1"/>
          <p:nvPr/>
        </p:nvSpPr>
        <p:spPr>
          <a:xfrm>
            <a:off x="2697480" y="5973173"/>
            <a:ext cx="6134430" cy="461665"/>
          </a:xfrm>
          <a:prstGeom prst="rect">
            <a:avLst/>
          </a:prstGeom>
          <a:noFill/>
        </p:spPr>
        <p:txBody>
          <a:bodyPr wrap="square">
            <a:spAutoFit/>
          </a:bodyPr>
          <a:lstStyle/>
          <a:p>
            <a:r>
              <a:rPr lang="en-US" sz="1200" dirty="0">
                <a:solidFill>
                  <a:schemeClr val="bg1"/>
                </a:solidFill>
              </a:rPr>
              <a:t>** Prophet's 2026 data: 72% of AI users cut investigation time by 25% or more, yet 57% still require human review before closing, and nobody grants full autonomy. That's the right posture.</a:t>
            </a:r>
            <a:endParaRPr lang="en-US" dirty="0">
              <a:solidFill>
                <a:schemeClr val="bg1"/>
              </a:solidFill>
            </a:endParaRPr>
          </a:p>
        </p:txBody>
      </p:sp>
      <p:pic>
        <p:nvPicPr>
          <p:cNvPr id="12" name="Picture 11">
            <a:extLst>
              <a:ext uri="{FF2B5EF4-FFF2-40B4-BE49-F238E27FC236}">
                <a16:creationId xmlns:a16="http://schemas.microsoft.com/office/drawing/2014/main" id="{A8D7C9CE-F89A-DD31-4AE1-DDA827246D4C}"/>
              </a:ext>
            </a:extLst>
          </p:cNvPr>
          <p:cNvPicPr>
            <a:picLocks noChangeAspect="1"/>
          </p:cNvPicPr>
          <p:nvPr/>
        </p:nvPicPr>
        <p:blipFill>
          <a:blip r:embed="rId4"/>
          <a:stretch>
            <a:fillRect/>
          </a:stretch>
        </p:blipFill>
        <p:spPr>
          <a:xfrm>
            <a:off x="9834002" y="99652"/>
            <a:ext cx="2171429" cy="194285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exposed to VS Code, Copilot Studio, Foundry, Security Copilot; Claude/ChatGPT via connector.</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agent-triggered leads grew 2.5x faster than human-triggered ones.</a:t>
            </a:r>
          </a:p>
        </p:txBody>
      </p:sp>
      <p:sp>
        <p:nvSpPr>
          <p:cNvPr id="9001" name="TextBox 32"/>
          <p:cNvSpPr txBox="1"/>
          <p:nvPr/>
        </p:nvSpPr>
        <p:spPr>
          <a:xfrm>
            <a:off x="1250740" y="6041003"/>
            <a:ext cx="10515600" cy="365760"/>
          </a:xfrm>
          <a:prstGeom prst="rect">
            <a:avLst/>
          </a:prstGeom>
          <a:noFill/>
        </p:spPr>
        <p:txBody>
          <a:bodyPr wrap="square" lIns="0" tIns="18288" rIns="0" bIns="18288" anchor="t">
            <a:spAutoFit/>
          </a:bodyPr>
          <a:lstStyle/>
          <a:p>
            <a:pPr algn="l"/>
            <a:r>
              <a:rPr sz="1400" b="0" i="1" dirty="0">
                <a:solidFill>
                  <a:srgbClr val="C9D6F0"/>
                </a:solidFill>
                <a:latin typeface="Calibri"/>
              </a:rPr>
              <a:t>76% of defenders say AI agents or assistants already handle more than 10% of their workload (Vectra AI, 2026). The question is no longer whether, but under what controls.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504783"/>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96223"/>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961982"/>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Your Best Hunts Become Tools</a:t>
            </a:r>
          </a:p>
        </p:txBody>
      </p:sp>
      <p:sp>
        <p:nvSpPr>
          <p:cNvPr id="3" name="Text Placeholder 2"/>
          <p:cNvSpPr>
            <a:spLocks noGrp="1"/>
          </p:cNvSpPr>
          <p:nvPr>
            <p:ph type="body" idx="1"/>
          </p:nvPr>
        </p:nvSpPr>
        <p:spPr/>
        <p:txBody>
          <a:bodyPr/>
          <a:lstStyle/>
          <a:p>
            <a:r>
              <a:t>At MMS MOA, this was seven steps</a:t>
            </a:r>
          </a:p>
        </p:txBody>
      </p:sp>
      <p:sp>
        <p:nvSpPr>
          <p:cNvPr id="4" name="Content Placeholder 3"/>
          <p:cNvSpPr>
            <a:spLocks noGrp="1"/>
          </p:cNvSpPr>
          <p:nvPr>
            <p:ph sz="half" idx="2"/>
          </p:nvPr>
        </p:nvSpPr>
        <p:spPr/>
        <p:txBody>
          <a:bodyPr/>
          <a:lstStyle/>
          <a:p>
            <a:r>
              <a:rPr sz="1600"/>
              <a:t>Identify the repeatable KQL in your runbooks</a:t>
            </a:r>
          </a:p>
          <a:p>
            <a:r>
              <a:rPr sz="1600"/>
              <a:t>Parameterize it: time range, entity values, thresholds</a:t>
            </a:r>
          </a:p>
          <a:p>
            <a:r>
              <a:rPr sz="1600"/>
              <a:t>Define the tool schema: name, description, parameter types</a:t>
            </a:r>
          </a:p>
          <a:p>
            <a:r>
              <a:rPr sz="1600"/>
              <a:t>Implement the handler: call the API, return structured JSON</a:t>
            </a:r>
          </a:p>
          <a:p>
            <a:r>
              <a:rPr sz="1600"/>
              <a:t>Enrich: join watchlists, threat intel, entity data</a:t>
            </a:r>
          </a:p>
          <a:p>
            <a:r>
              <a:rPr sz="1600"/>
              <a:t>Test against real incidents</a:t>
            </a:r>
          </a:p>
          <a:p>
            <a:r>
              <a:rPr sz="1600"/>
              <a:t>Document it — the description is what the AI reads</a:t>
            </a:r>
          </a:p>
        </p:txBody>
      </p:sp>
      <p:sp>
        <p:nvSpPr>
          <p:cNvPr id="5" name="Text Placeholder 4"/>
          <p:cNvSpPr>
            <a:spLocks noGrp="1"/>
          </p:cNvSpPr>
          <p:nvPr>
            <p:ph type="body" sz="quarter" idx="3"/>
          </p:nvPr>
        </p:nvSpPr>
        <p:spPr/>
        <p:txBody>
          <a:bodyPr/>
          <a:lstStyle/>
          <a:p>
            <a:r>
              <a:t>Today it is a menu item</a:t>
            </a:r>
          </a:p>
        </p:txBody>
      </p:sp>
      <p:sp>
        <p:nvSpPr>
          <p:cNvPr id="6" name="Content Placeholder 5"/>
          <p:cNvSpPr>
            <a:spLocks noGrp="1"/>
          </p:cNvSpPr>
          <p:nvPr>
            <p:ph sz="quarter" idx="4"/>
          </p:nvPr>
        </p:nvSpPr>
        <p:spPr/>
        <p:txBody>
          <a:bodyPr/>
          <a:lstStyle/>
          <a:p>
            <a:r>
              <a:rPr sz="1600"/>
              <a:t>Open the saved query in Advanced hunting</a:t>
            </a:r>
          </a:p>
          <a:p>
            <a:r>
              <a:rPr sz="1600"/>
              <a:t>Type {ParameterName} inline where the values go</a:t>
            </a:r>
          </a:p>
          <a:p>
            <a:r>
              <a:rPr sz="1600"/>
              <a:t>Save as tool — name, description, collection, default workspace</a:t>
            </a:r>
          </a:p>
          <a:p>
            <a:r>
              <a:rPr sz="1600"/>
              <a:t>No handler. Microsoft runs the query. This step is gone.</a:t>
            </a:r>
          </a:p>
          <a:p>
            <a:r>
              <a:rPr sz="1600"/>
              <a:t>Enrichment still lives in your KQL</a:t>
            </a:r>
          </a:p>
          <a:p>
            <a:r>
              <a:rPr sz="1600"/>
              <a:t>Test it the way you always did</a:t>
            </a:r>
          </a:p>
          <a:p>
            <a:r>
              <a:rPr sz="1600"/>
              <a:t>The description still decides whether the agent picks it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a:xfrm>
            <a:off x="831850" y="658178"/>
            <a:ext cx="10515600" cy="2852737"/>
          </a:xfrm>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a:xfrm>
            <a:off x="831850" y="3537903"/>
            <a:ext cx="10515600" cy="1500187"/>
          </a:xfrm>
        </p:spPr>
        <p:txBody>
          <a:bodyPr>
            <a:normAutofit/>
          </a:bodyPr>
          <a:lstStyle/>
          <a:p>
            <a:r>
              <a:rPr lang="en-US" dirty="0"/>
              <a:t>Same hunt. New speed.</a:t>
            </a:r>
          </a:p>
        </p:txBody>
      </p:sp>
      <p:pic>
        <p:nvPicPr>
          <p:cNvPr id="6" name="Picture 5" descr="site.png"/>
          <p:cNvPicPr>
            <a:picLocks noChangeAspect="1"/>
          </p:cNvPicPr>
          <p:nvPr/>
        </p:nvPicPr>
        <p:blipFill>
          <a:blip r:embed="rId3"/>
          <a:stretch>
            <a:fillRect/>
          </a:stretch>
        </p:blipFill>
        <p:spPr>
          <a:xfrm>
            <a:off x="1399032" y="4087368"/>
            <a:ext cx="1463040" cy="1463040"/>
          </a:xfrm>
          <a:prstGeom prst="rect">
            <a:avLst/>
          </a:prstGeom>
        </p:spPr>
      </p:pic>
      <p:sp>
        <p:nvSpPr>
          <p:cNvPr id="7" name="TextBox 6"/>
          <p:cNvSpPr txBox="1"/>
          <p:nvPr/>
        </p:nvSpPr>
        <p:spPr>
          <a:xfrm>
            <a:off x="3072384" y="4526280"/>
            <a:ext cx="4754880" cy="365760"/>
          </a:xfrm>
          <a:prstGeom prst="rect">
            <a:avLst/>
          </a:prstGeom>
          <a:noFill/>
        </p:spPr>
        <p:txBody>
          <a:bodyPr wrap="none" lIns="0" tIns="0" bIns="0" anchor="ctr">
            <a:spAutoFit/>
          </a:bodyPr>
          <a:lstStyle/>
          <a:p>
            <a:pPr algn="l"/>
            <a:r>
              <a:rPr sz="1300" b="0">
                <a:solidFill>
                  <a:srgbClr val="C9D6F0"/>
                </a:solidFill>
              </a:rPr>
              <a:t>Run every demo yourself, in a browser</a:t>
            </a:r>
          </a:p>
        </p:txBody>
      </p:sp>
      <p:sp>
        <p:nvSpPr>
          <p:cNvPr id="8" name="TextBox 7"/>
          <p:cNvSpPr txBox="1"/>
          <p:nvPr/>
        </p:nvSpPr>
        <p:spPr>
          <a:xfrm>
            <a:off x="3072384" y="4892040"/>
            <a:ext cx="4754880" cy="365760"/>
          </a:xfrm>
          <a:prstGeom prst="rect">
            <a:avLst/>
          </a:prstGeom>
          <a:noFill/>
        </p:spPr>
        <p:txBody>
          <a:bodyPr wrap="none" lIns="0" tIns="0" bIns="0" anchor="ctr">
            <a:spAutoFit/>
          </a:bodyPr>
          <a:lstStyle/>
          <a:p>
            <a:pPr algn="l"/>
            <a:r>
              <a:rPr sz="1700" b="1">
                <a:solidFill>
                  <a:srgbClr val="F2B134"/>
                </a:solidFill>
              </a:rPr>
              <a:t>go.rodtrent.com/go/c638n85</a:t>
            </a:r>
          </a:p>
        </p:txBody>
      </p:sp>
      <p:sp>
        <p:nvSpPr>
          <p:cNvPr id="9" name="QR repo TextBox 6"/>
          <p:cNvSpPr txBox="1"/>
          <p:nvPr/>
        </p:nvSpPr>
        <p:spPr>
          <a:xfrm>
            <a:off x="8357616" y="4526280"/>
            <a:ext cx="4754880" cy="365760"/>
          </a:xfrm>
          <a:prstGeom prst="rect">
            <a:avLst/>
          </a:prstGeom>
          <a:noFill/>
        </p:spPr>
        <p:txBody>
          <a:bodyPr wrap="none" lIns="0" tIns="0" bIns="0" anchor="ctr">
            <a:spAutoFit/>
          </a:bodyPr>
          <a:lstStyle/>
          <a:p>
            <a:pPr algn="l"/>
            <a:r>
              <a:rPr sz="1300" b="0">
                <a:solidFill>
                  <a:srgbClr val="C9D6F0"/>
                </a:solidFill>
              </a:rPr>
              <a:t>All the code, prompts, and decks</a:t>
            </a:r>
          </a:p>
        </p:txBody>
      </p:sp>
      <p:sp>
        <p:nvSpPr>
          <p:cNvPr id="10" name="QR repo TextBox 7"/>
          <p:cNvSpPr txBox="1"/>
          <p:nvPr/>
        </p:nvSpPr>
        <p:spPr>
          <a:xfrm>
            <a:off x="8357616" y="4892040"/>
            <a:ext cx="4754880" cy="365760"/>
          </a:xfrm>
          <a:prstGeom prst="rect">
            <a:avLst/>
          </a:prstGeom>
          <a:noFill/>
        </p:spPr>
        <p:txBody>
          <a:bodyPr wrap="none" lIns="0" tIns="0" bIns="0" anchor="ctr">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4"/>
          <a:stretch>
            <a:fillRect/>
          </a:stretch>
        </p:blipFill>
        <p:spPr>
          <a:xfrm>
            <a:off x="6684264" y="408736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dirty="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dirty="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94375"/>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631535"/>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97295"/>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1676400" y="6184015"/>
            <a:ext cx="10515600" cy="320040"/>
          </a:xfrm>
          <a:prstGeom prst="rect">
            <a:avLst/>
          </a:prstGeom>
          <a:noFill/>
        </p:spPr>
        <p:txBody>
          <a:bodyPr wrap="square" lIns="0" tIns="18288" rIns="0" bIns="18288" anchor="t">
            <a:spAutoFit/>
          </a:bodyPr>
          <a:lstStyle/>
          <a:p>
            <a:pPr algn="l"/>
            <a:r>
              <a:rPr sz="1300" b="0" i="1" dirty="0">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LLM03 Excessive Agency (too many tools), LLM07 Misinformation (trusting the summary), LLM10 Improper Output Handling (piping model output into a rule unchecked).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
        <p:nvSpPr>
          <p:cNvPr id="24" name="TextBox 23"/>
          <p:cNvSpPr txBox="1"/>
          <p:nvPr/>
        </p:nvSpPr>
        <p:spPr>
          <a:xfrm>
            <a:off x="841248" y="6345936"/>
            <a:ext cx="10515600" cy="384048"/>
          </a:xfrm>
          <a:prstGeom prst="rect">
            <a:avLst/>
          </a:prstGeom>
          <a:noFill/>
        </p:spPr>
        <p:txBody>
          <a:bodyPr wrap="none" tIns="0" bIns="0" anchor="ctr">
            <a:spAutoFit/>
          </a:bodyPr>
          <a:lstStyle/>
          <a:p>
            <a:pPr algn="ctr"/>
            <a:r>
              <a:rPr sz="1250" b="1">
                <a:solidFill>
                  <a:srgbClr val="F2B134"/>
                </a:solidFill>
                <a:latin typeface="Calibri"/>
              </a:rPr>
              <a:t>Every demo runs in your browser:  go.rodtrent.com/go/c638n85     ·     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AI-assisted hunting, prompt templates, MCP guardrails</a:t>
            </a:r>
          </a:p>
          <a:p>
            <a:r>
              <a:rPr sz="2000" b="0"/>
              <a:t>Bring a hunting hypothesis and we will build the prompt and the query together</a:t>
            </a:r>
          </a:p>
          <a:p>
            <a:r>
              <a:rPr sz="1600" b="1">
                <a:solidFill>
                  <a:srgbClr val="F2B134"/>
                </a:solidFill>
              </a:rPr>
              <a:t>Also spoke: Empowering SOC Teams — Mon 26 Oct, 3:00pm, Seaport H  ·  slides and demos in the repo</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1853</TotalTime>
  <Words>5270</Words>
  <Application>Microsoft Office PowerPoint</Application>
  <PresentationFormat>Widescreen</PresentationFormat>
  <Paragraphs>306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Your Best Hunts Become Tools</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2026-10-24T14:39:14Z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