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 The 60% is the stake: Prophet Security's 2026 survey found 60% of respondents had an alert they ignored or never investigated later prove material - customer data exposed, systems down, or business disrupted - and for 34% of them that happened three or more times in twelve months. Pair it with the 42% tile: the queue is not just long, the things being skipped are real. Prophet puts the uninvestigated rate at 28% average, 22% median, with 39% of teams leaving 30% or more untouched, so if someone challenges the 42% you have a second source that tells the same story.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 The new caption is the whole argument of the slide: Vectra's 2026 report has average volume falling from 3,832 to 2,992 alerts a day, yet 63% of alerts still go unaddressed. Less water, same size bucket. Vectra surveyed 1,450 practitioners and published it on 10 February 2026.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Documented clients for the Sentinel MCP server: VS Code (with GitHub Copilot), Security Copilot, Copilot Studio, and Azure AI Foundry. Claude and ChatGPT connect through the custom-connector route, which is a separate and still-prerelease path - and it reaches the data-exploration collection only. Do not claim Logic Apps as an MCP client; it is not in the docs.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 Two caveats to say out loud. One: the Triage collection is Visual Studio Code only today - it is NOT reachable from the claude.ai connector, so Mission 2 runs in VS Code or on the offline agent. Two: the entity analyzer tools (analyze_user_entity, analyze_url_entity) need Security Copilot Contributor on top of the Sentinel role and they consume Security Compute Units - skip them on stage unless you have SCUs to spend. Security Reader is enough for everything in Mission 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 The 76% is your answer to 'is anyone actually doing this?' - Vectra 2026: 76% of defenders say AI agents or assistants already handle more than 10% of their workload. Most of that is Level 1. The point of the ladder is that the value and the risk both change as you climb, and that 76% have already started climbing whether or not they governed it. Related: 71% say they set aside important security tasks at least two days a week.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11 minutes with step 7, or 9 if you cut).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 Step 7 uses the PREVIEW graph tools, which need two more things than the rest of Mission 1: the data lake onboarded to the Defender portal, and at least read-only access in Microsoft Security Exposure Management. They bill against the Sentinel graph meter. If you are running long, cut the 'can it write?' detour; if the tenant is misbehaving, step 7 is the first thing to drop - it is the newest and least stable part of the demo, and the offline version in the demo site always works.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 Step 7 is new and it is the one people will ask about afterwards. Two things to land: the key vault is NOT in the blast radius because PIM eligibility is not activation - a tool that counted edges would have got that wrong - and there are two doors into the mailbox, so revoking the OAuth grant has to come BEFORE the password reset. Containment order is a graph question. The graph tools are preview and bill against the Sentinel graph meter, so say 'preview' out loud once.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Copilot Studio for low-code, which is a documented MCP client. Logic Apps can orchestrate around the agent but is not itself a documented Sentinel MCP client - say orchestration, not MCP client.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This mission uses the Triage collection (Defender incidents, alerts, evidence, entities, advanced hunting), which is Visual Studio Code only today - NOT reachable from the claude.ai connector you wired up in Mission 1. So run it in VS Code, or run the offline agent in demos/empowering-soc-teams/03-triage-agent-hitl, which is what the demo site does. Do not tell the room you are driving Triage from Claude.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 Two baselines for the uninvestigated rate now: Microsoft/Omdia's 42% and Prophet's 28% average (22% median) from 2026. Use whichever is closer to the room's reality - the point is to measure your own for 30 days, not to adopt an industry number.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whiteboard an agent for their noisiest alert class.</a:t>
            </a:r>
          </a:p>
          <a:p/>
          <a:p>
            <a:r>
              <a:t>The gold line plugs tomorrow's session (Using AI for Modern Threat Detection, Tue 27 Oct 10:00am, Seaport G). Say it out loud - the hunting session picks up the same campaign this one investigates.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kengoossens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junior analysts leave</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within three years (SANS, 2025)</a:t>
            </a:r>
          </a:p>
        </p:txBody>
      </p:sp>
      <p:sp>
        <p:nvSpPr>
          <p:cNvPr id="27" name="TextBox 26"/>
          <p:cNvSpPr txBox="1"/>
          <p:nvPr/>
        </p:nvSpPr>
        <p:spPr>
          <a:xfrm>
            <a:off x="841248" y="5989320"/>
            <a:ext cx="10515600" cy="530352"/>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a:p>
            <a:pPr algn="l"/>
            <a:r>
              <a:rPr sz="1400" b="0" i="1">
                <a:solidFill>
                  <a:srgbClr val="C9D6F0"/>
                </a:solidFill>
                <a:latin typeface="Calibri"/>
              </a:rPr>
              <a:t>And it matters: 60% say an alert they ignored or never investigated later proved material (Prophet Security,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603504"/>
          </a:xfrm>
          <a:prstGeom prst="rect">
            <a:avLst/>
          </a:prstGeom>
          <a:noFill/>
        </p:spPr>
        <p:txBody>
          <a:bodyPr wrap="square" lIns="0" tIns="18288" rIns="0" bIns="18288" anchor="t">
            <a:spAutoFit/>
          </a:bodyPr>
          <a:lstStyle/>
          <a:p>
            <a:pPr algn="l"/>
            <a:r>
              <a:rPr sz="1150" b="0" i="0">
                <a:solidFill>
                  <a:srgbClr val="C9D6F0"/>
                </a:solidFill>
                <a:latin typeface="Calibri"/>
              </a:rPr>
              <a:t>The queue shrank. The gap did not — 63% of alerts still go unaddressed.</a:t>
            </a:r>
          </a:p>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658368"/>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a:p>
            <a:pPr algn="l"/>
            <a:r>
              <a:rPr sz="1300" b="0" i="1">
                <a:solidFill>
                  <a:srgbClr val="C9D6F0"/>
                </a:solidFill>
                <a:latin typeface="Calibri"/>
              </a:rPr>
              <a:t>This is not hypothetical: 76% of defenders say AI agents or assistants already handle more than 10% of their workload (Vectra AI, 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a:xfrm>
            <a:off x="831850" y="658178"/>
            <a:ext cx="10515600" cy="2852737"/>
          </a:xfrm>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a:xfrm>
            <a:off x="831850" y="3537903"/>
            <a:ext cx="10515600" cy="1500187"/>
          </a:xfrm>
        </p:spPr>
        <p:txBody>
          <a:bodyPr>
            <a:normAutofit/>
          </a:bodyPr>
          <a:lstStyle/>
          <a:p>
            <a:r>
              <a:rPr lang="en-US" dirty="0"/>
              <a:t>Watch the pattern. Steal the pattern.</a:t>
            </a:r>
          </a:p>
        </p:txBody>
      </p:sp>
      <p:pic>
        <p:nvPicPr>
          <p:cNvPr id="6" name="Picture 5" descr="site.png"/>
          <p:cNvPicPr>
            <a:picLocks noChangeAspect="1"/>
          </p:cNvPicPr>
          <p:nvPr/>
        </p:nvPicPr>
        <p:blipFill>
          <a:blip r:embed="rId4"/>
          <a:stretch>
            <a:fillRect/>
          </a:stretch>
        </p:blipFill>
        <p:spPr>
          <a:xfrm>
            <a:off x="1399032" y="4087368"/>
            <a:ext cx="1463040" cy="1463040"/>
          </a:xfrm>
          <a:prstGeom prst="rect">
            <a:avLst/>
          </a:prstGeom>
        </p:spPr>
      </p:pic>
      <p:sp>
        <p:nvSpPr>
          <p:cNvPr id="7" name="TextBox 6"/>
          <p:cNvSpPr txBox="1"/>
          <p:nvPr/>
        </p:nvSpPr>
        <p:spPr>
          <a:xfrm>
            <a:off x="3072384" y="452628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072384" y="4892040"/>
            <a:ext cx="4754880" cy="365760"/>
          </a:xfrm>
          <a:prstGeom prst="rect">
            <a:avLst/>
          </a:prstGeom>
          <a:noFill/>
        </p:spPr>
        <p:txBody>
          <a:bodyPr wrap="none" anchor="ctr" tIns="0" bIns="0" lIns="0">
            <a:spAutoFit/>
          </a:bodyPr>
          <a:lstStyle/>
          <a:p>
            <a:pPr algn="l"/>
            <a:r>
              <a:rPr sz="1700" b="1">
                <a:solidFill>
                  <a:srgbClr val="F2B134"/>
                </a:solidFill>
              </a:rPr>
              <a:t>go.rodtrent.com/go/8sxe66m</a:t>
            </a:r>
          </a:p>
        </p:txBody>
      </p:sp>
      <p:sp>
        <p:nvSpPr>
          <p:cNvPr id="9" name="QR repo TextBox 6"/>
          <p:cNvSpPr txBox="1"/>
          <p:nvPr/>
        </p:nvSpPr>
        <p:spPr>
          <a:xfrm>
            <a:off x="8357616" y="4526280"/>
            <a:ext cx="4754880" cy="365760"/>
          </a:xfrm>
          <a:prstGeom prst="rect">
            <a:avLst/>
          </a:prstGeom>
          <a:noFill/>
        </p:spPr>
        <p:txBody>
          <a:bodyPr wrap="none" anchor="ctr" tIns="0" bIns="0" lIns="0">
            <a:spAutoFit/>
          </a:bodyPr>
          <a:lstStyle/>
          <a:p>
            <a:pPr algn="l"/>
            <a:r>
              <a:rPr sz="1300" b="0">
                <a:solidFill>
                  <a:srgbClr val="C9D6F0"/>
                </a:solidFill>
              </a:rPr>
              <a:t>All the code, prompts, and decks</a:t>
            </a:r>
          </a:p>
        </p:txBody>
      </p:sp>
      <p:sp>
        <p:nvSpPr>
          <p:cNvPr id="10" name="QR repo TextBox 7"/>
          <p:cNvSpPr txBox="1"/>
          <p:nvPr/>
        </p:nvSpPr>
        <p:spPr>
          <a:xfrm>
            <a:off x="8357616" y="4892040"/>
            <a:ext cx="4754880" cy="365760"/>
          </a:xfrm>
          <a:prstGeom prst="rect">
            <a:avLst/>
          </a:prstGeom>
          <a:noFill/>
        </p:spPr>
        <p:txBody>
          <a:bodyPr wrap="none" anchor="ctr" tIns="0" bIns="0" lIns="0">
            <a:spAutoFit/>
          </a:bodyPr>
          <a:lstStyle/>
          <a:p>
            <a:pPr algn="l"/>
            <a:r>
              <a:rPr sz="1700" b="1">
                <a:solidFill>
                  <a:srgbClr val="F2B134"/>
                </a:solidFill>
              </a:rPr>
              <a:t>go.rodtrent.com/go/eje7vdj</a:t>
            </a:r>
          </a:p>
        </p:txBody>
      </p:sp>
      <p:pic>
        <p:nvPicPr>
          <p:cNvPr id="11" name="QR repo Picture" descr="qr-repo.png"/>
          <p:cNvPicPr>
            <a:picLocks noChangeAspect="1"/>
          </p:cNvPicPr>
          <p:nvPr/>
        </p:nvPicPr>
        <p:blipFill>
          <a:blip r:embed="rId5"/>
          <a:stretch>
            <a:fillRect/>
          </a:stretch>
        </p:blipFill>
        <p:spPr>
          <a:xfrm>
            <a:off x="6684264" y="4087368"/>
            <a:ext cx="1463040" cy="1463040"/>
          </a:xfrm>
          <a:prstGeom prst="rect">
            <a:avLst/>
          </a:prstGeom>
        </p:spPr>
      </p:pic>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6144768"/>
            <a:ext cx="10515600" cy="603504"/>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6245352"/>
            <a:ext cx="411480" cy="411480"/>
          </a:xfrm>
          <a:prstGeom prst="rect">
            <a:avLst/>
          </a:prstGeom>
        </p:spPr>
      </p:pic>
      <p:sp>
        <p:nvSpPr>
          <p:cNvPr id="29" name="TextBox 28"/>
          <p:cNvSpPr txBox="1"/>
          <p:nvPr/>
        </p:nvSpPr>
        <p:spPr>
          <a:xfrm>
            <a:off x="1554480" y="6144768"/>
            <a:ext cx="9692640" cy="603504"/>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
        <p:nvSpPr>
          <p:cNvPr id="30" name="Rounded Rectangle 98-g7"/>
          <p:cNvSpPr/>
          <p:nvPr/>
        </p:nvSpPr>
        <p:spPr>
          <a:xfrm>
            <a:off x="841248" y="4846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99-g7"/>
          <p:cNvSpPr/>
          <p:nvPr/>
        </p:nvSpPr>
        <p:spPr>
          <a:xfrm>
            <a:off x="1024128" y="5074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7</a:t>
            </a:r>
          </a:p>
        </p:txBody>
      </p:sp>
      <p:sp>
        <p:nvSpPr>
          <p:cNvPr id="32" name="TextBox 90-g7"/>
          <p:cNvSpPr txBox="1"/>
          <p:nvPr/>
        </p:nvSpPr>
        <p:spPr>
          <a:xfrm>
            <a:off x="1709928" y="4956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Map the blast radius</a:t>
            </a:r>
          </a:p>
        </p:txBody>
      </p:sp>
      <p:sp>
        <p:nvSpPr>
          <p:cNvPr id="33" name="TextBox 91-g7"/>
          <p:cNvSpPr txBox="1"/>
          <p:nvPr/>
        </p:nvSpPr>
        <p:spPr>
          <a:xfrm>
            <a:off x="1709928" y="5285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Preview graph tools: what the account can actually reach, what is blocked and why, and why a reset alone will not close 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(Omdia) or 28% (Prophet, 2026)</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go.rodtrent.com/go/8sxe66m</a:t>
            </a:r>
            <a:r>
              <a:rPr sz="1250" b="1">
                <a:solidFill>
                  <a:srgbClr val="F2B134"/>
                </a:solidFill>
                <a:latin typeface="Calibri"/>
              </a:rPr>
              <a:t xml:space="preserve">     ·     </a:t>
            </a:r>
            <a:r>
              <a:rPr sz="1250" b="1">
                <a:solidFill>
                  <a:srgbClr val="F2B134"/>
                </a:solidFill>
                <a:latin typeface="Calibri"/>
              </a:rPr>
              <a:t>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Sentinel MCP setup, SOC agent design, measuring ROI</a:t>
            </a:r>
          </a:p>
          <a:p>
            <a:r>
              <a:rPr sz="2000" b="0"/>
              <a:t>Bring your noisiest alert class and we will sketch the agent together</a:t>
            </a:r>
          </a:p>
          <a:p>
            <a:r>
              <a:rPr sz="1600" b="1">
                <a:solidFill>
                  <a:srgbClr val="F2B134"/>
                </a:solidFill>
              </a:rPr>
              <a:t>Also speaking: Using AI for Modern Threat Detection — Tue 27 Oct, 10:00am, Seaport G</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