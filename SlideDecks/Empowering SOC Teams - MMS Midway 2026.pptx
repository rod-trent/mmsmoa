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12.svg" ContentType="image/svg+xml"/>
  <Override PartName="/ppt/media/image13.svg" ContentType="image/svg+xml"/>
  <Override PartName="/ppt/media/image14.svg" ContentType="image/svg+xml"/>
  <Override PartName="/ppt/media/image2.svg" ContentType="image/svg+xml"/>
  <Override PartName="/ppt/media/image27.svg" ContentType="image/svg+xml"/>
  <Override PartName="/ppt/media/image3.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7.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31"/>
  </p:notesMasterIdLst>
  <p:handoutMasterIdLst>
    <p:handoutMasterId r:id="rId32"/>
  </p:handoutMasterIdLst>
  <p:sldIdLst>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47C90A1-52DE-4C0C-9748-AA4C35CE60DF}">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Lst>
        </p14:section>
        <p14:section name="Presentation" id="{88398753-748C-4CE7-B81D-D95829EA2652}">
          <p14:sldIdLst/>
        </p14:section>
        <p14:section name="Closing" id="{35F0DD0F-C871-4339-9D6B-25AB6010E8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B1E4"/>
    <a:srgbClr val="011230"/>
    <a:srgbClr val="095F80"/>
    <a:srgbClr val="10A8E2"/>
    <a:srgbClr val="96DCF8"/>
    <a:srgbClr val="333333"/>
    <a:srgbClr val="ED1C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3805A3-A7A3-4A10-8129-2456014A01F9}" v="2" dt="2026-09-05T18:05:49.837"/>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040" autoAdjust="0"/>
  </p:normalViewPr>
  <p:slideViewPr>
    <p:cSldViewPr snapToGrid="0">
      <p:cViewPr varScale="1">
        <p:scale>
          <a:sx n="124" d="100"/>
          <a:sy n="124" d="100"/>
        </p:scale>
        <p:origin x="1720" y="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2" d="100"/>
          <a:sy n="122" d="100"/>
        </p:scale>
        <p:origin x="4148" y="6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 Id="rId3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 Trent" userId="9f177c9e-5e30-4e0c-b08c-05ddc3564d39" providerId="ADAL" clId="{1A93B2F6-7DF8-4A32-B259-58BFFAEA055C}"/>
    <pc:docChg chg="modSld">
      <pc:chgData name="Rod Trent" userId="9f177c9e-5e30-4e0c-b08c-05ddc3564d39" providerId="ADAL" clId="{1A93B2F6-7DF8-4A32-B259-58BFFAEA055C}" dt="2026-09-05T18:05:49.832" v="1" actId="14826"/>
      <pc:docMkLst>
        <pc:docMk/>
      </pc:docMkLst>
      <pc:sldChg chg="modSp">
        <pc:chgData name="Rod Trent" userId="9f177c9e-5e30-4e0c-b08c-05ddc3564d39" providerId="ADAL" clId="{1A93B2F6-7DF8-4A32-B259-58BFFAEA055C}" dt="2026-09-05T18:05:49.832" v="1" actId="14826"/>
        <pc:sldMkLst>
          <pc:docMk/>
          <pc:sldMk cId="2749782532" sldId="302"/>
        </pc:sldMkLst>
        <pc:picChg chg="mod">
          <ac:chgData name="Rod Trent" userId="9f177c9e-5e30-4e0c-b08c-05ddc3564d39" providerId="ADAL" clId="{1A93B2F6-7DF8-4A32-B259-58BFFAEA055C}" dt="2026-09-05T18:05:49.832" v="1" actId="14826"/>
          <ac:picMkLst>
            <pc:docMk/>
            <pc:sldMk cId="2749782532" sldId="302"/>
            <ac:picMk id="11" creationId="{E25A340F-1F9B-DA96-FDB6-3299A6F777AE}"/>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FFFFFF"/>
                </a:solidFill>
              </a:rPr>
              <a:t>Average daily security alerts per organization</a:t>
            </a:r>
          </a:p>
        </c:rich>
      </c:tx>
      <c:overlay val="0"/>
    </c:title>
    <c:autoTitleDeleted val="0"/>
    <c:plotArea>
      <c:layout/>
      <c:barChart>
        <c:barDir val="col"/>
        <c:grouping val="clustered"/>
        <c:varyColors val="1"/>
        <c:ser>
          <c:idx val="0"/>
          <c:order val="0"/>
          <c:tx>
            <c:strRef>
              <c:f>Sheet1!$B$1</c:f>
              <c:strCache>
                <c:ptCount val="1"/>
                <c:pt idx="0">
                  <c:v>Avg. daily alerts</c:v>
                </c:pt>
              </c:strCache>
            </c:strRef>
          </c:tx>
          <c:spPr>
            <a:solidFill>
              <a:srgbClr val="629DD1"/>
            </a:solidFill>
          </c:spPr>
          <c:invertIfNegative val="1"/>
          <c:dLbls>
            <c:numFmt formatCode="#,##0" sourceLinked="0"/>
            <c:spPr>
              <a:noFill/>
              <a:ln>
                <a:noFill/>
              </a:ln>
              <a:effectLst/>
            </c:spPr>
            <c:txPr>
              <a:bodyPr/>
              <a:lstStyle/>
              <a:p>
                <a:pPr>
                  <a:defRPr sz="1300" b="1">
                    <a:solidFill>
                      <a:srgbClr val="FFFFF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2025</c:v>
                </c:pt>
                <c:pt idx="2">
                  <c:v>2026</c:v>
                </c:pt>
              </c:strCache>
            </c:strRef>
          </c:cat>
          <c:val>
            <c:numRef>
              <c:f>Sheet1!$B$2:$B$4</c:f>
              <c:numCache>
                <c:formatCode>General</c:formatCode>
                <c:ptCount val="3"/>
                <c:pt idx="0">
                  <c:v>4484</c:v>
                </c:pt>
                <c:pt idx="1">
                  <c:v>3832</c:v>
                </c:pt>
                <c:pt idx="2">
                  <c:v>2992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19D-42FC-A17E-1BC85557DEC2}"/>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556699"/>
            </a:solidFill>
          </a:ln>
        </c:spPr>
        <c:txPr>
          <a:bodyPr/>
          <a:lstStyle/>
          <a:p>
            <a:pPr>
              <a:defRPr sz="1200">
                <a:solidFill>
                  <a:srgbClr val="FFFFFF"/>
                </a:solidFill>
              </a:defRPr>
            </a:pPr>
            <a:endParaRPr lang="en-US"/>
          </a:p>
        </c:txPr>
        <c:crossAx val="-2113994440"/>
        <c:crosses val="autoZero"/>
        <c:auto val="1"/>
        <c:lblAlgn val="ctr"/>
        <c:lblOffset val="100"/>
        <c:noMultiLvlLbl val="0"/>
      </c:catAx>
      <c:valAx>
        <c:axId val="-2113994440"/>
        <c:scaling>
          <c:orientation val="minMax"/>
          <c:max val="5000"/>
          <c:min val="0"/>
        </c:scaling>
        <c:delete val="0"/>
        <c:axPos val="l"/>
        <c:majorGridlines>
          <c:spPr>
            <a:ln>
              <a:solidFill>
                <a:srgbClr val="3A4A80"/>
              </a:solidFill>
            </a:ln>
          </c:spPr>
        </c:majorGridlines>
        <c:numFmt formatCode="#,##0" sourceLinked="0"/>
        <c:majorTickMark val="out"/>
        <c:minorTickMark val="none"/>
        <c:tickLblPos val="nextTo"/>
        <c:spPr>
          <a:ln>
            <a:noFill/>
          </a:ln>
        </c:spPr>
        <c:txPr>
          <a:bodyPr/>
          <a:lstStyle/>
          <a:p>
            <a:pPr>
              <a:defRPr sz="1000">
                <a:solidFill>
                  <a:srgbClr val="C9D6F0"/>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479DD7-BEB9-FB69-F785-68848A4099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F1EC562-ED04-0689-F45A-C2EBCD3AF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59BDEA-31B7-4DB6-C40F-9DED321F51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ADBB9A-3F38-44C9-81C4-CD9EE35AF0DB}" type="slidenum">
              <a:rPr lang="en-US" smtClean="0"/>
              <a:t>‹#›</a:t>
            </a:fld>
            <a:endParaRPr lang="en-US"/>
          </a:p>
        </p:txBody>
      </p:sp>
    </p:spTree>
    <p:extLst>
      <p:ext uri="{BB962C8B-B14F-4D97-AF65-F5344CB8AC3E}">
        <p14:creationId xmlns:p14="http://schemas.microsoft.com/office/powerpoint/2010/main" val="3154314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343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Hold here while the room settles. One line of framing: this is a practitioner session - about 40 minutes of content, two live demos against a real Sentinel/Defender tenant, then the long MMS Q&amp;A. The goal is not to replace analysts; it is to move junior analysts up the stack from manual triage to hunting.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MMS housekeeping. Read it fast, do not dwell. The two that matter: hold detailed questions for the Q&amp;A block (it is long, they will get their answer), and yell 'Zoom It' during the demos - the agent output is small text and the back rows will not see it otherwise. Clarifying questions during demos are welcome and usually improve the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Speakers. Rod Trent - Product Manager, Microsoft Security (Defender for Identity/Office/Apps and Security Advisor); leads the Microsoft Security MVP Program. Ken Goossens - Senior Product Manager R&amp;D at Nerdio, based in the Ghent area, Belgium.</a:t>
            </a:r>
          </a:p>
          <a:p/>
          <a:p>
            <a:r>
              <a:t>Play the Pilot / RIO conceit straight: two crew, one aircraft, and the back-seater runs the sensors and the radio while the pilot still flies and still takes the shot. Then land the point that matters - in the missions you are about to see, the agent is a third crew member. It reads the sensors faster than either of us can. It does not take the shot. That framing pays off again on the human-in-the-loop slide.</a:t>
            </a:r>
          </a:p>
          <a:p/>
          <a:p>
            <a:r>
              <a:t>Mention the Substack for anyone who wants to follow along after the session.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Flight plan and the clock. Four blocks: why junior analysts never get to hunt, the stack, two live missions, and shipping it without getting fired. Point at the table so people know the demos come around minute 12 and that Q&amp;A is genuinely long. Tell them the missions are meant to be stolen - every prompt and config is on the slides, no secret sauce.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of 4: the problem. Land the line - alert volume won, your analysts did not. Ask the room: how many of you have an alert queue older than 24 hours right now? Hands going up is the whole setup for the next two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pain. Volume is high, a large share never gets looked at, each investigation is slow, and the people doing it burn out and leave. Ask the room: how many of you have an alert queue older than 24 hours right now? This is the problem GenAI + MCP + agents attack directly. Sources are on the slide; swap in your own tenant numbers if you have them. The 60% is the stake: Prophet Security's 2026 survey found 60% of respondents had an alert they ignored or never investigated later prove material - customer data exposed, systems down, or business disrupted - and for 34% of them that happened three or more times in twelve months. Pair it with the 42% tile: the queue is not just long, the things being skipped are real. Prophet puts the uninvestigated rate at 28% average, 22% median, with 39% of teams leaving 30% or more untouched, so if someone challenges the 42% you have a second source that tells the same story.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even though average volume is trending down as detection tooling consolidates, nearly 3,000 alerts a day is still far beyond what a human team can touch. Right: walk the five-step loop. Every step is manual, every step requires swivel-chair work across consoles (Microsoft/Omdia counts ~11 consoles on average), and none of it is where a junior analyst learns to become a senior one. Transition: what if steps 1 through 3, and most of 4, could be done before a human ever opens the ticket? The new caption is the whole argument of the slide: Vectra's 2026 report has average volume falling from 3,832 to 2,992 alerts a day, yet 63% of alerts still go unaddressed. Less water, same size bucket. Vectra surveyed 1,450 practitioners and published it on 10 February 2026.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pivot from problem to solution. Say it plainly: nobody is arguing for fewer analysts. The split is agents own the repetitive 80 percent, humans own judgment, exceptions, and hunting. MTTA drops without giving up control or compliance - and that last clause is what the rest of the session has to earn. This is also the slide to preempt the job-loss question before it becomes a Q&amp;A derail.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 of 4: the stack. One sentence of framing - a model plus tools plus a loop is a teammate, and each of the next three slides is one of those three pieces. Keep this short, the substance is coming.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vendor-neutral and practical. The audience will have all three in their environment whether they planned to or not. Key message: the differentiator is no longer the chat window, it's what the model can reach and do. That's MCP, next slide. Documented clients for the Sentinel MCP server: VS Code (with GitHub Copilot), Security Copilot, Copilot Studio, and Azure AI Foundry. Claude and ChatGPT connect through the custom-connector route, which is a separate and still-prerelease path - and it reaches the data-exploration collection only. Do not claim Logic Apps as an MCP client; it is not in the docs.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hinge slide for the whole talk. If people leave understanding only one thing, it should be that MCP separates the assistant from the data. Concrete facts: Sentinel MCP endpoint is https://sentinel.microsoft.com/mcp/data-exploration, it requires an Entra app registration with SentinelPlatform.DelegatedAccess, the Sentinel data lake must be enabled, and the minimum role is Security Reader. The Triage collection wraps Defender APIs (incidents, alerts, evidence, entities, advanced hunting). Point out that RBAC is enforced on every call, so an analyst through Claude sees exactly what they'd see in the portal, no more. Two caveats to say out loud. One: the Triage collection is Visual Studio Code only today - it is NOT reachable from the claude.ai connector, so Mission 2 runs in VS Code or on the offline agent. Two: the entity analyzer tools (analyze_user_entity, analyze_url_entity) need Security Copilot Contributor on top of the Sentinel role and they consume Security Compute Units - skip them on stage unless you have SCUs to spend. Security Reader is enough for everything in Mission 1.</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orgs in the room are at Level 1, maybe Level 2 in pockets. Be honest that Level 4 is aspirational for most today. Use this to set up the demos: Demo 1 is Level 2 (Claude connected to Sentinel via MCP), Demo 2 is Level 3 (an agent doing the loop with a human approval gate). The 76% is your answer to 'is anyone actually doing this?' - Vectra 2026: 76% of defenders say AI agents or assistants already handle more than 10% of their workload. Most of that is Level 1. The point of the ladder is that the value and the risk both change as you climb, and that 76% have already started climbing whether or not they governed it. Related: 71% say they set aside important security tasks at least two days a week.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 of 4: the demos. 'Watch the pattern, steal the pattern.' Mission 1 is Level 2 on the maturity ladder (connected assistant). Mission 2 is Level 3 (agent with an approval gate). Remind them to yell Zoom It. Pre-flight both connections before the session and have the recorded backups queued.</a:t>
            </a:r>
          </a:p>
          <a:p/>
          <a:p>
            <a:r>
              <a:t>The QR and URL on this slide go to the live demo site (mms-midway-demos.vercel.app). Point at it here rather than at the end - people who scan now can follow along on their own laptop while you run the missions. Every demo on it runs real Python in the browser, and the pause control has a step-through mode if anyone wants to walk it themselves. It is also on the Takeaways slide for anyone who photographs that 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1 (about 11 minutes with step 7, or 9 if you cut).  Pre-flight before the session: Entra app registered with redirect https://claude.ai/api/mcp/auth_callback, SentinelPlatform.DelegatedAccess consented, data lake enabled, demo account holds Security Reader only, a known noisy incident from the last 24h queued up. Have the recorded backup video ready in case of Wi-Fi or auth issues. Step 7 uses the PREVIEW graph tools, which need two more things than the rest of Mission 1: the data lake onboarded to the Defender portal, and at least read-only access in Microsoft Security Exposure Management. They bill against the Sentinel graph meter. If you are running long, cut the 'can it write?' detour; if the tenant is misbehaving, step 7 is the first thing to drop - it is the newest and least stable part of the demo, and the offline version in the demo site always works.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Narrate while you click. Emphasize step 4: the prompt is exactly what an analyst would say to a colleague. Call out the moment Claude chooses which tables to query on its own. That's the schema knowledge junior analysts spend months acquiring. Close the demo by opening the Sentinel audit view so the compliance folks in the room see the trail. Step 7 is new and it is the one people will ask about afterwards. Two things to land: the key vault is NOT in the blast radius because PIM eligibility is not activation - a tool that counted edges would have got that wrong - and there are two doors into the mailbox, so revoking the OAuth grant has to come BEFORE the password reset. Containment order is a graph question. The graph tools are preview and bill against the Sentinel graph meter, so say 'preview' out loud once.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The amber box is the point: approval is a stage in the pipeline, not an afterthought. Implementation options: Claude Agent SDK or Claude Code calling the Sentinel/Defender MCP tools; Security Copilot agents built from the Agent Creation collection; Copilot Studio for low-code, which is a documented MCP client. Logic Apps can orchestrate around the agent but is not itself a documented Sentinel MCP client - say orchestration, not MCP client. Same shape either way. The bottom row is the checklist you'll be asked about by your CISO.</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2 (about 10 minutes). This mission uses the Triage collection (Defender incidents, alerts, evidence, entities, advanced hunting), which is Visual Studio Code only today - NOT reachable from the claude.ai connector you wired up in Mission 1. So run it in VS Code, or run the offline agent in demos/empowering-soc-teams/03-triage-agent-hitl, which is what the demo site does. Do not tell the room you are driving Triage from Claude. Backup: recorded run plus the JSON output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moment to sell: the approval prompt. Show that the analyst is reviewing a finished investigation, not starting one. Then reject a disposition on purpose to show the agent re-plans and logs the override. That single interaction answers most of the 'but what about control' questions before they're asked. If time allows, show the run record landing in a custom Sentinel table for later tuning and ROI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4 of 4: governance and ROI. 'Control is a feature, not a blocker' is the line that gets this deployed - the audience's blocker is almost never the technology, it is their CISO or their auditor. The next four slides are the answer to that conversation, in the order they will be asked: how do you keep it safe, how do you prove it worked, how do you scale it, what do I do Monday.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'secure, human-in-the-loop' takeaway. Six patterns, all of which the audience already knows from SOAR and PAM. Frame agents as a new kind of privileged workload. Spend the most time on prompt injection: an attacker can put instructions in an email subject or a file name and a naive agent will follow them. Show the mitigation: separate data channel from instruction channel and never allow data to select tools.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cannot claim ROI without a baseline. Capture the four metrics for 30 days before the first agent goes live. Auto-disposition accuracy is the gate for scaling: do not widen the agent's scope until humans agree with it more than 95% of the time on the current scope. The token cost line usually surprises people by how small it is relative to analyst time. Two baselines for the uninvestigated rate now: Microsoft/Omdia's 42% and Prophet's 28% average (22% median) from 2026. Use whichever is closer to the room's reality - the point is to measure your own for 30 days, not to adopt an industry number.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'Any environment' from the abstract: because MCP servers are the integration layer, the same agents work whether the data is in Sentinel, Defender, a partner SIEM with its own MCP server, or a custom internal tool you wrap yourself. Emphasize that 90 days is the first cycle, not the end state. Each new alert class repeats the 30/60/90 loop faster.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 back to the four takeaways in the abstract: connect, automate, control, measure. End on the people message before moving to the Wingman and Q&amp;A slides.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Wingman schedule board - slots are assigned on site, so tell them to find Wally rather than quoting a time. Offer to whiteboard an agent for their noisiest alert class.</a:t>
            </a:r>
          </a:p>
          <a:p/>
          <a:p>
            <a:r>
              <a:t>The gold line plugs tomorrow's session (Using AI for Modern Threat Detection, Tue 27 Oct 10:00am, Seaport G). Say it out loud - the hunting session picks up the same campaign this one investigates.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Extended Q&amp;A. Likely questions: data residency of the MCP server, cost of tokens at scale, what happens when the agent is wrong, how this differs from SOAR, and whether Security Copilot agents and Claude agents can coexist (yes, via the same MCP servers).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 Id="rId4"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svg"/><Relationship Id="rId3" Type="http://schemas.openxmlformats.org/officeDocument/2006/relationships/image" Target="../media/image3.sv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sv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svg"/><Relationship Id="rId3" Type="http://schemas.openxmlformats.org/officeDocument/2006/relationships/image" Target="../media/image5.svg"/><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svg"/><Relationship Id="rId3"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svg"/><Relationship Id="rId3" Type="http://schemas.openxmlformats.org/officeDocument/2006/relationships/image" Target="../media/image8.sv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svg"/><Relationship Id="rId3" Type="http://schemas.openxmlformats.org/officeDocument/2006/relationships/image" Target="../media/image3.sv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sv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ode">
    <p:bg>
      <p:bgPr>
        <a:solidFill>
          <a:srgbClr val="011230"/>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999E9E-CC81-8FF5-9E80-20B539DD3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5855" y="2160685"/>
            <a:ext cx="4620289" cy="2536629"/>
          </a:xfrm>
          <a:prstGeom prst="rect">
            <a:avLst/>
          </a:prstGeom>
          <a:effectLst>
            <a:outerShdw blurRad="50800" dist="25400" dir="2700000" algn="ctr" rotWithShape="0">
              <a:schemeClr val="bg1">
                <a:alpha val="25000"/>
              </a:schemeClr>
            </a:outerShdw>
          </a:effectLst>
        </p:spPr>
      </p:pic>
      <p:sp>
        <p:nvSpPr>
          <p:cNvPr id="5" name="TextBox 4">
            <a:extLst>
              <a:ext uri="{FF2B5EF4-FFF2-40B4-BE49-F238E27FC236}">
                <a16:creationId xmlns:a16="http://schemas.microsoft.com/office/drawing/2014/main" id="{6F5D3A88-1E3C-4536-BAED-A7D9A038E355}"/>
              </a:ext>
            </a:extLst>
          </p:cNvPr>
          <p:cNvSpPr txBox="1"/>
          <p:nvPr userDrawn="1"/>
        </p:nvSpPr>
        <p:spPr>
          <a:xfrm>
            <a:off x="3785855" y="4918692"/>
            <a:ext cx="4617720" cy="1107996"/>
          </a:xfrm>
          <a:prstGeom prst="rect">
            <a:avLst/>
          </a:prstGeom>
          <a:noFill/>
        </p:spPr>
        <p:txBody>
          <a:bodyPr wrap="square" rtlCol="0">
            <a:spAutoFit/>
          </a:bodyPr>
          <a:lstStyle/>
          <a:p>
            <a:pPr algn="ctr"/>
            <a:r>
              <a:rPr lang="en-US" sz="6600" b="1" dirty="0">
                <a:solidFill>
                  <a:schemeClr val="bg1"/>
                </a:solidFill>
              </a:rPr>
              <a:t>Dark Mode</a:t>
            </a:r>
          </a:p>
        </p:txBody>
      </p:sp>
      <p:sp>
        <p:nvSpPr>
          <p:cNvPr id="7" name="Title 6">
            <a:extLst>
              <a:ext uri="{FF2B5EF4-FFF2-40B4-BE49-F238E27FC236}">
                <a16:creationId xmlns:a16="http://schemas.microsoft.com/office/drawing/2014/main" id="{20FE766F-A9F5-CAE7-CF49-2F12F4005D3D}"/>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2539446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622169" y="3683"/>
            <a:ext cx="10887959" cy="1383085"/>
          </a:xfrm>
          <a:prstGeom prst="rect">
            <a:avLst/>
          </a:prstGeom>
        </p:spPr>
        <p:txBody>
          <a:bodyPr anchor="b"/>
          <a:lstStyle>
            <a:lvl1pPr algn="ctr">
              <a:defRPr sz="6000">
                <a:solidFill>
                  <a:schemeClr val="bg1"/>
                </a:solidFill>
                <a:effectLst>
                  <a:outerShdw blurRad="38100" dist="38100" dir="2700000" algn="tl">
                    <a:srgbClr val="000000">
                      <a:alpha val="43137"/>
                    </a:srgbClr>
                  </a:outerShdw>
                </a:effectLst>
                <a:latin typeface="Aptos Display"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1553730"/>
            <a:ext cx="9144000" cy="1420237"/>
          </a:xfrm>
          <a:prstGeom prst="rect">
            <a:avLst/>
          </a:prstGeom>
        </p:spPr>
        <p:txBody>
          <a:bodyPr/>
          <a:lstStyle>
            <a:lvl1pPr marL="0" indent="0" algn="ctr">
              <a:buNone/>
              <a:defRPr sz="2400">
                <a:solidFill>
                  <a:schemeClr val="bg1"/>
                </a:solidFill>
                <a:effectLst>
                  <a:outerShdw blurRad="38100" dist="38100" dir="2700000" algn="tl">
                    <a:srgbClr val="000000">
                      <a:alpha val="43137"/>
                    </a:srgbClr>
                  </a:outerShdw>
                </a:effectLst>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MMS">
            <a:extLst>
              <a:ext uri="{FF2B5EF4-FFF2-40B4-BE49-F238E27FC236}">
                <a16:creationId xmlns:a16="http://schemas.microsoft.com/office/drawing/2014/main" id="{D75938D7-2CF1-2CAB-AF6D-9E92E775094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9163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a:prstGeom prst="rect">
            <a:avLst/>
          </a:prstGeom>
        </p:spPr>
        <p:txBody>
          <a:bodyPr/>
          <a:lstStyle>
            <a:lvl1pPr>
              <a:defRPr>
                <a:latin typeface="Aptos" panose="020B00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a:prstGeom prst="rect">
            <a:avLst/>
          </a:prstGeom>
        </p:spPr>
        <p:txBody>
          <a:bodyPr/>
          <a:lstStyle>
            <a:lvl1pPr>
              <a:defRPr>
                <a:latin typeface="Aptos" panose="020B0004020202020204" pitchFamily="34" charset="0"/>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a:prstGeom prst="rect">
            <a:avLst/>
          </a:prstGeom>
        </p:spPr>
        <p:txBody>
          <a:bodyPr anchor="ctr" anchorCtr="0"/>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a:prstGeom prst="rect">
            <a:avLst/>
          </a:prstGeom>
        </p:spPr>
        <p:txBody>
          <a:bodyPr anchor="ctr" anchorCtr="0"/>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993479" y="5303520"/>
            <a:ext cx="4018213"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1</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734093" y="5303520"/>
            <a:ext cx="4018213" cy="457200"/>
          </a:xfrm>
          <a:prstGeom prst="rect">
            <a:avLst/>
          </a:prstGeom>
        </p:spPr>
        <p:txBody>
          <a:bodyPr anchor="ctr" anchorCtr="0"/>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1</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Title</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Title</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a:extLst>
              <a:ext uri="{FF2B5EF4-FFF2-40B4-BE49-F238E27FC236}">
                <a16:creationId xmlns:a16="http://schemas.microsoft.com/office/drawing/2014/main" id="{043E37BF-9604-7220-A931-A7BC5D053E6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
        <p:nvSpPr>
          <p:cNvPr id="3" name="Picture Placeholder 2">
            <a:extLst>
              <a:ext uri="{FF2B5EF4-FFF2-40B4-BE49-F238E27FC236}">
                <a16:creationId xmlns:a16="http://schemas.microsoft.com/office/drawing/2014/main" id="{CAED5996-B344-376C-D71A-30D68AEA1530}"/>
              </a:ext>
            </a:extLst>
          </p:cNvPr>
          <p:cNvSpPr>
            <a:spLocks noGrp="1"/>
          </p:cNvSpPr>
          <p:nvPr>
            <p:ph type="pic" sz="quarter" idx="18"/>
          </p:nvPr>
        </p:nvSpPr>
        <p:spPr>
          <a:xfrm>
            <a:off x="1439693" y="5303521"/>
            <a:ext cx="457200" cy="457200"/>
          </a:xfrm>
          <a:prstGeom prst="rect">
            <a:avLst/>
          </a:prstGeom>
        </p:spPr>
        <p:txBody>
          <a:bodyPr/>
          <a:lstStyle/>
          <a:p>
            <a:r>
              <a:rPr lang="en-US"/>
              <a:t>Click icon to add picture</a:t>
            </a:r>
          </a:p>
        </p:txBody>
      </p:sp>
      <p:sp>
        <p:nvSpPr>
          <p:cNvPr id="4" name="Picture Placeholder 2">
            <a:extLst>
              <a:ext uri="{FF2B5EF4-FFF2-40B4-BE49-F238E27FC236}">
                <a16:creationId xmlns:a16="http://schemas.microsoft.com/office/drawing/2014/main" id="{EBAC7090-448B-18A1-1945-C26C31F40627}"/>
              </a:ext>
            </a:extLst>
          </p:cNvPr>
          <p:cNvSpPr>
            <a:spLocks noGrp="1"/>
          </p:cNvSpPr>
          <p:nvPr>
            <p:ph type="pic" sz="quarter" idx="19"/>
          </p:nvPr>
        </p:nvSpPr>
        <p:spPr>
          <a:xfrm>
            <a:off x="6168867" y="5303520"/>
            <a:ext cx="457200" cy="457200"/>
          </a:xfrm>
          <a:prstGeom prst="rect">
            <a:avLst/>
          </a:prstGeom>
        </p:spPr>
        <p:txBody>
          <a:bodyPr/>
          <a:lstStyle/>
          <a:p>
            <a:r>
              <a:rPr lang="en-US" dirty="0"/>
              <a:t>Click icon to add picture</a:t>
            </a:r>
          </a:p>
        </p:txBody>
      </p:sp>
      <p:sp>
        <p:nvSpPr>
          <p:cNvPr id="6" name="Picture Placeholder 2">
            <a:extLst>
              <a:ext uri="{FF2B5EF4-FFF2-40B4-BE49-F238E27FC236}">
                <a16:creationId xmlns:a16="http://schemas.microsoft.com/office/drawing/2014/main" id="{B4225342-0D2A-79E9-C947-EF018366A593}"/>
              </a:ext>
            </a:extLst>
          </p:cNvPr>
          <p:cNvSpPr>
            <a:spLocks noGrp="1"/>
          </p:cNvSpPr>
          <p:nvPr>
            <p:ph type="pic" sz="quarter" idx="20"/>
          </p:nvPr>
        </p:nvSpPr>
        <p:spPr>
          <a:xfrm>
            <a:off x="1439693" y="5852162"/>
            <a:ext cx="457200" cy="457200"/>
          </a:xfrm>
          <a:prstGeom prst="rect">
            <a:avLst/>
          </a:prstGeom>
        </p:spPr>
        <p:txBody>
          <a:bodyPr/>
          <a:lstStyle/>
          <a:p>
            <a:r>
              <a:rPr lang="en-US"/>
              <a:t>Click icon to add picture</a:t>
            </a:r>
          </a:p>
        </p:txBody>
      </p:sp>
      <p:sp>
        <p:nvSpPr>
          <p:cNvPr id="10" name="Picture Placeholder 2">
            <a:extLst>
              <a:ext uri="{FF2B5EF4-FFF2-40B4-BE49-F238E27FC236}">
                <a16:creationId xmlns:a16="http://schemas.microsoft.com/office/drawing/2014/main" id="{183CCFD0-19C2-A614-3618-DD492BB8505C}"/>
              </a:ext>
            </a:extLst>
          </p:cNvPr>
          <p:cNvSpPr>
            <a:spLocks noGrp="1"/>
          </p:cNvSpPr>
          <p:nvPr>
            <p:ph type="pic" sz="quarter" idx="21"/>
          </p:nvPr>
        </p:nvSpPr>
        <p:spPr>
          <a:xfrm>
            <a:off x="6168867" y="5852162"/>
            <a:ext cx="457200" cy="457200"/>
          </a:xfrm>
          <a:prstGeom prst="rect">
            <a:avLst/>
          </a:prstGeom>
        </p:spPr>
        <p:txBody>
          <a:bodyPr/>
          <a:lstStyle/>
          <a:p>
            <a:r>
              <a:rPr lang="en-US" dirty="0"/>
              <a:t>Click icon to add picture</a:t>
            </a:r>
          </a:p>
        </p:txBody>
      </p:sp>
      <p:sp>
        <p:nvSpPr>
          <p:cNvPr id="12" name="Text Placeholder 16">
            <a:extLst>
              <a:ext uri="{FF2B5EF4-FFF2-40B4-BE49-F238E27FC236}">
                <a16:creationId xmlns:a16="http://schemas.microsoft.com/office/drawing/2014/main" id="{15D31ABD-C14D-9982-8716-7DD291796A20}"/>
              </a:ext>
            </a:extLst>
          </p:cNvPr>
          <p:cNvSpPr>
            <a:spLocks noGrp="1"/>
          </p:cNvSpPr>
          <p:nvPr>
            <p:ph type="body" sz="quarter" idx="22" hasCustomPrompt="1"/>
          </p:nvPr>
        </p:nvSpPr>
        <p:spPr>
          <a:xfrm>
            <a:off x="2004921" y="5852160"/>
            <a:ext cx="4018213" cy="457200"/>
          </a:xfrm>
          <a:prstGeom prst="rect">
            <a:avLst/>
          </a:prstGeom>
        </p:spPr>
        <p:txBody>
          <a:bodyPr anchor="ctr" anchorCtr="0">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2</a:t>
            </a:r>
          </a:p>
        </p:txBody>
      </p:sp>
      <p:sp>
        <p:nvSpPr>
          <p:cNvPr id="13" name="Text Placeholder 16">
            <a:extLst>
              <a:ext uri="{FF2B5EF4-FFF2-40B4-BE49-F238E27FC236}">
                <a16:creationId xmlns:a16="http://schemas.microsoft.com/office/drawing/2014/main" id="{8F42D57B-6943-2B86-1153-C5D82408DDE5}"/>
              </a:ext>
            </a:extLst>
          </p:cNvPr>
          <p:cNvSpPr>
            <a:spLocks noGrp="1"/>
          </p:cNvSpPr>
          <p:nvPr>
            <p:ph type="body" sz="quarter" idx="23" hasCustomPrompt="1"/>
          </p:nvPr>
        </p:nvSpPr>
        <p:spPr>
          <a:xfrm>
            <a:off x="6734093" y="5852160"/>
            <a:ext cx="4018213" cy="457200"/>
          </a:xfrm>
          <a:prstGeom prst="rect">
            <a:avLst/>
          </a:prstGeom>
        </p:spPr>
        <p:txBody>
          <a:bodyPr anchor="ctr" anchorCtr="0"/>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2</a:t>
            </a:r>
          </a:p>
        </p:txBody>
      </p:sp>
    </p:spTree>
    <p:extLst>
      <p:ext uri="{BB962C8B-B14F-4D97-AF65-F5344CB8AC3E}">
        <p14:creationId xmlns:p14="http://schemas.microsoft.com/office/powerpoint/2010/main" val="2538939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a:xfrm>
            <a:off x="838200" y="365126"/>
            <a:ext cx="10515600" cy="792466"/>
          </a:xfrm>
          <a:prstGeom prst="rect">
            <a:avLst/>
          </a:prstGeom>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a:xfrm>
            <a:off x="838200" y="1507787"/>
            <a:ext cx="10515600" cy="4669176"/>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MS">
            <a:extLst>
              <a:ext uri="{FF2B5EF4-FFF2-40B4-BE49-F238E27FC236}">
                <a16:creationId xmlns:a16="http://schemas.microsoft.com/office/drawing/2014/main" id="{B20E1BA0-F24A-EC19-2D43-C2AEF38D6F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 y="6172200"/>
            <a:ext cx="1249137" cy="685800"/>
          </a:xfrm>
          <a:prstGeom prst="rect">
            <a:avLst/>
          </a:prstGeom>
          <a:noFill/>
        </p:spPr>
      </p:pic>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669" y="1258200"/>
            <a:ext cx="12264227" cy="645279"/>
          </a:xfrm>
          <a:prstGeom prst="rect">
            <a:avLst/>
          </a:prstGeom>
        </p:spPr>
      </p:pic>
    </p:spTree>
    <p:extLst>
      <p:ext uri="{BB962C8B-B14F-4D97-AF65-F5344CB8AC3E}">
        <p14:creationId xmlns:p14="http://schemas.microsoft.com/office/powerpoint/2010/main" val="4148940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a:prstGeom prst="rect">
            <a:avLst/>
          </a:prstGeo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7A94F116-969A-0346-AE10-98CF6F785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7" cy="685800"/>
          </a:xfrm>
          <a:prstGeom prst="rect">
            <a:avLst/>
          </a:prstGeom>
        </p:spPr>
      </p:pic>
    </p:spTree>
    <p:extLst>
      <p:ext uri="{BB962C8B-B14F-4D97-AF65-F5344CB8AC3E}">
        <p14:creationId xmlns:p14="http://schemas.microsoft.com/office/powerpoint/2010/main" val="3530195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a:prstGeom prst="rect">
            <a:avLst/>
          </a:prstGeom>
        </p:spPr>
        <p:txBody>
          <a:bodyPr anchor="b"/>
          <a:lstStyle>
            <a:lvl1pPr>
              <a:defRPr sz="6000">
                <a:latin typeface="Aptos" panose="020B0004020202020204"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a:prstGeom prst="rect">
            <a:avLst/>
          </a:prstGeo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7A94F116-969A-0346-AE10-98CF6F785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bg1">
                    <a:lumMod val="85000"/>
                    <a:alpha val="25000"/>
                  </a:schemeClr>
                </a:solidFill>
                <a:effectLst>
                  <a:outerShdw blurRad="38100" dist="19050" dir="2700000" algn="tl" rotWithShape="0">
                    <a:schemeClr val="dk1">
                      <a:alpha val="40000"/>
                    </a:schemeClr>
                  </a:outerShdw>
                </a:effectLst>
                <a:latin typeface="Aptos" panose="020B0004020202020204" pitchFamily="34" charset="0"/>
              </a:rPr>
              <a:t>DEMO</a:t>
            </a:r>
          </a:p>
        </p:txBody>
      </p:sp>
    </p:spTree>
    <p:extLst>
      <p:ext uri="{BB962C8B-B14F-4D97-AF65-F5344CB8AC3E}">
        <p14:creationId xmlns:p14="http://schemas.microsoft.com/office/powerpoint/2010/main" val="160278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a:xfrm>
            <a:off x="838200" y="365126"/>
            <a:ext cx="10515600" cy="792466"/>
          </a:xfrm>
          <a:prstGeom prst="rect">
            <a:avLst/>
          </a:prstGeom>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2A1EA3AB-2287-A909-3F79-BFFF9117BF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3584881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a:prstGeom prst="rect">
            <a:avLst/>
          </a:prstGeom>
        </p:spPr>
        <p:txBody>
          <a:bodyPr/>
          <a:lstStyle>
            <a:lvl1pPr>
              <a:defRPr>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a:prstGeom prst="rect">
            <a:avLst/>
          </a:prstGeo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a:prstGeom prst="rect">
            <a:avLst/>
          </a:prstGeo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a:prstGeom prst="rect">
            <a:avLst/>
          </a:prstGeo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A3D86560-F6A7-2176-B497-5661E33D251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2178888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a:xfrm>
            <a:off x="838200" y="365126"/>
            <a:ext cx="10515600" cy="792466"/>
          </a:xfrm>
          <a:prstGeom prst="rect">
            <a:avLst/>
          </a:prstGeom>
        </p:spPr>
        <p:txBody>
          <a:bodyPr/>
          <a:lstStyle>
            <a:lvl1pPr>
              <a:defRPr>
                <a:latin typeface="Aptos" panose="020B0004020202020204" pitchFamily="34" charset="0"/>
              </a:defRPr>
            </a:lvl1pPr>
          </a:lstStyle>
          <a:p>
            <a:r>
              <a:rPr lang="en-US"/>
              <a:t>Click to edit Master title style</a:t>
            </a:r>
          </a:p>
        </p:txBody>
      </p:sp>
      <p:pic>
        <p:nvPicPr>
          <p:cNvPr id="6" name="Picture 5">
            <a:extLst>
              <a:ext uri="{FF2B5EF4-FFF2-40B4-BE49-F238E27FC236}">
                <a16:creationId xmlns:a16="http://schemas.microsoft.com/office/drawing/2014/main" id="{58B90811-A51E-65F2-5CD6-98D6CF98110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25661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74FAA7-EB4D-5A79-909E-CB927AFCC6F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48462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a:prstGeom prst="rect">
            <a:avLst/>
          </a:prstGeom>
        </p:spPr>
        <p:txBody>
          <a:bodyPr anchor="b"/>
          <a:lstStyle>
            <a:lvl1pPr>
              <a:defRPr sz="3200">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a:prstGeom prst="rect">
            <a:avLst/>
          </a:prstGeom>
        </p:spPr>
        <p:txBody>
          <a:bodyPr/>
          <a:lstStyle>
            <a:lvl1pPr>
              <a:defRPr sz="3200">
                <a:latin typeface="Aptos" panose="020B0004020202020204" pitchFamily="34" charset="0"/>
              </a:defRPr>
            </a:lvl1pPr>
            <a:lvl2pPr>
              <a:defRPr sz="2800">
                <a:latin typeface="Aptos" panose="020B0004020202020204" pitchFamily="34" charset="0"/>
              </a:defRPr>
            </a:lvl2pPr>
            <a:lvl3pPr>
              <a:defRPr sz="2400">
                <a:latin typeface="Aptos" panose="020B0004020202020204" pitchFamily="34" charset="0"/>
              </a:defRPr>
            </a:lvl3pPr>
            <a:lvl4pPr>
              <a:defRPr sz="2000">
                <a:latin typeface="Aptos" panose="020B0004020202020204" pitchFamily="34" charset="0"/>
              </a:defRPr>
            </a:lvl4pPr>
            <a:lvl5pPr>
              <a:defRPr sz="2000">
                <a:latin typeface="Aptos" panose="020B00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871BDB1C-D88C-7CC2-5D66-47039F15389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011704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a:prstGeom prst="rect">
            <a:avLst/>
          </a:prstGeom>
        </p:spPr>
        <p:txBody>
          <a:bodyPr anchor="b"/>
          <a:lstStyle>
            <a:lvl1pPr>
              <a:defRPr sz="3200">
                <a:latin typeface="Aptos" panose="020B00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a:prstGeom prst="rect">
            <a:avLst/>
          </a:prstGeom>
        </p:spPr>
        <p:txBody>
          <a:bodyPr/>
          <a:lstStyle>
            <a:lvl1pPr marL="0" indent="0">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BEAC8699-2117-4549-6791-6D861DDBC83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293012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Wingman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bg1"/>
                </a:solidFill>
                <a:latin typeface="Aptos" panose="020B0004020202020204" pitchFamily="34" charset="0"/>
              </a:rPr>
              <a:t>Be sure to find Wally and sign up for 1:1 time with a speaker</a:t>
            </a:r>
          </a:p>
          <a:p>
            <a:r>
              <a:rPr lang="en-US" sz="2400" b="1" dirty="0">
                <a:solidFill>
                  <a:schemeClr val="bg1"/>
                </a:solidFill>
                <a:latin typeface="Aptos" panose="020B0004020202020204" pitchFamily="34" charset="0"/>
              </a:rPr>
              <a:t>If you'd like to fly with us, we are scheduled as follows:</a:t>
            </a:r>
            <a:endParaRPr lang="en-US" b="1" dirty="0">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bg1"/>
                </a:solidFill>
                <a:latin typeface="Aptos" panose="020B0004020202020204" pitchFamily="34" charset="0"/>
              </a:rPr>
              <a:t>Don't forget to leave feedback for your speakers!</a:t>
            </a:r>
          </a:p>
        </p:txBody>
      </p:sp>
      <p:pic>
        <p:nvPicPr>
          <p:cNvPr id="7" name="Picture 6">
            <a:extLst>
              <a:ext uri="{FF2B5EF4-FFF2-40B4-BE49-F238E27FC236}">
                <a16:creationId xmlns:a16="http://schemas.microsoft.com/office/drawing/2014/main" id="{BC9A6E22-95AA-8F42-08D4-0DFD93E2EF51}"/>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a:prstGeom prst="rect">
            <a:avLst/>
          </a:prstGeo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bg1"/>
                </a:solidFill>
                <a:latin typeface="Aptos" panose="020B0004020202020204" pitchFamily="34" charset="0"/>
              </a:rPr>
              <a:t>Wingman Sessions</a:t>
            </a:r>
          </a:p>
        </p:txBody>
      </p:sp>
    </p:spTree>
    <p:extLst>
      <p:ext uri="{BB962C8B-B14F-4D97-AF65-F5344CB8AC3E}">
        <p14:creationId xmlns:p14="http://schemas.microsoft.com/office/powerpoint/2010/main" val="789424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ave the Dates">
    <p:bg>
      <p:bgPr>
        <a:blipFill dpi="0" rotWithShape="1">
          <a:blip r:embed="rId2">
            <a:extLst>
              <a:ext uri="{BEBA8EAE-BF5A-486C-A8C5-ECC9F3942E4B}">
                <a14:imgProps xmlns:a14="http://schemas.microsoft.com/office/drawing/2010/main">
                  <a14:imgLayer r:embed="rId3">
                    <a14:imgEffect>
                      <a14:brightnessContrast brigh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E8F994-3F43-B6B2-27DC-2BA65CDAD3E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5652" y="1961093"/>
            <a:ext cx="2971800" cy="2971800"/>
          </a:xfrm>
          <a:prstGeom prst="rect">
            <a:avLst/>
          </a:prstGeom>
        </p:spPr>
      </p:pic>
      <p:sp>
        <p:nvSpPr>
          <p:cNvPr id="4" name="TextBox 3">
            <a:extLst>
              <a:ext uri="{FF2B5EF4-FFF2-40B4-BE49-F238E27FC236}">
                <a16:creationId xmlns:a16="http://schemas.microsoft.com/office/drawing/2014/main" id="{E0828A95-6D43-E388-3D4E-E5117E2A09F8}"/>
              </a:ext>
            </a:extLst>
          </p:cNvPr>
          <p:cNvSpPr txBox="1"/>
          <p:nvPr userDrawn="1"/>
        </p:nvSpPr>
        <p:spPr>
          <a:xfrm>
            <a:off x="755363" y="1488483"/>
            <a:ext cx="2973203"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May 2-6, 2027</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431814" y="1488483"/>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Apr 30-May 4, 2028</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885025" y="230806"/>
            <a:ext cx="6421951"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6350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71628" y="1492834"/>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Oct 10-13,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718787" y="1950148"/>
            <a:ext cx="2964728" cy="2964728"/>
          </a:xfrm>
          <a:prstGeom prst="rect">
            <a:avLst/>
          </a:prstGeom>
        </p:spPr>
      </p:pic>
      <p:pic>
        <p:nvPicPr>
          <p:cNvPr id="13" name="Picture 12">
            <a:extLst>
              <a:ext uri="{FF2B5EF4-FFF2-40B4-BE49-F238E27FC236}">
                <a16:creationId xmlns:a16="http://schemas.microsoft.com/office/drawing/2014/main" id="{424A81D4-437A-CD95-6B7C-A4349A47DD2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8492858" y="1934521"/>
            <a:ext cx="2980355" cy="2980355"/>
          </a:xfrm>
          <a:prstGeom prst="rect">
            <a:avLst/>
          </a:prstGeom>
        </p:spPr>
      </p:pic>
      <p:sp>
        <p:nvSpPr>
          <p:cNvPr id="3" name="TextBox 2">
            <a:extLst>
              <a:ext uri="{FF2B5EF4-FFF2-40B4-BE49-F238E27FC236}">
                <a16:creationId xmlns:a16="http://schemas.microsoft.com/office/drawing/2014/main" id="{FA740CB8-8440-32F7-D2BD-B4995DDF46C0}"/>
              </a:ext>
            </a:extLst>
          </p:cNvPr>
          <p:cNvSpPr txBox="1"/>
          <p:nvPr userDrawn="1"/>
        </p:nvSpPr>
        <p:spPr>
          <a:xfrm>
            <a:off x="9798381" y="6410315"/>
            <a:ext cx="2304798" cy="369332"/>
          </a:xfrm>
          <a:prstGeom prst="rect">
            <a:avLst/>
          </a:prstGeom>
          <a:noFill/>
        </p:spPr>
        <p:txBody>
          <a:bodyPr wrap="none" rtlCol="0">
            <a:spAutoFit/>
          </a:bodyPr>
          <a:lstStyle/>
          <a:p>
            <a:r>
              <a:rPr lang="en-US" b="1" dirty="0">
                <a:solidFill>
                  <a:schemeClr val="bg1"/>
                </a:solidFill>
                <a:effectLst>
                  <a:outerShdw blurRad="38100" dist="38100" dir="2700000" algn="tl">
                    <a:srgbClr val="000000">
                      <a:alpha val="43137"/>
                    </a:srgbClr>
                  </a:outerShdw>
                </a:effectLst>
              </a:rPr>
              <a:t>Broadway, Nashville</a:t>
            </a:r>
          </a:p>
        </p:txBody>
      </p:sp>
      <p:pic>
        <p:nvPicPr>
          <p:cNvPr id="8" name="Graphic 7" descr="Marker with solid fill">
            <a:extLst>
              <a:ext uri="{FF2B5EF4-FFF2-40B4-BE49-F238E27FC236}">
                <a16:creationId xmlns:a16="http://schemas.microsoft.com/office/drawing/2014/main" id="{043E95F1-7132-ED65-97BE-D4E3B808B15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471038" y="6376493"/>
            <a:ext cx="436976" cy="436976"/>
          </a:xfrm>
          <a:prstGeom prst="rect">
            <a:avLst/>
          </a:prstGeom>
        </p:spPr>
      </p:pic>
    </p:spTree>
    <p:extLst>
      <p:ext uri="{BB962C8B-B14F-4D97-AF65-F5344CB8AC3E}">
        <p14:creationId xmlns:p14="http://schemas.microsoft.com/office/powerpoint/2010/main" val="3001256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Q&amp;A">
    <p:bg>
      <p:bgPr>
        <a:blipFill dpi="0" rotWithShape="1">
          <a:blip>
            <a:lum/>
            <a:extLst>
              <a:ext uri="{96DAC541-7B7A-43D3-8B79-37D633B846F1}">
                <asvg:svgBlip xmlns:asvg="http://schemas.microsoft.com/office/drawing/2016/SVG/main" r:embed="rId2"/>
              </a:ext>
            </a:extLst>
          </a:blip>
          <a:srcRect/>
          <a:stretch>
            <a:fillRect l="-17000" r="-1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4D944E-02CF-4AF3-E558-C75EA884C534}"/>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9" name="Picture 4">
            <a:extLst>
              <a:ext uri="{FF2B5EF4-FFF2-40B4-BE49-F238E27FC236}">
                <a16:creationId xmlns:a16="http://schemas.microsoft.com/office/drawing/2014/main" id="{8DA69ACC-1750-43F5-4191-A12FF3D5E8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801924" y="1412954"/>
            <a:ext cx="2727228" cy="1497300"/>
          </a:xfrm>
          <a:prstGeom prst="rect">
            <a:avLst/>
          </a:prstGeom>
          <a:effectLst>
            <a:glow rad="241300">
              <a:schemeClr val="tx1">
                <a:alpha val="20000"/>
              </a:schemeClr>
            </a:glow>
          </a:effectLst>
        </p:spPr>
      </p:pic>
      <p:pic>
        <p:nvPicPr>
          <p:cNvPr id="3" name="Picture 2">
            <a:extLst>
              <a:ext uri="{FF2B5EF4-FFF2-40B4-BE49-F238E27FC236}">
                <a16:creationId xmlns:a16="http://schemas.microsoft.com/office/drawing/2014/main" id="{B0D5F249-4F2C-FFC9-9B55-2F80E78441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3156" y="4733913"/>
            <a:ext cx="1280160" cy="1280160"/>
          </a:xfrm>
          <a:prstGeom prst="rect">
            <a:avLst/>
          </a:prstGeom>
        </p:spPr>
      </p:pic>
      <p:pic>
        <p:nvPicPr>
          <p:cNvPr id="5" name="Picture 4">
            <a:extLst>
              <a:ext uri="{FF2B5EF4-FFF2-40B4-BE49-F238E27FC236}">
                <a16:creationId xmlns:a16="http://schemas.microsoft.com/office/drawing/2014/main" id="{6C8E4836-4DC9-209E-25FD-546BA4B37CE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66792" y="4923471"/>
            <a:ext cx="1645920" cy="1099475"/>
          </a:xfrm>
          <a:prstGeom prst="rect">
            <a:avLst/>
          </a:prstGeom>
        </p:spPr>
      </p:pic>
      <p:pic>
        <p:nvPicPr>
          <p:cNvPr id="7" name="Picture 6">
            <a:extLst>
              <a:ext uri="{FF2B5EF4-FFF2-40B4-BE49-F238E27FC236}">
                <a16:creationId xmlns:a16="http://schemas.microsoft.com/office/drawing/2014/main" id="{14DE06AA-FF98-19F4-D3E8-1E4C88503AA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787628" y="5108666"/>
            <a:ext cx="1097280" cy="1097280"/>
          </a:xfrm>
          <a:prstGeom prst="rect">
            <a:avLst/>
          </a:prstGeom>
        </p:spPr>
      </p:pic>
      <p:pic>
        <p:nvPicPr>
          <p:cNvPr id="11" name="Picture 10">
            <a:extLst>
              <a:ext uri="{FF2B5EF4-FFF2-40B4-BE49-F238E27FC236}">
                <a16:creationId xmlns:a16="http://schemas.microsoft.com/office/drawing/2014/main" id="{069067EC-2D78-A21C-CB71-7A9CE271557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128318" y="5378751"/>
            <a:ext cx="1371600" cy="323697"/>
          </a:xfrm>
          <a:prstGeom prst="rect">
            <a:avLst/>
          </a:prstGeom>
        </p:spPr>
      </p:pic>
      <p:pic>
        <p:nvPicPr>
          <p:cNvPr id="13" name="Picture 12">
            <a:extLst>
              <a:ext uri="{FF2B5EF4-FFF2-40B4-BE49-F238E27FC236}">
                <a16:creationId xmlns:a16="http://schemas.microsoft.com/office/drawing/2014/main" id="{C1C5B71F-030F-2E6A-7BA8-39D64DCBDC0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866054" y="5380508"/>
            <a:ext cx="1371600" cy="356618"/>
          </a:xfrm>
          <a:prstGeom prst="rect">
            <a:avLst/>
          </a:prstGeom>
        </p:spPr>
      </p:pic>
      <p:pic>
        <p:nvPicPr>
          <p:cNvPr id="15" name="Picture 14">
            <a:extLst>
              <a:ext uri="{FF2B5EF4-FFF2-40B4-BE49-F238E27FC236}">
                <a16:creationId xmlns:a16="http://schemas.microsoft.com/office/drawing/2014/main" id="{10CB2BD4-7048-B836-4EC8-28399E9AD1F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655742" y="5384225"/>
            <a:ext cx="1371600" cy="323696"/>
          </a:xfrm>
          <a:prstGeom prst="rect">
            <a:avLst/>
          </a:prstGeom>
        </p:spPr>
      </p:pic>
      <p:pic>
        <p:nvPicPr>
          <p:cNvPr id="17" name="Picture 16">
            <a:extLst>
              <a:ext uri="{FF2B5EF4-FFF2-40B4-BE49-F238E27FC236}">
                <a16:creationId xmlns:a16="http://schemas.microsoft.com/office/drawing/2014/main" id="{1C2EDF5C-BFAC-E7B4-CBB0-002798F466A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119955" y="5132319"/>
            <a:ext cx="1463040" cy="977311"/>
          </a:xfrm>
          <a:prstGeom prst="rect">
            <a:avLst/>
          </a:prstGeom>
        </p:spPr>
      </p:pic>
      <p:pic>
        <p:nvPicPr>
          <p:cNvPr id="25" name="Picture 24">
            <a:extLst>
              <a:ext uri="{FF2B5EF4-FFF2-40B4-BE49-F238E27FC236}">
                <a16:creationId xmlns:a16="http://schemas.microsoft.com/office/drawing/2014/main" id="{A2567EEC-579F-DC20-A0FD-13058B942C3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582995" y="5425186"/>
            <a:ext cx="1280160" cy="282735"/>
          </a:xfrm>
          <a:prstGeom prst="rect">
            <a:avLst/>
          </a:prstGeom>
        </p:spPr>
      </p:pic>
      <p:pic>
        <p:nvPicPr>
          <p:cNvPr id="27" name="Picture 26">
            <a:extLst>
              <a:ext uri="{FF2B5EF4-FFF2-40B4-BE49-F238E27FC236}">
                <a16:creationId xmlns:a16="http://schemas.microsoft.com/office/drawing/2014/main" id="{E49AF665-9DC6-D066-4D8B-F21CAAB794D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52307" y="6314850"/>
            <a:ext cx="1463040" cy="303059"/>
          </a:xfrm>
          <a:prstGeom prst="rect">
            <a:avLst/>
          </a:prstGeom>
        </p:spPr>
      </p:pic>
      <p:pic>
        <p:nvPicPr>
          <p:cNvPr id="29" name="Picture 28">
            <a:extLst>
              <a:ext uri="{FF2B5EF4-FFF2-40B4-BE49-F238E27FC236}">
                <a16:creationId xmlns:a16="http://schemas.microsoft.com/office/drawing/2014/main" id="{7DC3E903-C857-5B79-2741-127705A0F65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010388" y="6184794"/>
            <a:ext cx="1280160" cy="512064"/>
          </a:xfrm>
          <a:prstGeom prst="rect">
            <a:avLst/>
          </a:prstGeom>
        </p:spPr>
      </p:pic>
      <p:pic>
        <p:nvPicPr>
          <p:cNvPr id="31" name="Picture 30">
            <a:extLst>
              <a:ext uri="{FF2B5EF4-FFF2-40B4-BE49-F238E27FC236}">
                <a16:creationId xmlns:a16="http://schemas.microsoft.com/office/drawing/2014/main" id="{D3DC6FE6-772A-0112-FB72-580520FB6F1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3579678" y="5934648"/>
            <a:ext cx="548640" cy="781263"/>
          </a:xfrm>
          <a:prstGeom prst="rect">
            <a:avLst/>
          </a:prstGeom>
        </p:spPr>
      </p:pic>
      <p:pic>
        <p:nvPicPr>
          <p:cNvPr id="33" name="Picture 32">
            <a:extLst>
              <a:ext uri="{FF2B5EF4-FFF2-40B4-BE49-F238E27FC236}">
                <a16:creationId xmlns:a16="http://schemas.microsoft.com/office/drawing/2014/main" id="{334DD09D-E297-A944-0031-EA69BDEE177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676958" y="6123346"/>
            <a:ext cx="1280160" cy="573512"/>
          </a:xfrm>
          <a:prstGeom prst="rect">
            <a:avLst/>
          </a:prstGeom>
        </p:spPr>
      </p:pic>
      <p:pic>
        <p:nvPicPr>
          <p:cNvPr id="35" name="Graphic 34">
            <a:extLst>
              <a:ext uri="{FF2B5EF4-FFF2-40B4-BE49-F238E27FC236}">
                <a16:creationId xmlns:a16="http://schemas.microsoft.com/office/drawing/2014/main" id="{5DF21335-7BDA-5FDD-3818-0EB1C3C56C98}"/>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193123" y="6352446"/>
            <a:ext cx="1463040" cy="132661"/>
          </a:xfrm>
          <a:prstGeom prst="rect">
            <a:avLst/>
          </a:prstGeom>
        </p:spPr>
      </p:pic>
      <p:pic>
        <p:nvPicPr>
          <p:cNvPr id="39" name="Picture 38">
            <a:extLst>
              <a:ext uri="{FF2B5EF4-FFF2-40B4-BE49-F238E27FC236}">
                <a16:creationId xmlns:a16="http://schemas.microsoft.com/office/drawing/2014/main" id="{032E67D1-F951-FB5F-7E78-77658DAB73D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892168" y="6352446"/>
            <a:ext cx="1280160" cy="256032"/>
          </a:xfrm>
          <a:prstGeom prst="rect">
            <a:avLst/>
          </a:prstGeom>
        </p:spPr>
      </p:pic>
      <p:pic>
        <p:nvPicPr>
          <p:cNvPr id="41" name="Picture 40">
            <a:extLst>
              <a:ext uri="{FF2B5EF4-FFF2-40B4-BE49-F238E27FC236}">
                <a16:creationId xmlns:a16="http://schemas.microsoft.com/office/drawing/2014/main" id="{C4EF3129-3CBE-FA40-9BF1-5F97B3118FDD}"/>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586095" y="6142548"/>
            <a:ext cx="1005840" cy="535107"/>
          </a:xfrm>
          <a:prstGeom prst="rect">
            <a:avLst/>
          </a:prstGeom>
        </p:spPr>
      </p:pic>
      <p:pic>
        <p:nvPicPr>
          <p:cNvPr id="43" name="Picture 42">
            <a:extLst>
              <a:ext uri="{FF2B5EF4-FFF2-40B4-BE49-F238E27FC236}">
                <a16:creationId xmlns:a16="http://schemas.microsoft.com/office/drawing/2014/main" id="{824807BA-6032-02A7-A518-0A82341613D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005703" y="5940966"/>
            <a:ext cx="822960" cy="822960"/>
          </a:xfrm>
          <a:prstGeom prst="rect">
            <a:avLst/>
          </a:prstGeom>
        </p:spPr>
      </p:pic>
    </p:spTree>
    <p:extLst>
      <p:ext uri="{BB962C8B-B14F-4D97-AF65-F5344CB8AC3E}">
        <p14:creationId xmlns:p14="http://schemas.microsoft.com/office/powerpoint/2010/main" val="385881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Mo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7999E9E-CC81-8FF5-9E80-20B539DD3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5855" y="2160685"/>
            <a:ext cx="4620289" cy="2536629"/>
          </a:xfrm>
          <a:prstGeom prst="rect">
            <a:avLst/>
          </a:prstGeom>
          <a:effectLst>
            <a:outerShdw blurRad="50800" dist="25400" dir="2700000" algn="ctr" rotWithShape="0">
              <a:schemeClr val="tx1">
                <a:alpha val="25000"/>
              </a:schemeClr>
            </a:outerShdw>
          </a:effectLst>
        </p:spPr>
      </p:pic>
      <p:sp>
        <p:nvSpPr>
          <p:cNvPr id="5" name="TextBox 4">
            <a:extLst>
              <a:ext uri="{FF2B5EF4-FFF2-40B4-BE49-F238E27FC236}">
                <a16:creationId xmlns:a16="http://schemas.microsoft.com/office/drawing/2014/main" id="{6F5D3A88-1E3C-4536-BAED-A7D9A038E355}"/>
              </a:ext>
            </a:extLst>
          </p:cNvPr>
          <p:cNvSpPr txBox="1"/>
          <p:nvPr userDrawn="1"/>
        </p:nvSpPr>
        <p:spPr>
          <a:xfrm>
            <a:off x="3785855" y="4918692"/>
            <a:ext cx="4617720" cy="1107996"/>
          </a:xfrm>
          <a:prstGeom prst="rect">
            <a:avLst/>
          </a:prstGeom>
          <a:noFill/>
        </p:spPr>
        <p:txBody>
          <a:bodyPr wrap="square" rtlCol="0">
            <a:spAutoFit/>
          </a:bodyPr>
          <a:lstStyle/>
          <a:p>
            <a:pPr algn="ctr"/>
            <a:r>
              <a:rPr lang="en-US" sz="6600" b="1" dirty="0">
                <a:solidFill>
                  <a:schemeClr val="tx1"/>
                </a:solidFill>
              </a:rPr>
              <a:t>Light Mode</a:t>
            </a:r>
          </a:p>
        </p:txBody>
      </p:sp>
      <p:sp>
        <p:nvSpPr>
          <p:cNvPr id="2" name="Title 1">
            <a:extLst>
              <a:ext uri="{FF2B5EF4-FFF2-40B4-BE49-F238E27FC236}">
                <a16:creationId xmlns:a16="http://schemas.microsoft.com/office/drawing/2014/main" id="{7D9411F8-DFA8-3D98-6406-3038B7C5245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669875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622169" y="3683"/>
            <a:ext cx="10887959" cy="1383085"/>
          </a:xfrm>
          <a:prstGeom prst="rect">
            <a:avLst/>
          </a:prstGeom>
        </p:spPr>
        <p:txBody>
          <a:bodyPr anchor="b"/>
          <a:lstStyle>
            <a:lvl1pPr algn="ctr">
              <a:defRPr sz="6000">
                <a:solidFill>
                  <a:schemeClr val="bg1"/>
                </a:solidFill>
                <a:effectLst>
                  <a:outerShdw blurRad="38100" dist="38100" dir="2700000" algn="tl">
                    <a:srgbClr val="000000">
                      <a:alpha val="43137"/>
                    </a:srgbClr>
                  </a:outerShdw>
                </a:effectLst>
                <a:latin typeface="Aptos Display"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1552980"/>
            <a:ext cx="9144000" cy="1420237"/>
          </a:xfrm>
          <a:prstGeom prst="rect">
            <a:avLst/>
          </a:prstGeom>
        </p:spPr>
        <p:txBody>
          <a:bodyPr/>
          <a:lstStyle>
            <a:lvl1pPr marL="0" indent="0" algn="ctr">
              <a:buNone/>
              <a:defRPr sz="2400">
                <a:solidFill>
                  <a:schemeClr val="bg1"/>
                </a:solidFill>
                <a:effectLst>
                  <a:outerShdw blurRad="38100" dist="38100" dir="2700000" algn="tl">
                    <a:srgbClr val="000000">
                      <a:alpha val="43137"/>
                    </a:srgbClr>
                  </a:outerShdw>
                </a:effectLst>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MMS">
            <a:extLst>
              <a:ext uri="{FF2B5EF4-FFF2-40B4-BE49-F238E27FC236}">
                <a16:creationId xmlns:a16="http://schemas.microsoft.com/office/drawing/2014/main" id="{D75938D7-2CF1-2CAB-AF6D-9E92E775094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61358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a:prstGeom prst="rect">
            <a:avLst/>
          </a:prstGeom>
        </p:spPr>
        <p:txBody>
          <a:bodyPr/>
          <a:lstStyle>
            <a:lvl1pPr>
              <a:defRPr>
                <a:latin typeface="Aptos" panose="020B0004020202020204" pitchFamily="34" charset="0"/>
              </a:defRPr>
            </a:lvl1pPr>
          </a:lstStyle>
          <a:p>
            <a:r>
              <a:rPr lang="en-US" dirty="0"/>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a:prstGeom prst="rect">
            <a:avLst/>
          </a:prstGeom>
        </p:spPr>
        <p:txBody>
          <a:bodyPr/>
          <a:lstStyle>
            <a:lvl1pPr>
              <a:defRPr>
                <a:latin typeface="Aptos" panose="020B0004020202020204" pitchFamily="34" charset="0"/>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rgbClr val="333333"/>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a:prstGeom prst="rect">
            <a:avLst/>
          </a:prstGeom>
        </p:spPr>
        <p:txBody>
          <a:bodyPr anchor="ctr" anchorCtr="0"/>
          <a:lstStyle>
            <a:lvl1pPr marL="0" indent="0" algn="ctr">
              <a:buFontTx/>
              <a:buNone/>
              <a:defRPr sz="2400" b="1">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a:prstGeom prst="rect">
            <a:avLst/>
          </a:prstGeom>
        </p:spPr>
        <p:txBody>
          <a:bodyPr anchor="ctr" anchorCtr="0"/>
          <a:lstStyle>
            <a:lvl1pPr marL="0" indent="0" algn="ctr">
              <a:buFontTx/>
              <a:buNone/>
              <a:defRPr sz="2400" b="1">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993479" y="5303520"/>
            <a:ext cx="4018213"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1</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734093" y="5303520"/>
            <a:ext cx="4018213" cy="457200"/>
          </a:xfrm>
          <a:prstGeom prst="rect">
            <a:avLst/>
          </a:prstGeom>
        </p:spPr>
        <p:txBody>
          <a:bodyPr anchor="ctr" anchorCtr="0"/>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1</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Title</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Title</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a:extLst>
              <a:ext uri="{FF2B5EF4-FFF2-40B4-BE49-F238E27FC236}">
                <a16:creationId xmlns:a16="http://schemas.microsoft.com/office/drawing/2014/main" id="{043E37BF-9604-7220-A931-A7BC5D053E6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
        <p:nvSpPr>
          <p:cNvPr id="3" name="Picture Placeholder 2">
            <a:extLst>
              <a:ext uri="{FF2B5EF4-FFF2-40B4-BE49-F238E27FC236}">
                <a16:creationId xmlns:a16="http://schemas.microsoft.com/office/drawing/2014/main" id="{CAED5996-B344-376C-D71A-30D68AEA1530}"/>
              </a:ext>
            </a:extLst>
          </p:cNvPr>
          <p:cNvSpPr>
            <a:spLocks noGrp="1"/>
          </p:cNvSpPr>
          <p:nvPr>
            <p:ph type="pic" sz="quarter" idx="18"/>
          </p:nvPr>
        </p:nvSpPr>
        <p:spPr>
          <a:xfrm>
            <a:off x="1439693" y="5303521"/>
            <a:ext cx="457200" cy="457200"/>
          </a:xfrm>
          <a:prstGeom prst="rect">
            <a:avLst/>
          </a:prstGeom>
        </p:spPr>
        <p:txBody>
          <a:bodyPr/>
          <a:lstStyle/>
          <a:p>
            <a:endParaRPr lang="en-US"/>
          </a:p>
        </p:txBody>
      </p:sp>
      <p:sp>
        <p:nvSpPr>
          <p:cNvPr id="4" name="Picture Placeholder 2">
            <a:extLst>
              <a:ext uri="{FF2B5EF4-FFF2-40B4-BE49-F238E27FC236}">
                <a16:creationId xmlns:a16="http://schemas.microsoft.com/office/drawing/2014/main" id="{EBAC7090-448B-18A1-1945-C26C31F40627}"/>
              </a:ext>
            </a:extLst>
          </p:cNvPr>
          <p:cNvSpPr>
            <a:spLocks noGrp="1"/>
          </p:cNvSpPr>
          <p:nvPr>
            <p:ph type="pic" sz="quarter" idx="19"/>
          </p:nvPr>
        </p:nvSpPr>
        <p:spPr>
          <a:xfrm>
            <a:off x="6168867" y="5303520"/>
            <a:ext cx="457200" cy="457200"/>
          </a:xfrm>
          <a:prstGeom prst="rect">
            <a:avLst/>
          </a:prstGeom>
        </p:spPr>
        <p:txBody>
          <a:bodyPr/>
          <a:lstStyle/>
          <a:p>
            <a:endParaRPr lang="en-US"/>
          </a:p>
        </p:txBody>
      </p:sp>
      <p:sp>
        <p:nvSpPr>
          <p:cNvPr id="6" name="Picture Placeholder 2">
            <a:extLst>
              <a:ext uri="{FF2B5EF4-FFF2-40B4-BE49-F238E27FC236}">
                <a16:creationId xmlns:a16="http://schemas.microsoft.com/office/drawing/2014/main" id="{B4225342-0D2A-79E9-C947-EF018366A593}"/>
              </a:ext>
            </a:extLst>
          </p:cNvPr>
          <p:cNvSpPr>
            <a:spLocks noGrp="1"/>
          </p:cNvSpPr>
          <p:nvPr>
            <p:ph type="pic" sz="quarter" idx="20"/>
          </p:nvPr>
        </p:nvSpPr>
        <p:spPr>
          <a:xfrm>
            <a:off x="1439693" y="5852162"/>
            <a:ext cx="457200" cy="457200"/>
          </a:xfrm>
          <a:prstGeom prst="rect">
            <a:avLst/>
          </a:prstGeom>
        </p:spPr>
        <p:txBody>
          <a:bodyPr/>
          <a:lstStyle/>
          <a:p>
            <a:endParaRPr lang="en-US"/>
          </a:p>
        </p:txBody>
      </p:sp>
      <p:sp>
        <p:nvSpPr>
          <p:cNvPr id="10" name="Picture Placeholder 2">
            <a:extLst>
              <a:ext uri="{FF2B5EF4-FFF2-40B4-BE49-F238E27FC236}">
                <a16:creationId xmlns:a16="http://schemas.microsoft.com/office/drawing/2014/main" id="{183CCFD0-19C2-A614-3618-DD492BB8505C}"/>
              </a:ext>
            </a:extLst>
          </p:cNvPr>
          <p:cNvSpPr>
            <a:spLocks noGrp="1"/>
          </p:cNvSpPr>
          <p:nvPr>
            <p:ph type="pic" sz="quarter" idx="21"/>
          </p:nvPr>
        </p:nvSpPr>
        <p:spPr>
          <a:xfrm>
            <a:off x="6168867" y="5852162"/>
            <a:ext cx="457200" cy="457200"/>
          </a:xfrm>
          <a:prstGeom prst="rect">
            <a:avLst/>
          </a:prstGeom>
        </p:spPr>
        <p:txBody>
          <a:bodyPr/>
          <a:lstStyle/>
          <a:p>
            <a:endParaRPr lang="en-US"/>
          </a:p>
        </p:txBody>
      </p:sp>
      <p:sp>
        <p:nvSpPr>
          <p:cNvPr id="12" name="Text Placeholder 16">
            <a:extLst>
              <a:ext uri="{FF2B5EF4-FFF2-40B4-BE49-F238E27FC236}">
                <a16:creationId xmlns:a16="http://schemas.microsoft.com/office/drawing/2014/main" id="{15D31ABD-C14D-9982-8716-7DD291796A20}"/>
              </a:ext>
            </a:extLst>
          </p:cNvPr>
          <p:cNvSpPr>
            <a:spLocks noGrp="1"/>
          </p:cNvSpPr>
          <p:nvPr>
            <p:ph type="body" sz="quarter" idx="22" hasCustomPrompt="1"/>
          </p:nvPr>
        </p:nvSpPr>
        <p:spPr>
          <a:xfrm>
            <a:off x="2004921" y="5852160"/>
            <a:ext cx="4018213" cy="457200"/>
          </a:xfrm>
          <a:prstGeom prst="rect">
            <a:avLst/>
          </a:prstGeom>
        </p:spPr>
        <p:txBody>
          <a:bodyPr anchor="ctr" anchorCtr="0">
            <a:normAutofit/>
          </a:bodyPr>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1 Social 2</a:t>
            </a:r>
          </a:p>
        </p:txBody>
      </p:sp>
      <p:sp>
        <p:nvSpPr>
          <p:cNvPr id="13" name="Text Placeholder 16">
            <a:extLst>
              <a:ext uri="{FF2B5EF4-FFF2-40B4-BE49-F238E27FC236}">
                <a16:creationId xmlns:a16="http://schemas.microsoft.com/office/drawing/2014/main" id="{8F42D57B-6943-2B86-1153-C5D82408DDE5}"/>
              </a:ext>
            </a:extLst>
          </p:cNvPr>
          <p:cNvSpPr>
            <a:spLocks noGrp="1"/>
          </p:cNvSpPr>
          <p:nvPr>
            <p:ph type="body" sz="quarter" idx="23" hasCustomPrompt="1"/>
          </p:nvPr>
        </p:nvSpPr>
        <p:spPr>
          <a:xfrm>
            <a:off x="6734093" y="5852160"/>
            <a:ext cx="4018213" cy="457200"/>
          </a:xfrm>
          <a:prstGeom prst="rect">
            <a:avLst/>
          </a:prstGeom>
        </p:spPr>
        <p:txBody>
          <a:bodyPr anchor="ctr" anchorCtr="0"/>
          <a:lstStyle>
            <a:lvl1pPr marL="0" indent="0" algn="ctr">
              <a:buFontTx/>
              <a:buNone/>
              <a:defRPr sz="2400">
                <a:solidFill>
                  <a:srgbClr val="333333"/>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Edit Speaker 2 Social 2</a:t>
            </a:r>
          </a:p>
        </p:txBody>
      </p:sp>
    </p:spTree>
    <p:extLst>
      <p:ext uri="{BB962C8B-B14F-4D97-AF65-F5344CB8AC3E}">
        <p14:creationId xmlns:p14="http://schemas.microsoft.com/office/powerpoint/2010/main" val="787072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a:xfrm>
            <a:off x="838200" y="365125"/>
            <a:ext cx="10515600" cy="795528"/>
          </a:xfrm>
          <a:prstGeom prst="rect">
            <a:avLst/>
          </a:prstGeom>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a:xfrm>
            <a:off x="838200" y="1508760"/>
            <a:ext cx="10515600" cy="4672584"/>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336" y="1258200"/>
            <a:ext cx="12264228" cy="645279"/>
          </a:xfrm>
          <a:prstGeom prst="rect">
            <a:avLst/>
          </a:prstGeom>
        </p:spPr>
      </p:pic>
      <p:pic>
        <p:nvPicPr>
          <p:cNvPr id="4" name="MMS">
            <a:extLst>
              <a:ext uri="{FF2B5EF4-FFF2-40B4-BE49-F238E27FC236}">
                <a16:creationId xmlns:a16="http://schemas.microsoft.com/office/drawing/2014/main" id="{EC1D1F2F-5602-9AEB-C82B-5485A82C70D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5178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a:prstGeom prst="rect">
            <a:avLst/>
          </a:prstGeom>
        </p:spPr>
        <p:txBody>
          <a:bodyPr anchor="b"/>
          <a:lstStyle>
            <a:lvl1pPr>
              <a:defRPr sz="6000">
                <a:solidFill>
                  <a:schemeClr val="tx1"/>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lumMod val="75000"/>
                    <a:lumOff val="25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4" name="MMS">
            <a:extLst>
              <a:ext uri="{FF2B5EF4-FFF2-40B4-BE49-F238E27FC236}">
                <a16:creationId xmlns:a16="http://schemas.microsoft.com/office/drawing/2014/main" id="{87EECB86-DEC2-7414-D1B1-C38A994B683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649497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a:prstGeom prst="rect">
            <a:avLst/>
          </a:prstGeom>
        </p:spPr>
        <p:txBody>
          <a:bodyPr anchor="b"/>
          <a:lstStyle>
            <a:lvl1pPr>
              <a:defRPr sz="6000">
                <a:solidFill>
                  <a:schemeClr val="tx1">
                    <a:lumMod val="95000"/>
                    <a:lumOff val="5000"/>
                  </a:schemeClr>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a:prstGeom prst="rect">
            <a:avLst/>
          </a:prstGeom>
        </p:spPr>
        <p:txBody>
          <a:bodyPr/>
          <a:lstStyle>
            <a:lvl1pPr marL="0" indent="0">
              <a:buNone/>
              <a:defRPr sz="2400">
                <a:solidFill>
                  <a:schemeClr val="tx1">
                    <a:lumMod val="50000"/>
                    <a:lumOff val="5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tx1">
                    <a:lumMod val="50000"/>
                    <a:lumOff val="50000"/>
                  </a:schemeClr>
                </a:solidFill>
                <a:effectLst>
                  <a:outerShdw blurRad="38100" dist="19050" dir="2700000" algn="tl" rotWithShape="0">
                    <a:schemeClr val="dk1">
                      <a:alpha val="40000"/>
                    </a:schemeClr>
                  </a:outerShdw>
                </a:effectLst>
                <a:latin typeface="+mn-lt"/>
              </a:rPr>
              <a:t>DEMO</a:t>
            </a:r>
          </a:p>
        </p:txBody>
      </p:sp>
      <p:pic>
        <p:nvPicPr>
          <p:cNvPr id="4" name="MMS">
            <a:extLst>
              <a:ext uri="{FF2B5EF4-FFF2-40B4-BE49-F238E27FC236}">
                <a16:creationId xmlns:a16="http://schemas.microsoft.com/office/drawing/2014/main" id="{E8E4B45E-669B-5423-7948-353EE66415A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34515838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a:xfrm>
            <a:off x="838200" y="365125"/>
            <a:ext cx="10515600" cy="795528"/>
          </a:xfrm>
          <a:prstGeom prst="rect">
            <a:avLst/>
          </a:prstGeom>
        </p:spPr>
        <p:txBody>
          <a:bodyPr/>
          <a:lstStyle>
            <a:lvl1pPr>
              <a:defRPr>
                <a:solidFill>
                  <a:schemeClr val="tx1"/>
                </a:solidFill>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560" y="1258200"/>
            <a:ext cx="12273280" cy="645279"/>
          </a:xfrm>
          <a:prstGeom prst="rect">
            <a:avLst/>
          </a:prstGeom>
        </p:spPr>
      </p:pic>
      <p:pic>
        <p:nvPicPr>
          <p:cNvPr id="5" name="MMS">
            <a:extLst>
              <a:ext uri="{FF2B5EF4-FFF2-40B4-BE49-F238E27FC236}">
                <a16:creationId xmlns:a16="http://schemas.microsoft.com/office/drawing/2014/main" id="{168473FF-89E1-BD10-EA10-22FBE32FD1A0}"/>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1917731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a:prstGeom prst="rect">
            <a:avLst/>
          </a:prstGeom>
        </p:spPr>
        <p:txBody>
          <a:bodyPr/>
          <a:lstStyle>
            <a:lvl1pPr>
              <a:defRPr>
                <a:solidFill>
                  <a:schemeClr val="tx1"/>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a:prstGeom prst="rect">
            <a:avLst/>
          </a:prstGeo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a:prstGeom prst="rect">
            <a:avLst/>
          </a:prstGeo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560" y="1258200"/>
            <a:ext cx="12268200" cy="645279"/>
          </a:xfrm>
          <a:prstGeom prst="rect">
            <a:avLst/>
          </a:prstGeom>
        </p:spPr>
      </p:pic>
      <p:pic>
        <p:nvPicPr>
          <p:cNvPr id="7" name="MMS">
            <a:extLst>
              <a:ext uri="{FF2B5EF4-FFF2-40B4-BE49-F238E27FC236}">
                <a16:creationId xmlns:a16="http://schemas.microsoft.com/office/drawing/2014/main" id="{68AF1ACA-3B6A-CF6C-9D5A-3EE90B0F25E2}"/>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4339536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a:xfrm>
            <a:off x="838200" y="365125"/>
            <a:ext cx="10515600" cy="795528"/>
          </a:xfrm>
          <a:prstGeom prst="rect">
            <a:avLst/>
          </a:prstGeom>
        </p:spPr>
        <p:txBody>
          <a:bodyPr/>
          <a:lstStyle>
            <a:lvl1pPr>
              <a:defRPr>
                <a:solidFill>
                  <a:schemeClr val="tx1"/>
                </a:solidFill>
              </a:defRPr>
            </a:lvl1pPr>
          </a:lstStyle>
          <a:p>
            <a:r>
              <a:rPr lang="en-US"/>
              <a:t>Click to edit Master title style</a:t>
            </a:r>
          </a:p>
        </p:txBody>
      </p:sp>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pic>
        <p:nvPicPr>
          <p:cNvPr id="3" name="MMS">
            <a:extLst>
              <a:ext uri="{FF2B5EF4-FFF2-40B4-BE49-F238E27FC236}">
                <a16:creationId xmlns:a16="http://schemas.microsoft.com/office/drawing/2014/main" id="{9C5A57E6-9578-CFC5-F770-9B964997CF5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1778519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2" name="MMS">
            <a:extLst>
              <a:ext uri="{FF2B5EF4-FFF2-40B4-BE49-F238E27FC236}">
                <a16:creationId xmlns:a16="http://schemas.microsoft.com/office/drawing/2014/main" id="{C983E017-44D1-25CD-1185-30C47BC6ADD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577626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a:prstGeom prst="rect">
            <a:avLst/>
          </a:prstGeom>
        </p:spPr>
        <p:txBody>
          <a:bodyPr/>
          <a:lstStyle>
            <a:lvl1pPr>
              <a:defRPr sz="32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2000">
                <a:solidFill>
                  <a:schemeClr val="tx1"/>
                </a:solidFill>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MMS">
            <a:extLst>
              <a:ext uri="{FF2B5EF4-FFF2-40B4-BE49-F238E27FC236}">
                <a16:creationId xmlns:a16="http://schemas.microsoft.com/office/drawing/2014/main" id="{45FF16DC-DA6B-7F2B-5F51-ED1678CF639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8883260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1"/>
                </a:solidFill>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a:prstGeom prst="rect">
            <a:avLst/>
          </a:prstGeom>
        </p:spPr>
        <p:txBody>
          <a:bodyPr/>
          <a:lstStyle>
            <a:lvl1pPr marL="0" indent="0">
              <a:buNone/>
              <a:defRPr sz="32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MMS">
            <a:extLst>
              <a:ext uri="{FF2B5EF4-FFF2-40B4-BE49-F238E27FC236}">
                <a16:creationId xmlns:a16="http://schemas.microsoft.com/office/drawing/2014/main" id="{E02E0CED-9A66-EBA1-2D9B-73065BCD042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888021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Wingman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tx1"/>
                </a:solidFill>
                <a:latin typeface="Aptos" panose="020B0004020202020204" pitchFamily="34" charset="0"/>
              </a:rPr>
              <a:t>Be sure to find Wally and sign up for 1:1 time with a speaker</a:t>
            </a:r>
          </a:p>
          <a:p>
            <a:r>
              <a:rPr lang="en-US" sz="2400" b="1" dirty="0">
                <a:solidFill>
                  <a:schemeClr val="tx1"/>
                </a:solidFill>
                <a:latin typeface="Aptos" panose="020B0004020202020204" pitchFamily="34" charset="0"/>
              </a:rPr>
              <a:t>If you'd like to fly with us, we are scheduled as follows:</a:t>
            </a:r>
            <a:endParaRPr lang="en-US" b="1" dirty="0">
              <a:solidFill>
                <a:schemeClr val="tx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tx1"/>
                </a:solidFill>
                <a:latin typeface="Aptos" panose="020B0004020202020204" pitchFamily="34" charset="0"/>
              </a:rPr>
              <a:t>Don't forget to leave feedback for your speakers!</a:t>
            </a:r>
          </a:p>
        </p:txBody>
      </p:sp>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a:prstGeom prst="rect">
            <a:avLst/>
          </a:prstGeo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tx1"/>
                </a:solidFill>
                <a:latin typeface="Aptos" panose="020B0004020202020204" pitchFamily="34" charset="0"/>
              </a:rPr>
              <a:t>Wingman Sessions</a:t>
            </a:r>
          </a:p>
        </p:txBody>
      </p:sp>
      <p:pic>
        <p:nvPicPr>
          <p:cNvPr id="2" name="MMS">
            <a:extLst>
              <a:ext uri="{FF2B5EF4-FFF2-40B4-BE49-F238E27FC236}">
                <a16:creationId xmlns:a16="http://schemas.microsoft.com/office/drawing/2014/main" id="{564D8AEA-0682-0639-38C9-7F81603251C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172200"/>
            <a:ext cx="1249136" cy="685800"/>
          </a:xfrm>
          <a:prstGeom prst="rect">
            <a:avLst/>
          </a:prstGeom>
        </p:spPr>
      </p:pic>
    </p:spTree>
    <p:extLst>
      <p:ext uri="{BB962C8B-B14F-4D97-AF65-F5344CB8AC3E}">
        <p14:creationId xmlns:p14="http://schemas.microsoft.com/office/powerpoint/2010/main" val="25281619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ave the Dates">
    <p:bg>
      <p:bgPr>
        <a:blipFill dpi="0" rotWithShape="1">
          <a:blip r:embed="rId2">
            <a:extLst>
              <a:ext uri="{BEBA8EAE-BF5A-486C-A8C5-ECC9F3942E4B}">
                <a14:imgProps xmlns:a14="http://schemas.microsoft.com/office/drawing/2010/main">
                  <a14:imgLayer r:embed="rId3">
                    <a14:imgEffect>
                      <a14:brightnessContrast brigh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E8F994-3F43-B6B2-27DC-2BA65CDAD3E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15652" y="1961093"/>
            <a:ext cx="2971800" cy="2971800"/>
          </a:xfrm>
          <a:prstGeom prst="rect">
            <a:avLst/>
          </a:prstGeom>
        </p:spPr>
      </p:pic>
      <p:sp>
        <p:nvSpPr>
          <p:cNvPr id="4" name="TextBox 3">
            <a:extLst>
              <a:ext uri="{FF2B5EF4-FFF2-40B4-BE49-F238E27FC236}">
                <a16:creationId xmlns:a16="http://schemas.microsoft.com/office/drawing/2014/main" id="{E0828A95-6D43-E388-3D4E-E5117E2A09F8}"/>
              </a:ext>
            </a:extLst>
          </p:cNvPr>
          <p:cNvSpPr txBox="1"/>
          <p:nvPr userDrawn="1"/>
        </p:nvSpPr>
        <p:spPr>
          <a:xfrm>
            <a:off x="755363" y="1488483"/>
            <a:ext cx="2973203"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May 2-6, 2027</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431814" y="1488483"/>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Apr 30-May 4, 2028</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885025" y="230806"/>
            <a:ext cx="6421951"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6350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71628" y="1492834"/>
            <a:ext cx="2952400" cy="461665"/>
          </a:xfrm>
          <a:prstGeom prst="rect">
            <a:avLst/>
          </a:prstGeom>
          <a:noFill/>
        </p:spPr>
        <p:txBody>
          <a:bodyPr wrap="square" rtlCol="0">
            <a:spAutoFit/>
          </a:bodyPr>
          <a:lstStyle/>
          <a:p>
            <a:pPr algn="ctr"/>
            <a:r>
              <a:rPr lang="en-US" sz="2400" b="1" dirty="0">
                <a:solidFill>
                  <a:schemeClr val="bg1"/>
                </a:solidFill>
                <a:effectLst>
                  <a:outerShdw blurRad="38100" dist="38100" dir="2700000" algn="tl">
                    <a:srgbClr val="000000">
                      <a:alpha val="43137"/>
                    </a:srgbClr>
                  </a:outerShdw>
                </a:effectLst>
                <a:latin typeface="Aptos" panose="020B0004020202020204" pitchFamily="34" charset="0"/>
              </a:rPr>
              <a:t>Oct 10-13,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718787" y="1950148"/>
            <a:ext cx="2964728" cy="2964728"/>
          </a:xfrm>
          <a:prstGeom prst="rect">
            <a:avLst/>
          </a:prstGeom>
        </p:spPr>
      </p:pic>
      <p:pic>
        <p:nvPicPr>
          <p:cNvPr id="13" name="Picture 12">
            <a:extLst>
              <a:ext uri="{FF2B5EF4-FFF2-40B4-BE49-F238E27FC236}">
                <a16:creationId xmlns:a16="http://schemas.microsoft.com/office/drawing/2014/main" id="{424A81D4-437A-CD95-6B7C-A4349A47DD2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8492858" y="1934521"/>
            <a:ext cx="2980355" cy="2980355"/>
          </a:xfrm>
          <a:prstGeom prst="rect">
            <a:avLst/>
          </a:prstGeom>
        </p:spPr>
      </p:pic>
      <p:sp>
        <p:nvSpPr>
          <p:cNvPr id="3" name="TextBox 2">
            <a:extLst>
              <a:ext uri="{FF2B5EF4-FFF2-40B4-BE49-F238E27FC236}">
                <a16:creationId xmlns:a16="http://schemas.microsoft.com/office/drawing/2014/main" id="{FA740CB8-8440-32F7-D2BD-B4995DDF46C0}"/>
              </a:ext>
            </a:extLst>
          </p:cNvPr>
          <p:cNvSpPr txBox="1"/>
          <p:nvPr userDrawn="1"/>
        </p:nvSpPr>
        <p:spPr>
          <a:xfrm>
            <a:off x="9798381" y="6410315"/>
            <a:ext cx="2304798" cy="369332"/>
          </a:xfrm>
          <a:prstGeom prst="rect">
            <a:avLst/>
          </a:prstGeom>
          <a:noFill/>
        </p:spPr>
        <p:txBody>
          <a:bodyPr wrap="none" rtlCol="0">
            <a:spAutoFit/>
          </a:bodyPr>
          <a:lstStyle/>
          <a:p>
            <a:r>
              <a:rPr lang="en-US" b="1" dirty="0">
                <a:solidFill>
                  <a:schemeClr val="bg1"/>
                </a:solidFill>
                <a:effectLst>
                  <a:outerShdw blurRad="38100" dist="38100" dir="2700000" algn="tl">
                    <a:srgbClr val="000000">
                      <a:alpha val="43137"/>
                    </a:srgbClr>
                  </a:outerShdw>
                </a:effectLst>
              </a:rPr>
              <a:t>Broadway, Nashville</a:t>
            </a:r>
          </a:p>
        </p:txBody>
      </p:sp>
      <p:pic>
        <p:nvPicPr>
          <p:cNvPr id="8" name="Graphic 7" descr="Marker with solid fill">
            <a:extLst>
              <a:ext uri="{FF2B5EF4-FFF2-40B4-BE49-F238E27FC236}">
                <a16:creationId xmlns:a16="http://schemas.microsoft.com/office/drawing/2014/main" id="{043E95F1-7132-ED65-97BE-D4E3B808B15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471038" y="6376493"/>
            <a:ext cx="436976" cy="436976"/>
          </a:xfrm>
          <a:prstGeom prst="rect">
            <a:avLst/>
          </a:prstGeom>
        </p:spPr>
      </p:pic>
    </p:spTree>
    <p:extLst>
      <p:ext uri="{BB962C8B-B14F-4D97-AF65-F5344CB8AC3E}">
        <p14:creationId xmlns:p14="http://schemas.microsoft.com/office/powerpoint/2010/main" val="3229440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Q&amp;A">
    <p:bg>
      <p:bgPr>
        <a:blipFill dpi="0" rotWithShape="1">
          <a:blip>
            <a:lum/>
            <a:extLst>
              <a:ext uri="{96DAC541-7B7A-43D3-8B79-37D633B846F1}">
                <asvg:svgBlip xmlns:asvg="http://schemas.microsoft.com/office/drawing/2016/SVG/main" r:embed="rId2"/>
              </a:ext>
            </a:extLst>
          </a:blip>
          <a:srcRect/>
          <a:stretch>
            <a:fillRect l="-17000" r="-1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4D944E-02CF-4AF3-E558-C75EA884C534}"/>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9" name="Picture 4">
            <a:extLst>
              <a:ext uri="{FF2B5EF4-FFF2-40B4-BE49-F238E27FC236}">
                <a16:creationId xmlns:a16="http://schemas.microsoft.com/office/drawing/2014/main" id="{8DA69ACC-1750-43F5-4191-A12FF3D5E8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801924" y="1412954"/>
            <a:ext cx="2727228" cy="1497300"/>
          </a:xfrm>
          <a:prstGeom prst="rect">
            <a:avLst/>
          </a:prstGeom>
          <a:effectLst>
            <a:glow rad="241300">
              <a:schemeClr val="tx1">
                <a:alpha val="20000"/>
              </a:schemeClr>
            </a:glow>
          </a:effectLst>
        </p:spPr>
      </p:pic>
      <p:pic>
        <p:nvPicPr>
          <p:cNvPr id="3" name="Picture 2">
            <a:extLst>
              <a:ext uri="{FF2B5EF4-FFF2-40B4-BE49-F238E27FC236}">
                <a16:creationId xmlns:a16="http://schemas.microsoft.com/office/drawing/2014/main" id="{B0D5F249-4F2C-FFC9-9B55-2F80E78441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3156" y="4733913"/>
            <a:ext cx="1280160" cy="1280160"/>
          </a:xfrm>
          <a:prstGeom prst="rect">
            <a:avLst/>
          </a:prstGeom>
        </p:spPr>
      </p:pic>
      <p:pic>
        <p:nvPicPr>
          <p:cNvPr id="5" name="Picture 4">
            <a:extLst>
              <a:ext uri="{FF2B5EF4-FFF2-40B4-BE49-F238E27FC236}">
                <a16:creationId xmlns:a16="http://schemas.microsoft.com/office/drawing/2014/main" id="{6C8E4836-4DC9-209E-25FD-546BA4B37CE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66792" y="4923471"/>
            <a:ext cx="1645920" cy="1099475"/>
          </a:xfrm>
          <a:prstGeom prst="rect">
            <a:avLst/>
          </a:prstGeom>
        </p:spPr>
      </p:pic>
      <p:pic>
        <p:nvPicPr>
          <p:cNvPr id="7" name="Picture 6">
            <a:extLst>
              <a:ext uri="{FF2B5EF4-FFF2-40B4-BE49-F238E27FC236}">
                <a16:creationId xmlns:a16="http://schemas.microsoft.com/office/drawing/2014/main" id="{14DE06AA-FF98-19F4-D3E8-1E4C88503AA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787628" y="5108666"/>
            <a:ext cx="1097280" cy="1097280"/>
          </a:xfrm>
          <a:prstGeom prst="rect">
            <a:avLst/>
          </a:prstGeom>
        </p:spPr>
      </p:pic>
      <p:pic>
        <p:nvPicPr>
          <p:cNvPr id="11" name="Picture 10">
            <a:extLst>
              <a:ext uri="{FF2B5EF4-FFF2-40B4-BE49-F238E27FC236}">
                <a16:creationId xmlns:a16="http://schemas.microsoft.com/office/drawing/2014/main" id="{069067EC-2D78-A21C-CB71-7A9CE271557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128318" y="5378751"/>
            <a:ext cx="1371600" cy="323697"/>
          </a:xfrm>
          <a:prstGeom prst="rect">
            <a:avLst/>
          </a:prstGeom>
        </p:spPr>
      </p:pic>
      <p:pic>
        <p:nvPicPr>
          <p:cNvPr id="13" name="Picture 12">
            <a:extLst>
              <a:ext uri="{FF2B5EF4-FFF2-40B4-BE49-F238E27FC236}">
                <a16:creationId xmlns:a16="http://schemas.microsoft.com/office/drawing/2014/main" id="{C1C5B71F-030F-2E6A-7BA8-39D64DCBDC0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866054" y="5380508"/>
            <a:ext cx="1371600" cy="356618"/>
          </a:xfrm>
          <a:prstGeom prst="rect">
            <a:avLst/>
          </a:prstGeom>
        </p:spPr>
      </p:pic>
      <p:pic>
        <p:nvPicPr>
          <p:cNvPr id="15" name="Picture 14">
            <a:extLst>
              <a:ext uri="{FF2B5EF4-FFF2-40B4-BE49-F238E27FC236}">
                <a16:creationId xmlns:a16="http://schemas.microsoft.com/office/drawing/2014/main" id="{10CB2BD4-7048-B836-4EC8-28399E9AD1F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655742" y="5384225"/>
            <a:ext cx="1371600" cy="323696"/>
          </a:xfrm>
          <a:prstGeom prst="rect">
            <a:avLst/>
          </a:prstGeom>
        </p:spPr>
      </p:pic>
      <p:pic>
        <p:nvPicPr>
          <p:cNvPr id="17" name="Picture 16">
            <a:extLst>
              <a:ext uri="{FF2B5EF4-FFF2-40B4-BE49-F238E27FC236}">
                <a16:creationId xmlns:a16="http://schemas.microsoft.com/office/drawing/2014/main" id="{1C2EDF5C-BFAC-E7B4-CBB0-002798F466A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119955" y="5132319"/>
            <a:ext cx="1463040" cy="977311"/>
          </a:xfrm>
          <a:prstGeom prst="rect">
            <a:avLst/>
          </a:prstGeom>
        </p:spPr>
      </p:pic>
      <p:pic>
        <p:nvPicPr>
          <p:cNvPr id="25" name="Picture 24">
            <a:extLst>
              <a:ext uri="{FF2B5EF4-FFF2-40B4-BE49-F238E27FC236}">
                <a16:creationId xmlns:a16="http://schemas.microsoft.com/office/drawing/2014/main" id="{A2567EEC-579F-DC20-A0FD-13058B942C3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582995" y="5425186"/>
            <a:ext cx="1280160" cy="282735"/>
          </a:xfrm>
          <a:prstGeom prst="rect">
            <a:avLst/>
          </a:prstGeom>
        </p:spPr>
      </p:pic>
      <p:pic>
        <p:nvPicPr>
          <p:cNvPr id="27" name="Picture 26">
            <a:extLst>
              <a:ext uri="{FF2B5EF4-FFF2-40B4-BE49-F238E27FC236}">
                <a16:creationId xmlns:a16="http://schemas.microsoft.com/office/drawing/2014/main" id="{E49AF665-9DC6-D066-4D8B-F21CAAB794D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52307" y="6314850"/>
            <a:ext cx="1463040" cy="303059"/>
          </a:xfrm>
          <a:prstGeom prst="rect">
            <a:avLst/>
          </a:prstGeom>
        </p:spPr>
      </p:pic>
      <p:pic>
        <p:nvPicPr>
          <p:cNvPr id="29" name="Picture 28">
            <a:extLst>
              <a:ext uri="{FF2B5EF4-FFF2-40B4-BE49-F238E27FC236}">
                <a16:creationId xmlns:a16="http://schemas.microsoft.com/office/drawing/2014/main" id="{7DC3E903-C857-5B79-2741-127705A0F65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010388" y="6184794"/>
            <a:ext cx="1280160" cy="512064"/>
          </a:xfrm>
          <a:prstGeom prst="rect">
            <a:avLst/>
          </a:prstGeom>
        </p:spPr>
      </p:pic>
      <p:pic>
        <p:nvPicPr>
          <p:cNvPr id="31" name="Picture 30">
            <a:extLst>
              <a:ext uri="{FF2B5EF4-FFF2-40B4-BE49-F238E27FC236}">
                <a16:creationId xmlns:a16="http://schemas.microsoft.com/office/drawing/2014/main" id="{D3DC6FE6-772A-0112-FB72-580520FB6F1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3579678" y="5934648"/>
            <a:ext cx="548640" cy="781263"/>
          </a:xfrm>
          <a:prstGeom prst="rect">
            <a:avLst/>
          </a:prstGeom>
        </p:spPr>
      </p:pic>
      <p:pic>
        <p:nvPicPr>
          <p:cNvPr id="33" name="Picture 32">
            <a:extLst>
              <a:ext uri="{FF2B5EF4-FFF2-40B4-BE49-F238E27FC236}">
                <a16:creationId xmlns:a16="http://schemas.microsoft.com/office/drawing/2014/main" id="{334DD09D-E297-A944-0031-EA69BDEE177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676958" y="6123346"/>
            <a:ext cx="1280160" cy="573512"/>
          </a:xfrm>
          <a:prstGeom prst="rect">
            <a:avLst/>
          </a:prstGeom>
        </p:spPr>
      </p:pic>
      <p:pic>
        <p:nvPicPr>
          <p:cNvPr id="35" name="Graphic 34">
            <a:extLst>
              <a:ext uri="{FF2B5EF4-FFF2-40B4-BE49-F238E27FC236}">
                <a16:creationId xmlns:a16="http://schemas.microsoft.com/office/drawing/2014/main" id="{5DF21335-7BDA-5FDD-3818-0EB1C3C56C98}"/>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193123" y="6352446"/>
            <a:ext cx="1463040" cy="132661"/>
          </a:xfrm>
          <a:prstGeom prst="rect">
            <a:avLst/>
          </a:prstGeom>
        </p:spPr>
      </p:pic>
      <p:pic>
        <p:nvPicPr>
          <p:cNvPr id="39" name="Picture 38">
            <a:extLst>
              <a:ext uri="{FF2B5EF4-FFF2-40B4-BE49-F238E27FC236}">
                <a16:creationId xmlns:a16="http://schemas.microsoft.com/office/drawing/2014/main" id="{032E67D1-F951-FB5F-7E78-77658DAB73D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892168" y="6352446"/>
            <a:ext cx="1280160" cy="256032"/>
          </a:xfrm>
          <a:prstGeom prst="rect">
            <a:avLst/>
          </a:prstGeom>
        </p:spPr>
      </p:pic>
      <p:pic>
        <p:nvPicPr>
          <p:cNvPr id="41" name="Picture 40">
            <a:extLst>
              <a:ext uri="{FF2B5EF4-FFF2-40B4-BE49-F238E27FC236}">
                <a16:creationId xmlns:a16="http://schemas.microsoft.com/office/drawing/2014/main" id="{C4EF3129-3CBE-FA40-9BF1-5F97B3118FDD}"/>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586095" y="6142548"/>
            <a:ext cx="1005840" cy="535107"/>
          </a:xfrm>
          <a:prstGeom prst="rect">
            <a:avLst/>
          </a:prstGeom>
        </p:spPr>
      </p:pic>
      <p:pic>
        <p:nvPicPr>
          <p:cNvPr id="43" name="Picture 42">
            <a:extLst>
              <a:ext uri="{FF2B5EF4-FFF2-40B4-BE49-F238E27FC236}">
                <a16:creationId xmlns:a16="http://schemas.microsoft.com/office/drawing/2014/main" id="{824807BA-6032-02A7-A518-0A82341613D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005703" y="5940966"/>
            <a:ext cx="822960" cy="822960"/>
          </a:xfrm>
          <a:prstGeom prst="rect">
            <a:avLst/>
          </a:prstGeom>
        </p:spPr>
      </p:pic>
    </p:spTree>
    <p:extLst>
      <p:ext uri="{BB962C8B-B14F-4D97-AF65-F5344CB8AC3E}">
        <p14:creationId xmlns:p14="http://schemas.microsoft.com/office/powerpoint/2010/main" val="15533289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3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1123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D53DDB7-52D9-30AF-176C-22681EFBCB5A}"/>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85855" y="2160685"/>
            <a:ext cx="4620289" cy="2536629"/>
          </a:xfrm>
          <a:prstGeom prst="rect">
            <a:avLst/>
          </a:prstGeom>
          <a:effectLst>
            <a:outerShdw blurRad="50800" dist="25400" dir="2700000" algn="ctr" rotWithShape="0">
              <a:schemeClr val="bg1">
                <a:alpha val="25000"/>
              </a:schemeClr>
            </a:outerShdw>
          </a:effectLst>
        </p:spPr>
      </p:pic>
    </p:spTree>
    <p:extLst>
      <p:ext uri="{BB962C8B-B14F-4D97-AF65-F5344CB8AC3E}">
        <p14:creationId xmlns:p14="http://schemas.microsoft.com/office/powerpoint/2010/main" val="102125104"/>
      </p:ext>
    </p:extLst>
  </p:cSld>
  <p:clrMap bg1="lt1" tx1="dk1" bg2="lt2" tx2="dk2" accent1="accent1" accent2="accent2" accent3="accent3" accent4="accent4" accent5="accent5" accent6="accent6" hlink="hlink" folHlink="folHlink"/>
  <p:sldLayoutIdLst>
    <p:sldLayoutId id="2147483702" r:id="rId1"/>
    <p:sldLayoutId id="2147483649" r:id="rId2"/>
    <p:sldLayoutId id="2147483660" r:id="rId3"/>
    <p:sldLayoutId id="2147483650" r:id="rId4"/>
    <p:sldLayoutId id="2147483651" r:id="rId5"/>
    <p:sldLayoutId id="2147483659" r:id="rId6"/>
    <p:sldLayoutId id="2147483652" r:id="rId7"/>
    <p:sldLayoutId id="2147483653" r:id="rId8"/>
    <p:sldLayoutId id="2147483654" r:id="rId9"/>
    <p:sldLayoutId id="2147483655" r:id="rId10"/>
    <p:sldLayoutId id="2147483656" r:id="rId11"/>
    <p:sldLayoutId id="2147483657" r:id="rId12"/>
    <p:sldLayoutId id="2147483673" r:id="rId13"/>
    <p:sldLayoutId id="2147483697" r:id="rId14"/>
    <p:sldLayoutId id="2147483699" r:id="rId15"/>
  </p:sldLayoutIdLst>
  <p:txStyles>
    <p:titleStyle>
      <a:lvl1pPr algn="l" defTabSz="914400" rtl="0" eaLnBrk="1" latinLnBrk="0" hangingPunct="1">
        <a:lnSpc>
          <a:spcPct val="90000"/>
        </a:lnSpc>
        <a:spcBef>
          <a:spcPct val="0"/>
        </a:spcBef>
        <a:buNone/>
        <a:defRPr sz="4400" b="1" kern="1200">
          <a:solidFill>
            <a:schemeClr val="bg1"/>
          </a:solidFill>
          <a:latin typeface="Aptos Display"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66F3DD5-976B-79C9-9210-B2FFE21C5C30}"/>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85855" y="2160685"/>
            <a:ext cx="4620289" cy="2536629"/>
          </a:xfrm>
          <a:prstGeom prst="rect">
            <a:avLst/>
          </a:prstGeom>
          <a:effectLst>
            <a:outerShdw blurRad="50800" dist="25400" dir="2700000" algn="ctr" rotWithShape="0">
              <a:schemeClr val="tx1">
                <a:alpha val="25000"/>
              </a:schemeClr>
            </a:outerShdw>
          </a:effectLst>
        </p:spPr>
      </p:pic>
    </p:spTree>
    <p:extLst>
      <p:ext uri="{BB962C8B-B14F-4D97-AF65-F5344CB8AC3E}">
        <p14:creationId xmlns:p14="http://schemas.microsoft.com/office/powerpoint/2010/main" val="148027108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692" r:id="rId3"/>
    <p:sldLayoutId id="2147483662"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90" r:id="rId13"/>
    <p:sldLayoutId id="2147483693" r:id="rId14"/>
    <p:sldLayoutId id="2147483701"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5.jp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6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image" Target="../media/image39.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7.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 Id="rId11" Type="http://schemas.openxmlformats.org/officeDocument/2006/relationships/image" Target="../media/image57.png"/><Relationship Id="rId12" Type="http://schemas.openxmlformats.org/officeDocument/2006/relationships/image" Target="../media/image5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53.png"/><Relationship Id="rId4" Type="http://schemas.openxmlformats.org/officeDocument/2006/relationships/image" Target="../media/image55.png"/><Relationship Id="rId5" Type="http://schemas.openxmlformats.org/officeDocument/2006/relationships/image" Target="../media/image42.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54.png"/><Relationship Id="rId6" Type="http://schemas.openxmlformats.org/officeDocument/2006/relationships/image" Target="../media/image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48.png"/><Relationship Id="rId6"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B669-2341-DF39-C682-5CB469879095}"/>
              </a:ext>
            </a:extLst>
          </p:cNvPr>
          <p:cNvSpPr>
            <a:spLocks noGrp="1"/>
          </p:cNvSpPr>
          <p:nvPr>
            <p:ph type="ctrTitle"/>
          </p:nvPr>
        </p:nvSpPr>
        <p:spPr/>
        <p:txBody>
          <a:bodyPr/>
          <a:lstStyle/>
          <a:p>
            <a:r>
              <a:rPr lang="en-US">
                <a:solidFill>
                  <a:schemeClr val="bg1"/>
                </a:solidFill>
              </a:rPr>
              <a:t>Empowering SOC Teams</a:t>
            </a:r>
            <a:endParaRPr lang="en"/>
          </a:p>
        </p:txBody>
      </p:sp>
      <p:sp>
        <p:nvSpPr>
          <p:cNvPr id="3" name="Subtitle 2">
            <a:extLst>
              <a:ext uri="{FF2B5EF4-FFF2-40B4-BE49-F238E27FC236}">
                <a16:creationId xmlns:a16="http://schemas.microsoft.com/office/drawing/2014/main" id="{B7806C1F-6D02-FA11-F860-B05CFAC0C160}"/>
              </a:ext>
            </a:extLst>
          </p:cNvPr>
          <p:cNvSpPr>
            <a:spLocks noGrp="1"/>
          </p:cNvSpPr>
          <p:nvPr>
            <p:ph type="subTitle" idx="1"/>
          </p:nvPr>
        </p:nvSpPr>
        <p:spPr/>
        <p:txBody>
          <a:bodyPr>
            <a:normAutofit/>
          </a:bodyPr>
          <a:lstStyle/>
          <a:p>
            <a:r>
              <a:rPr lang="en-US" dirty="0">
                <a:solidFill>
                  <a:schemeClr val="bg1"/>
                </a:solidFill>
                <a:effectLst>
                  <a:outerShdw blurRad="38100" dist="38100" dir="2700000" algn="tl">
                    <a:srgbClr val="000000">
                      <a:alpha val="43137"/>
                    </a:srgbClr>
                  </a:outerShdw>
                </a:effectLst>
              </a:rPr>
              <a:t>Claude  •  Copilot  •  ChatGPT  •  MCP  •  Agents</a:t>
            </a:r>
          </a:p>
        </p:txBody>
      </p:sp>
    </p:spTree>
    <p:extLst>
      <p:ext uri="{BB962C8B-B14F-4D97-AF65-F5344CB8AC3E}">
        <p14:creationId xmlns:p14="http://schemas.microsoft.com/office/powerpoint/2010/main" val="401895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A5B3-89D5-147C-A57E-6754B8093C4B}"/>
              </a:ext>
            </a:extLst>
          </p:cNvPr>
          <p:cNvSpPr>
            <a:spLocks noGrp="1"/>
          </p:cNvSpPr>
          <p:nvPr>
            <p:ph type="title"/>
          </p:nvPr>
        </p:nvSpPr>
        <p:spPr/>
        <p:txBody>
          <a:bodyPr/>
          <a:lstStyle/>
          <a:p>
            <a:r>
              <a:rPr lang="en-US" sz="2800"/>
              <a:t>Attention</a:t>
            </a:r>
            <a:br>
              <a:rPr lang="en"/>
            </a:br>
            <a:br>
              <a:rPr lang="en"/>
            </a:br>
            <a:br>
              <a:rPr lang="en"/>
            </a:br>
            <a:endParaRPr lang="en"/>
          </a:p>
        </p:txBody>
      </p:sp>
      <p:sp>
        <p:nvSpPr>
          <p:cNvPr id="3" name="Content Placeholder 2">
            <a:extLst>
              <a:ext uri="{FF2B5EF4-FFF2-40B4-BE49-F238E27FC236}">
                <a16:creationId xmlns:a16="http://schemas.microsoft.com/office/drawing/2014/main" id="{C595F291-B9CB-60BF-7307-F3FFC90C9734}"/>
              </a:ext>
            </a:extLst>
          </p:cNvPr>
          <p:cNvSpPr>
            <a:spLocks noGrp="1"/>
          </p:cNvSpPr>
          <p:nvPr>
            <p:ph idx="1"/>
          </p:nvPr>
        </p:nvSpPr>
        <p:spPr/>
        <p:txBody>
          <a:bodyPr>
            <a:normAutofit/>
          </a:bodyPr>
          <a:lstStyle/>
          <a:p>
            <a:r>
              <a:rPr lang="en-US" sz="2800" dirty="0"/>
              <a:t>MMS sessions are 60-75 minutes followed by LONG Q&amp;A</a:t>
            </a:r>
          </a:p>
          <a:p>
            <a:r>
              <a:rPr lang="en-US" sz="2800" dirty="0"/>
              <a:t>Hold detailed questions until that Q&amp;A starts</a:t>
            </a:r>
          </a:p>
          <a:p>
            <a:r>
              <a:rPr lang="en-US" sz="2800" dirty="0"/>
              <a:t>Clarifications during the missions are welcome</a:t>
            </a:r>
          </a:p>
          <a:p>
            <a:r>
              <a:rPr lang="en-US" sz="2800" dirty="0"/>
              <a:t>Yell Zoom It if you cannot see the agent screen</a:t>
            </a:r>
          </a:p>
        </p:txBody>
      </p:sp>
    </p:spTree>
    <p:extLst>
      <p:ext uri="{BB962C8B-B14F-4D97-AF65-F5344CB8AC3E}">
        <p14:creationId xmlns:p14="http://schemas.microsoft.com/office/powerpoint/2010/main" val="3743149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E25A340F-1F9B-DA96-FDB6-3299A6F777AE}"/>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3053" b="3053"/>
          <a:stretch/>
        </p:blipFill>
        <p:spPr/>
      </p:pic>
      <p:pic>
        <p:nvPicPr>
          <p:cNvPr id="13" name="Picture Placeholder 12">
            <a:extLst>
              <a:ext uri="{FF2B5EF4-FFF2-40B4-BE49-F238E27FC236}">
                <a16:creationId xmlns:a16="http://schemas.microsoft.com/office/drawing/2014/main" id="{62CD6E66-EAB9-E15A-71BD-FB2D4F9AE9AD}"/>
              </a:ext>
            </a:extLst>
          </p:cNvPr>
          <p:cNvPicPr>
            <a:picLocks noGrp="1" noChangeAspect="1"/>
          </p:cNvPicPr>
          <p:nvPr>
            <p:ph type="pic" sz="quarter" idx="11"/>
          </p:nvPr>
        </p:nvPicPr>
        <p:blipFill>
          <a:blip r:embed="rId7">
            <a:extLst>
              <a:ext uri="{28A0092B-C50C-407E-A947-70E740481C1C}">
                <a14:useLocalDpi xmlns:a14="http://schemas.microsoft.com/office/drawing/2010/main" val="0"/>
              </a:ext>
            </a:extLst>
          </a:blip>
          <a:srcRect t="3053" b="3053"/>
          <a:stretch/>
        </p:blipFill>
        <p:spPr>
          <a:xfrm>
            <a:off x="7091628" y="1581880"/>
            <a:ext cx="2703513" cy="2538413"/>
          </a:xfrm>
        </p:spPr>
      </p:pic>
      <p:sp>
        <p:nvSpPr>
          <p:cNvPr id="4" name="Text Placeholder 3">
            <a:extLst>
              <a:ext uri="{FF2B5EF4-FFF2-40B4-BE49-F238E27FC236}">
                <a16:creationId xmlns:a16="http://schemas.microsoft.com/office/drawing/2014/main" id="{1BFB68CD-CB12-32EF-1CFE-54C294C3E92D}"/>
              </a:ext>
            </a:extLst>
          </p:cNvPr>
          <p:cNvSpPr>
            <a:spLocks noGrp="1"/>
          </p:cNvSpPr>
          <p:nvPr>
            <p:ph type="body" sz="quarter" idx="12"/>
          </p:nvPr>
        </p:nvSpPr>
        <p:spPr>
          <a:xfrm>
            <a:off x="1523999" y="4206239"/>
            <a:ext cx="4572000" cy="457200"/>
          </a:xfrm>
        </p:spPr>
        <p:txBody>
          <a:bodyPr/>
          <a:lstStyle/>
          <a:p>
            <a:r>
              <a:rPr lang="en-US" dirty="0"/>
              <a:t>Rod Trent</a:t>
            </a:r>
          </a:p>
        </p:txBody>
      </p:sp>
      <p:sp>
        <p:nvSpPr>
          <p:cNvPr id="5" name="Text Placeholder 4">
            <a:extLst>
              <a:ext uri="{FF2B5EF4-FFF2-40B4-BE49-F238E27FC236}">
                <a16:creationId xmlns:a16="http://schemas.microsoft.com/office/drawing/2014/main" id="{BE1E5CAD-23FE-A4D7-B096-3334A7D79C8B}"/>
              </a:ext>
            </a:extLst>
          </p:cNvPr>
          <p:cNvSpPr>
            <a:spLocks noGrp="1"/>
          </p:cNvSpPr>
          <p:nvPr>
            <p:ph type="body" sz="quarter" idx="13"/>
          </p:nvPr>
        </p:nvSpPr>
        <p:spPr>
          <a:xfrm>
            <a:off x="6095999" y="4206239"/>
            <a:ext cx="4572000" cy="457200"/>
          </a:xfrm>
        </p:spPr>
        <p:txBody>
          <a:bodyPr/>
          <a:lstStyle/>
          <a:p>
            <a:r>
              <a:rPr lang="en-US" dirty="0"/>
              <a:t>Ken Goossens</a:t>
            </a:r>
          </a:p>
        </p:txBody>
      </p:sp>
      <p:sp>
        <p:nvSpPr>
          <p:cNvPr id="6" name="Text Placeholder 5">
            <a:extLst>
              <a:ext uri="{FF2B5EF4-FFF2-40B4-BE49-F238E27FC236}">
                <a16:creationId xmlns:a16="http://schemas.microsoft.com/office/drawing/2014/main" id="{86485DDC-10A4-A946-6EE8-700508002C72}"/>
              </a:ext>
            </a:extLst>
          </p:cNvPr>
          <p:cNvSpPr>
            <a:spLocks noGrp="1"/>
          </p:cNvSpPr>
          <p:nvPr>
            <p:ph type="body" sz="quarter" idx="14"/>
          </p:nvPr>
        </p:nvSpPr>
        <p:spPr>
          <a:xfrm>
            <a:off x="1523999" y="5303520"/>
            <a:ext cx="4572000" cy="914400"/>
          </a:xfrm>
        </p:spPr>
        <p:txBody>
          <a:bodyPr/>
          <a:lstStyle/>
          <a:p>
            <a:r>
              <a:rPr lang="en-US" dirty="0"/>
              <a:t>Pilot</a:t>
            </a:r>
          </a:p>
          <a:p>
            <a:r>
              <a:rPr lang="en-US" dirty="0"/>
              <a:t>rodtrent</a:t>
            </a:r>
          </a:p>
        </p:txBody>
      </p:sp>
      <p:sp>
        <p:nvSpPr>
          <p:cNvPr id="7" name="Text Placeholder 6">
            <a:extLst>
              <a:ext uri="{FF2B5EF4-FFF2-40B4-BE49-F238E27FC236}">
                <a16:creationId xmlns:a16="http://schemas.microsoft.com/office/drawing/2014/main" id="{9FC71F19-CB0D-6056-8B2E-7670D5A913DD}"/>
              </a:ext>
            </a:extLst>
          </p:cNvPr>
          <p:cNvSpPr>
            <a:spLocks noGrp="1"/>
          </p:cNvSpPr>
          <p:nvPr>
            <p:ph type="body" sz="quarter" idx="15"/>
          </p:nvPr>
        </p:nvSpPr>
        <p:spPr>
          <a:xfrm>
            <a:off x="6095999" y="5303520"/>
            <a:ext cx="4572000" cy="914400"/>
          </a:xfrm>
        </p:spPr>
        <p:txBody>
          <a:bodyPr/>
          <a:lstStyle/>
          <a:p>
            <a:r>
              <a:rPr lang="en-US" dirty="0"/>
              <a:t>RIO</a:t>
            </a:r>
          </a:p>
          <a:p>
            <a:r>
              <a:rPr lang="en-US" dirty="0"/>
              <a:t>kengoossens</a:t>
            </a:r>
          </a:p>
        </p:txBody>
      </p:sp>
      <p:sp>
        <p:nvSpPr>
          <p:cNvPr id="8" name="Text Placeholder 7">
            <a:extLst>
              <a:ext uri="{FF2B5EF4-FFF2-40B4-BE49-F238E27FC236}">
                <a16:creationId xmlns:a16="http://schemas.microsoft.com/office/drawing/2014/main" id="{20280E57-51A9-979B-C838-5F016A209FD7}"/>
              </a:ext>
            </a:extLst>
          </p:cNvPr>
          <p:cNvSpPr>
            <a:spLocks noGrp="1"/>
          </p:cNvSpPr>
          <p:nvPr>
            <p:ph type="body" sz="quarter" idx="16"/>
          </p:nvPr>
        </p:nvSpPr>
        <p:spPr>
          <a:xfrm>
            <a:off x="1523999" y="4760396"/>
            <a:ext cx="4572000" cy="457200"/>
          </a:xfrm>
        </p:spPr>
        <p:txBody>
          <a:bodyPr>
            <a:normAutofit/>
          </a:bodyPr>
          <a:lstStyle/>
          <a:p>
            <a:r>
              <a:rPr lang="en-US" dirty="0"/>
              <a:t>Microsoft</a:t>
            </a:r>
          </a:p>
        </p:txBody>
      </p:sp>
      <p:sp>
        <p:nvSpPr>
          <p:cNvPr id="9" name="Text Placeholder 8">
            <a:extLst>
              <a:ext uri="{FF2B5EF4-FFF2-40B4-BE49-F238E27FC236}">
                <a16:creationId xmlns:a16="http://schemas.microsoft.com/office/drawing/2014/main" id="{F7177573-C298-FAF8-2140-0326B263D0A5}"/>
              </a:ext>
            </a:extLst>
          </p:cNvPr>
          <p:cNvSpPr>
            <a:spLocks noGrp="1"/>
          </p:cNvSpPr>
          <p:nvPr>
            <p:ph type="body" sz="quarter" idx="17"/>
          </p:nvPr>
        </p:nvSpPr>
        <p:spPr>
          <a:xfrm>
            <a:off x="6095999" y="4760396"/>
            <a:ext cx="4572000" cy="457200"/>
          </a:xfrm>
        </p:spPr>
        <p:txBody>
          <a:bodyPr>
            <a:normAutofit/>
          </a:bodyPr>
          <a:lstStyle/>
          <a:p>
            <a:r>
              <a:rPr lang="en-US" dirty="0"/>
              <a:t>Nerdio</a:t>
            </a:r>
          </a:p>
        </p:txBody>
      </p:sp>
      <p:pic>
        <p:nvPicPr>
          <p:cNvPr id="14" name="Graphic 13">
            <a:extLst>
              <a:ext uri="{FF2B5EF4-FFF2-40B4-BE49-F238E27FC236}">
                <a16:creationId xmlns:a16="http://schemas.microsoft.com/office/drawing/2014/main" id="{F6DAF7F0-41C0-0FFE-E4A3-03DC4A6106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1162" y="5718608"/>
            <a:ext cx="476250" cy="476250"/>
          </a:xfrm>
          <a:prstGeom prst="rect">
            <a:avLst/>
          </a:prstGeom>
        </p:spPr>
      </p:pic>
      <p:pic>
        <p:nvPicPr>
          <p:cNvPr id="3" name="Graphic 2">
            <a:extLst>
              <a:ext uri="{FF2B5EF4-FFF2-40B4-BE49-F238E27FC236}">
                <a16:creationId xmlns:a16="http://schemas.microsoft.com/office/drawing/2014/main" id="{3C8996EC-1B12-11D5-4690-384F1FC419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79162" y="5718608"/>
            <a:ext cx="476250" cy="476250"/>
          </a:xfrm>
          <a:prstGeom prst="rect">
            <a:avLst/>
          </a:prstGeom>
        </p:spPr>
      </p:pic>
      <p:pic>
        <p:nvPicPr>
          <p:cNvPr id="16" name="Picture 15" descr="A blue face with black eyes&#10;&#10;AI-generated content may be incorrect.">
            <a:extLst>
              <a:ext uri="{FF2B5EF4-FFF2-40B4-BE49-F238E27FC236}">
                <a16:creationId xmlns:a16="http://schemas.microsoft.com/office/drawing/2014/main" id="{73517536-8553-459B-407E-879C70E9A5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79924" y="5243120"/>
            <a:ext cx="475488" cy="475488"/>
          </a:xfrm>
          <a:prstGeom prst="rect">
            <a:avLst/>
          </a:prstGeom>
        </p:spPr>
      </p:pic>
      <p:pic>
        <p:nvPicPr>
          <p:cNvPr id="17" name="Picture 16" descr="A blue face with black eyes&#10;&#10;AI-generated content may be incorrect.">
            <a:extLst>
              <a:ext uri="{FF2B5EF4-FFF2-40B4-BE49-F238E27FC236}">
                <a16:creationId xmlns:a16="http://schemas.microsoft.com/office/drawing/2014/main" id="{A41FE4A7-D719-AE27-CECB-7BAF254940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1924" y="5243120"/>
            <a:ext cx="475488" cy="475488"/>
          </a:xfrm>
          <a:prstGeom prst="rect">
            <a:avLst/>
          </a:prstGeom>
        </p:spPr>
      </p:pic>
    </p:spTree>
    <p:extLst>
      <p:ext uri="{BB962C8B-B14F-4D97-AF65-F5344CB8AC3E}">
        <p14:creationId xmlns:p14="http://schemas.microsoft.com/office/powerpoint/2010/main" val="2749782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a:t>Flight Plan</a:t>
            </a:r>
            <a:endParaRPr lang="en"/>
          </a:p>
        </p:txBody>
      </p:sp>
      <p:sp>
        <p:nvSpPr>
          <p:cNvPr id="3" name="Content Placeholder 2">
            <a:extLst>
              <a:ext uri="{FF2B5EF4-FFF2-40B4-BE49-F238E27FC236}">
                <a16:creationId xmlns:a16="http://schemas.microsoft.com/office/drawing/2014/main" id="{2E47C443-A519-CA6C-F515-F098DE1D8E32}"/>
              </a:ext>
            </a:extLst>
          </p:cNvPr>
          <p:cNvSpPr>
            <a:spLocks noGrp="1"/>
          </p:cNvSpPr>
          <p:nvPr>
            <p:ph idx="1"/>
          </p:nvPr>
        </p:nvSpPr>
        <p:spPr/>
        <p:txBody>
          <a:bodyPr>
            <a:normAutofit/>
          </a:bodyPr>
          <a:lstStyle/>
          <a:p>
            <a:r>
              <a:rPr lang="en-US" dirty="0"/>
              <a:t>Why junior analysts never get to hunt</a:t>
            </a:r>
          </a:p>
          <a:p>
            <a:r>
              <a:rPr lang="en-US" dirty="0"/>
              <a:t>The stack: models, MCP servers, and agents</a:t>
            </a:r>
          </a:p>
          <a:p>
            <a:r>
              <a:rPr lang="en-US" dirty="0"/>
              <a:t>Two live missions you can steal</a:t>
            </a:r>
          </a:p>
          <a:p>
            <a:r>
              <a:rPr lang="en-US" dirty="0"/>
              <a:t>Guardrails, human-in-the-loop, and ROI you can defend</a:t>
            </a:r>
          </a:p>
        </p:txBody>
      </p:sp>
      <p:graphicFrame>
        <p:nvGraphicFramePr>
          <p:cNvPr id="4" name="Table 3">
            <a:extLst>
              <a:ext uri="{FF2B5EF4-FFF2-40B4-BE49-F238E27FC236}">
                <a16:creationId xmlns:a16="http://schemas.microsoft.com/office/drawing/2014/main" id="{EE1BF406-C981-0C18-EA6D-A2B5B60886A9}"/>
              </a:ext>
            </a:extLst>
          </p:cNvPr>
          <p:cNvGraphicFramePr>
            <a:graphicFrameLocks noGrp="1"/>
          </p:cNvGraphicFramePr>
          <p:nvPr>
            <p:extLst>
              <p:ext uri="{D42A27DB-BD31-4B8C-83A1-F6EECF244321}">
                <p14:modId xmlns:p14="http://schemas.microsoft.com/office/powerpoint/2010/main" val="1801357060"/>
              </p:ext>
            </p:extLst>
          </p:nvPr>
        </p:nvGraphicFramePr>
        <p:xfrm>
          <a:off x="1796025" y="4231288"/>
          <a:ext cx="8127999" cy="1483360"/>
        </p:xfrm>
        <a:graphic>
          <a:graphicData uri="http://schemas.openxmlformats.org/drawingml/2006/table">
            <a:tbl>
              <a:tblPr firstRow="1" bandRow="1">
                <a:tableStyleId>{125E5076-3810-47DD-B79F-674D7AD40C01}</a:tableStyleId>
              </a:tblPr>
              <a:tblGrid>
                <a:gridCol w="2709333">
                  <a:extLst>
                    <a:ext uri="{9D8B030D-6E8A-4147-A177-3AD203B41FA5}">
                      <a16:colId xmlns:a16="http://schemas.microsoft.com/office/drawing/2014/main" val="3255507916"/>
                    </a:ext>
                  </a:extLst>
                </a:gridCol>
                <a:gridCol w="2709333">
                  <a:extLst>
                    <a:ext uri="{9D8B030D-6E8A-4147-A177-3AD203B41FA5}">
                      <a16:colId xmlns:a16="http://schemas.microsoft.com/office/drawing/2014/main" val="2035744909"/>
                    </a:ext>
                  </a:extLst>
                </a:gridCol>
                <a:gridCol w="2709333">
                  <a:extLst>
                    <a:ext uri="{9D8B030D-6E8A-4147-A177-3AD203B41FA5}">
                      <a16:colId xmlns:a16="http://schemas.microsoft.com/office/drawing/2014/main" val="3556797963"/>
                    </a:ext>
                  </a:extLst>
                </a:gridCol>
              </a:tblGrid>
              <a:tr h="370840">
                <a:tc>
                  <a:txBody>
                    <a:bodyPr/>
                    <a:lstStyle/>
                    <a:p>
                      <a:r>
                        <a:rPr lang="en-US" dirty="0"/>
                        <a:t>Block</a:t>
                      </a:r>
                    </a:p>
                  </a:txBody>
                  <a:tcPr/>
                </a:tc>
                <a:tc>
                  <a:txBody>
                    <a:bodyPr/>
                    <a:lstStyle/>
                    <a:p>
                      <a:pPr algn="ctr"/>
                      <a:r>
                        <a:rPr lang="en-US" dirty="0"/>
                        <a:t>Minutes</a:t>
                      </a:r>
                    </a:p>
                  </a:txBody>
                  <a:tcPr/>
                </a:tc>
                <a:tc>
                  <a:txBody>
                    <a:bodyPr/>
                    <a:lstStyle/>
                    <a:p>
                      <a:pPr algn="ctr"/>
                      <a:r>
                        <a:rPr lang="en-US" dirty="0"/>
                        <a:t>Mode</a:t>
                      </a:r>
                    </a:p>
                  </a:txBody>
                  <a:tcPr/>
                </a:tc>
                <a:extLst>
                  <a:ext uri="{0D108BD9-81ED-4DB2-BD59-A6C34878D82A}">
                    <a16:rowId xmlns:a16="http://schemas.microsoft.com/office/drawing/2014/main" val="1189659519"/>
                  </a:ext>
                </a:extLst>
              </a:tr>
              <a:tr h="370840">
                <a:tc>
                  <a:txBody>
                    <a:bodyPr/>
                    <a:lstStyle/>
                    <a:p>
                      <a:r>
                        <a:rPr lang="en-US" dirty="0"/>
                        <a:t>Problem</a:t>
                      </a:r>
                    </a:p>
                  </a:txBody>
                  <a:tcPr/>
                </a:tc>
                <a:tc>
                  <a:txBody>
                    <a:bodyPr/>
                    <a:lstStyle/>
                    <a:p>
                      <a:pPr algn="ctr"/>
                      <a:r>
                        <a:rPr lang="en-US" dirty="0"/>
                        <a:t>12</a:t>
                      </a:r>
                    </a:p>
                  </a:txBody>
                  <a:tcPr/>
                </a:tc>
                <a:tc>
                  <a:txBody>
                    <a:bodyPr/>
                    <a:lstStyle/>
                    <a:p>
                      <a:pPr algn="ctr"/>
                      <a:r>
                        <a:rPr lang="en-US" dirty="0"/>
                        <a:t>Talk</a:t>
                      </a:r>
                    </a:p>
                  </a:txBody>
                  <a:tcPr/>
                </a:tc>
                <a:extLst>
                  <a:ext uri="{0D108BD9-81ED-4DB2-BD59-A6C34878D82A}">
                    <a16:rowId xmlns:a16="http://schemas.microsoft.com/office/drawing/2014/main" val="1318045289"/>
                  </a:ext>
                </a:extLst>
              </a:tr>
              <a:tr h="370840">
                <a:tc>
                  <a:txBody>
                    <a:bodyPr/>
                    <a:lstStyle/>
                    <a:p>
                      <a:r>
                        <a:rPr lang="en-US" dirty="0"/>
                        <a:t>Stack + Missions</a:t>
                      </a:r>
                    </a:p>
                  </a:txBody>
                  <a:tcPr/>
                </a:tc>
                <a:tc>
                  <a:txBody>
                    <a:bodyPr/>
                    <a:lstStyle/>
                    <a:p>
                      <a:pPr algn="ctr"/>
                      <a:r>
                        <a:rPr lang="en-US" dirty="0"/>
                        <a:t>35</a:t>
                      </a:r>
                    </a:p>
                  </a:txBody>
                  <a:tcPr/>
                </a:tc>
                <a:tc>
                  <a:txBody>
                    <a:bodyPr/>
                    <a:lstStyle/>
                    <a:p>
                      <a:pPr algn="ctr"/>
                      <a:r>
                        <a:rPr lang="en-US" dirty="0"/>
                        <a:t>Live</a:t>
                      </a:r>
                    </a:p>
                  </a:txBody>
                  <a:tcPr/>
                </a:tc>
                <a:extLst>
                  <a:ext uri="{0D108BD9-81ED-4DB2-BD59-A6C34878D82A}">
                    <a16:rowId xmlns:a16="http://schemas.microsoft.com/office/drawing/2014/main" val="2426716284"/>
                  </a:ext>
                </a:extLst>
              </a:tr>
              <a:tr h="370840">
                <a:tc>
                  <a:txBody>
                    <a:bodyPr/>
                    <a:lstStyle/>
                    <a:p>
                      <a:r>
                        <a:rPr lang="en-US" dirty="0"/>
                        <a:t>Ship + Q&amp;A</a:t>
                      </a:r>
                    </a:p>
                  </a:txBody>
                  <a:tcPr/>
                </a:tc>
                <a:tc>
                  <a:txBody>
                    <a:bodyPr/>
                    <a:lstStyle/>
                    <a:p>
                      <a:pPr algn="ctr"/>
                      <a:r>
                        <a:rPr lang="en-US" dirty="0"/>
                        <a:t>Rest</a:t>
                      </a:r>
                    </a:p>
                  </a:txBody>
                  <a:tcPr/>
                </a:tc>
                <a:tc>
                  <a:txBody>
                    <a:bodyPr/>
                    <a:lstStyle/>
                    <a:p>
                      <a:pPr algn="ctr"/>
                      <a:r>
                        <a:rPr lang="en-US" dirty="0"/>
                        <a:t>Talk</a:t>
                      </a:r>
                    </a:p>
                  </a:txBody>
                  <a:tcPr/>
                </a:tc>
                <a:extLst>
                  <a:ext uri="{0D108BD9-81ED-4DB2-BD59-A6C34878D82A}">
                    <a16:rowId xmlns:a16="http://schemas.microsoft.com/office/drawing/2014/main" val="3843995564"/>
                  </a:ext>
                </a:extLst>
              </a:tr>
            </a:tbl>
          </a:graphicData>
        </a:graphic>
      </p:graphicFrame>
    </p:spTree>
    <p:extLst>
      <p:ext uri="{BB962C8B-B14F-4D97-AF65-F5344CB8AC3E}">
        <p14:creationId xmlns:p14="http://schemas.microsoft.com/office/powerpoint/2010/main" val="2692478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The SOC Is Stalled</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Alert volume won. Your analysts did not.</a:t>
            </a:r>
          </a:p>
        </p:txBody>
      </p:sp>
    </p:spTree>
    <p:extLst>
      <p:ext uri="{BB962C8B-B14F-4D97-AF65-F5344CB8AC3E}">
        <p14:creationId xmlns:p14="http://schemas.microsoft.com/office/powerpoint/2010/main" val="2279942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The SOC Is Drowning in Alerts</a:t>
            </a:r>
          </a:p>
        </p:txBody>
      </p:sp>
      <p:sp>
        <p:nvSpPr>
          <p:cNvPr id="3" name="Rounded Rectangle 2"/>
          <p:cNvSpPr/>
          <p:nvPr/>
        </p:nvSpPr>
        <p:spPr>
          <a:xfrm>
            <a:off x="841248" y="1600200"/>
            <a:ext cx="2468880" cy="42062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8288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ell.png"/>
          <p:cNvPicPr>
            <a:picLocks noChangeAspect="1"/>
          </p:cNvPicPr>
          <p:nvPr/>
        </p:nvPicPr>
        <p:blipFill>
          <a:blip r:embed="rId3"/>
          <a:stretch>
            <a:fillRect/>
          </a:stretch>
        </p:blipFill>
        <p:spPr>
          <a:xfrm>
            <a:off x="1229868" y="1988819"/>
            <a:ext cx="320040" cy="320040"/>
          </a:xfrm>
          <a:prstGeom prst="rect">
            <a:avLst/>
          </a:prstGeom>
        </p:spPr>
      </p:pic>
      <p:sp>
        <p:nvSpPr>
          <p:cNvPr id="6" name="TextBox 5"/>
          <p:cNvSpPr txBox="1"/>
          <p:nvPr/>
        </p:nvSpPr>
        <p:spPr>
          <a:xfrm>
            <a:off x="1069848" y="265176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2,992</a:t>
            </a:r>
          </a:p>
        </p:txBody>
      </p:sp>
      <p:sp>
        <p:nvSpPr>
          <p:cNvPr id="7" name="TextBox 6"/>
          <p:cNvSpPr txBox="1"/>
          <p:nvPr/>
        </p:nvSpPr>
        <p:spPr>
          <a:xfrm>
            <a:off x="1069848" y="3611880"/>
            <a:ext cx="2011680" cy="822960"/>
          </a:xfrm>
          <a:prstGeom prst="rect">
            <a:avLst/>
          </a:prstGeom>
          <a:noFill/>
        </p:spPr>
        <p:txBody>
          <a:bodyPr wrap="square" lIns="0" tIns="18288" rIns="0" bIns="18288" anchor="t">
            <a:spAutoFit/>
          </a:bodyPr>
          <a:lstStyle/>
          <a:p>
            <a:pPr algn="l"/>
            <a:r>
              <a:rPr sz="1700" b="1" i="0">
                <a:solidFill>
                  <a:srgbClr val="FFFFFF"/>
                </a:solidFill>
                <a:latin typeface="Calibri"/>
              </a:rPr>
              <a:t>security alerts per day</a:t>
            </a:r>
          </a:p>
        </p:txBody>
      </p:sp>
      <p:sp>
        <p:nvSpPr>
          <p:cNvPr id="8" name="TextBox 7"/>
          <p:cNvSpPr txBox="1"/>
          <p:nvPr/>
        </p:nvSpPr>
        <p:spPr>
          <a:xfrm>
            <a:off x="1069848" y="4480560"/>
            <a:ext cx="2011680" cy="1188720"/>
          </a:xfrm>
          <a:prstGeom prst="rect">
            <a:avLst/>
          </a:prstGeom>
          <a:noFill/>
        </p:spPr>
        <p:txBody>
          <a:bodyPr wrap="square" lIns="0" tIns="18288" rIns="0" bIns="18288" anchor="t">
            <a:spAutoFit/>
          </a:bodyPr>
          <a:lstStyle/>
          <a:p>
            <a:pPr algn="l"/>
            <a:r>
              <a:rPr sz="1200" b="0" i="0">
                <a:solidFill>
                  <a:srgbClr val="C9D6F0"/>
                </a:solidFill>
                <a:latin typeface="Calibri"/>
              </a:rPr>
              <a:t>average per organization (Vectra AI, 2026)</a:t>
            </a:r>
          </a:p>
        </p:txBody>
      </p:sp>
      <p:sp>
        <p:nvSpPr>
          <p:cNvPr id="9" name="Rounded Rectangle 8"/>
          <p:cNvSpPr/>
          <p:nvPr/>
        </p:nvSpPr>
        <p:spPr>
          <a:xfrm>
            <a:off x="3520440" y="1600200"/>
            <a:ext cx="2468880" cy="42062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749039" y="18288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userTimes.png"/>
          <p:cNvPicPr>
            <a:picLocks noChangeAspect="1"/>
          </p:cNvPicPr>
          <p:nvPr/>
        </p:nvPicPr>
        <p:blipFill>
          <a:blip r:embed="rId4"/>
          <a:stretch>
            <a:fillRect/>
          </a:stretch>
        </p:blipFill>
        <p:spPr>
          <a:xfrm>
            <a:off x="3909059" y="1988819"/>
            <a:ext cx="320040" cy="320040"/>
          </a:xfrm>
          <a:prstGeom prst="rect">
            <a:avLst/>
          </a:prstGeom>
        </p:spPr>
      </p:pic>
      <p:sp>
        <p:nvSpPr>
          <p:cNvPr id="12" name="TextBox 11"/>
          <p:cNvSpPr txBox="1"/>
          <p:nvPr/>
        </p:nvSpPr>
        <p:spPr>
          <a:xfrm>
            <a:off x="3749039" y="265176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42%</a:t>
            </a:r>
          </a:p>
        </p:txBody>
      </p:sp>
      <p:sp>
        <p:nvSpPr>
          <p:cNvPr id="13" name="TextBox 12"/>
          <p:cNvSpPr txBox="1"/>
          <p:nvPr/>
        </p:nvSpPr>
        <p:spPr>
          <a:xfrm>
            <a:off x="3749039" y="3611880"/>
            <a:ext cx="2011680" cy="822960"/>
          </a:xfrm>
          <a:prstGeom prst="rect">
            <a:avLst/>
          </a:prstGeom>
          <a:noFill/>
        </p:spPr>
        <p:txBody>
          <a:bodyPr wrap="square" lIns="0" tIns="18288" rIns="0" bIns="18288" anchor="t">
            <a:spAutoFit/>
          </a:bodyPr>
          <a:lstStyle/>
          <a:p>
            <a:pPr algn="l"/>
            <a:r>
              <a:rPr sz="1700" b="1" i="0">
                <a:solidFill>
                  <a:srgbClr val="FFFFFF"/>
                </a:solidFill>
                <a:latin typeface="Calibri"/>
              </a:rPr>
              <a:t>of alerts never investigated</a:t>
            </a:r>
          </a:p>
        </p:txBody>
      </p:sp>
      <p:sp>
        <p:nvSpPr>
          <p:cNvPr id="14" name="TextBox 13"/>
          <p:cNvSpPr txBox="1"/>
          <p:nvPr/>
        </p:nvSpPr>
        <p:spPr>
          <a:xfrm>
            <a:off x="3749039" y="4480560"/>
            <a:ext cx="2011680" cy="1188720"/>
          </a:xfrm>
          <a:prstGeom prst="rect">
            <a:avLst/>
          </a:prstGeom>
          <a:noFill/>
        </p:spPr>
        <p:txBody>
          <a:bodyPr wrap="square" lIns="0" tIns="18288" rIns="0" bIns="18288" anchor="t">
            <a:spAutoFit/>
          </a:bodyPr>
          <a:lstStyle/>
          <a:p>
            <a:pPr algn="l"/>
            <a:r>
              <a:rPr sz="1200" b="0" i="0">
                <a:solidFill>
                  <a:srgbClr val="C9D6F0"/>
                </a:solidFill>
                <a:latin typeface="Calibri"/>
              </a:rPr>
              <a:t>46% of those that are prove false positives (Microsoft/Omdia, 2026)</a:t>
            </a:r>
          </a:p>
        </p:txBody>
      </p:sp>
      <p:sp>
        <p:nvSpPr>
          <p:cNvPr id="15" name="Rounded Rectangle 14"/>
          <p:cNvSpPr/>
          <p:nvPr/>
        </p:nvSpPr>
        <p:spPr>
          <a:xfrm>
            <a:off x="6199632" y="1600200"/>
            <a:ext cx="2468880" cy="42062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28232" y="18288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lock.png"/>
          <p:cNvPicPr>
            <a:picLocks noChangeAspect="1"/>
          </p:cNvPicPr>
          <p:nvPr/>
        </p:nvPicPr>
        <p:blipFill>
          <a:blip r:embed="rId5"/>
          <a:stretch>
            <a:fillRect/>
          </a:stretch>
        </p:blipFill>
        <p:spPr>
          <a:xfrm>
            <a:off x="6588252" y="1988819"/>
            <a:ext cx="320040" cy="320040"/>
          </a:xfrm>
          <a:prstGeom prst="rect">
            <a:avLst/>
          </a:prstGeom>
        </p:spPr>
      </p:pic>
      <p:sp>
        <p:nvSpPr>
          <p:cNvPr id="18" name="TextBox 17"/>
          <p:cNvSpPr txBox="1"/>
          <p:nvPr/>
        </p:nvSpPr>
        <p:spPr>
          <a:xfrm>
            <a:off x="6428232" y="265176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70 min</a:t>
            </a:r>
          </a:p>
        </p:txBody>
      </p:sp>
      <p:sp>
        <p:nvSpPr>
          <p:cNvPr id="19" name="TextBox 18"/>
          <p:cNvSpPr txBox="1"/>
          <p:nvPr/>
        </p:nvSpPr>
        <p:spPr>
          <a:xfrm>
            <a:off x="6428232" y="3611880"/>
            <a:ext cx="2011680" cy="822960"/>
          </a:xfrm>
          <a:prstGeom prst="rect">
            <a:avLst/>
          </a:prstGeom>
          <a:noFill/>
        </p:spPr>
        <p:txBody>
          <a:bodyPr wrap="square" lIns="0" tIns="18288" rIns="0" bIns="18288" anchor="t">
            <a:spAutoFit/>
          </a:bodyPr>
          <a:lstStyle/>
          <a:p>
            <a:pPr algn="l"/>
            <a:r>
              <a:rPr sz="1700" b="1" i="0">
                <a:solidFill>
                  <a:srgbClr val="FFFFFF"/>
                </a:solidFill>
                <a:latin typeface="Calibri"/>
              </a:rPr>
              <a:t>average alert investigation</a:t>
            </a:r>
          </a:p>
        </p:txBody>
      </p:sp>
      <p:sp>
        <p:nvSpPr>
          <p:cNvPr id="20" name="TextBox 19"/>
          <p:cNvSpPr txBox="1"/>
          <p:nvPr/>
        </p:nvSpPr>
        <p:spPr>
          <a:xfrm>
            <a:off x="6428232" y="4480560"/>
            <a:ext cx="2011680" cy="1188720"/>
          </a:xfrm>
          <a:prstGeom prst="rect">
            <a:avLst/>
          </a:prstGeom>
          <a:noFill/>
        </p:spPr>
        <p:txBody>
          <a:bodyPr wrap="square" lIns="0" tIns="18288" rIns="0" bIns="18288" anchor="t">
            <a:spAutoFit/>
          </a:bodyPr>
          <a:lstStyle/>
          <a:p>
            <a:pPr algn="l"/>
            <a:r>
              <a:rPr sz="1200" b="0" i="0">
                <a:solidFill>
                  <a:srgbClr val="C9D6F0"/>
                </a:solidFill>
                <a:latin typeface="Calibri"/>
              </a:rPr>
              <a:t>56 minutes elapse before anyone acts (Cybersecurity Insiders, 2025)</a:t>
            </a:r>
          </a:p>
        </p:txBody>
      </p:sp>
      <p:sp>
        <p:nvSpPr>
          <p:cNvPr id="21" name="Rounded Rectangle 20"/>
          <p:cNvSpPr/>
          <p:nvPr/>
        </p:nvSpPr>
        <p:spPr>
          <a:xfrm>
            <a:off x="8878824" y="1600200"/>
            <a:ext cx="2468880" cy="42062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107424" y="18288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xclaim.png"/>
          <p:cNvPicPr>
            <a:picLocks noChangeAspect="1"/>
          </p:cNvPicPr>
          <p:nvPr/>
        </p:nvPicPr>
        <p:blipFill>
          <a:blip r:embed="rId6"/>
          <a:stretch>
            <a:fillRect/>
          </a:stretch>
        </p:blipFill>
        <p:spPr>
          <a:xfrm>
            <a:off x="9267444" y="1988819"/>
            <a:ext cx="320040" cy="320040"/>
          </a:xfrm>
          <a:prstGeom prst="rect">
            <a:avLst/>
          </a:prstGeom>
        </p:spPr>
      </p:pic>
      <p:sp>
        <p:nvSpPr>
          <p:cNvPr id="24" name="TextBox 23"/>
          <p:cNvSpPr txBox="1"/>
          <p:nvPr/>
        </p:nvSpPr>
        <p:spPr>
          <a:xfrm>
            <a:off x="9107424" y="2651760"/>
            <a:ext cx="2011680" cy="914400"/>
          </a:xfrm>
          <a:prstGeom prst="rect">
            <a:avLst/>
          </a:prstGeom>
          <a:noFill/>
        </p:spPr>
        <p:txBody>
          <a:bodyPr wrap="square" lIns="0" tIns="18288" rIns="0" bIns="18288" anchor="t">
            <a:spAutoFit/>
          </a:bodyPr>
          <a:lstStyle/>
          <a:p>
            <a:pPr algn="l"/>
            <a:r>
              <a:rPr sz="4800" b="1" i="0">
                <a:solidFill>
                  <a:srgbClr val="ACCBF9"/>
                </a:solidFill>
                <a:latin typeface="Calibri"/>
              </a:rPr>
              <a:t>70%</a:t>
            </a:r>
          </a:p>
        </p:txBody>
      </p:sp>
      <p:sp>
        <p:nvSpPr>
          <p:cNvPr id="25" name="TextBox 24"/>
          <p:cNvSpPr txBox="1"/>
          <p:nvPr/>
        </p:nvSpPr>
        <p:spPr>
          <a:xfrm>
            <a:off x="9107424" y="3611880"/>
            <a:ext cx="2011680" cy="822960"/>
          </a:xfrm>
          <a:prstGeom prst="rect">
            <a:avLst/>
          </a:prstGeom>
          <a:noFill/>
        </p:spPr>
        <p:txBody>
          <a:bodyPr wrap="square" lIns="0" tIns="18288" rIns="0" bIns="18288" anchor="t">
            <a:spAutoFit/>
          </a:bodyPr>
          <a:lstStyle/>
          <a:p>
            <a:pPr algn="l"/>
            <a:r>
              <a:rPr sz="1700" b="1" i="0">
                <a:solidFill>
                  <a:srgbClr val="FFFFFF"/>
                </a:solidFill>
                <a:latin typeface="Calibri"/>
              </a:rPr>
              <a:t>of junior analysts leave</a:t>
            </a:r>
          </a:p>
        </p:txBody>
      </p:sp>
      <p:sp>
        <p:nvSpPr>
          <p:cNvPr id="26" name="TextBox 25"/>
          <p:cNvSpPr txBox="1"/>
          <p:nvPr/>
        </p:nvSpPr>
        <p:spPr>
          <a:xfrm>
            <a:off x="9107424" y="4480560"/>
            <a:ext cx="2011680" cy="1188720"/>
          </a:xfrm>
          <a:prstGeom prst="rect">
            <a:avLst/>
          </a:prstGeom>
          <a:noFill/>
        </p:spPr>
        <p:txBody>
          <a:bodyPr wrap="square" lIns="0" tIns="18288" rIns="0" bIns="18288" anchor="t">
            <a:spAutoFit/>
          </a:bodyPr>
          <a:lstStyle/>
          <a:p>
            <a:pPr algn="l"/>
            <a:r>
              <a:rPr sz="1200" b="0" i="0">
                <a:solidFill>
                  <a:srgbClr val="C9D6F0"/>
                </a:solidFill>
                <a:latin typeface="Calibri"/>
              </a:rPr>
              <a:t>within three years (SANS, 2025)</a:t>
            </a:r>
          </a:p>
        </p:txBody>
      </p:sp>
      <p:sp>
        <p:nvSpPr>
          <p:cNvPr id="27" name="TextBox 26"/>
          <p:cNvSpPr txBox="1"/>
          <p:nvPr/>
        </p:nvSpPr>
        <p:spPr>
          <a:xfrm>
            <a:off x="841248" y="5989320"/>
            <a:ext cx="10515600" cy="530352"/>
          </a:xfrm>
          <a:prstGeom prst="rect">
            <a:avLst/>
          </a:prstGeom>
          <a:noFill/>
        </p:spPr>
        <p:txBody>
          <a:bodyPr wrap="square" lIns="0" tIns="18288" rIns="0" bIns="18288" anchor="t">
            <a:spAutoFit/>
          </a:bodyPr>
          <a:lstStyle/>
          <a:p>
            <a:pPr algn="l"/>
            <a:r>
              <a:rPr sz="1400" b="0" i="1">
                <a:solidFill>
                  <a:srgbClr val="C9D6F0"/>
                </a:solidFill>
                <a:latin typeface="Calibri"/>
              </a:rPr>
              <a:t>Tier-1 analysts absorb this volume by hand: triage, log correlation, enrichment, documentation, repeat.</a:t>
            </a:r>
          </a:p>
          <a:p>
            <a:pPr algn="l"/>
            <a:r>
              <a:rPr sz="1400" b="0" i="1">
                <a:solidFill>
                  <a:srgbClr val="C9D6F0"/>
                </a:solidFill>
                <a:latin typeface="Calibri"/>
              </a:rPr>
              <a:t>And it matters: 60% say an alert they ignored or never investigated later proved material (Prophet Security,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Volume Eases. The Manual Loop Does Not.</a:t>
            </a:r>
          </a:p>
        </p:txBody>
      </p:sp>
      <p:graphicFrame>
        <p:nvGraphicFramePr>
          <p:cNvPr id="3" name="Chart 2"/>
          <p:cNvGraphicFramePr>
            <a:graphicFrameLocks noGrp="1"/>
          </p:cNvGraphicFramePr>
          <p:nvPr/>
        </p:nvGraphicFramePr>
        <p:xfrm>
          <a:off x="841248" y="1554480"/>
          <a:ext cx="51206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841248" y="5897880"/>
            <a:ext cx="5120640" cy="603504"/>
          </a:xfrm>
          <a:prstGeom prst="rect">
            <a:avLst/>
          </a:prstGeom>
          <a:noFill/>
        </p:spPr>
        <p:txBody>
          <a:bodyPr wrap="square" lIns="0" tIns="18288" rIns="0" bIns="18288" anchor="t">
            <a:spAutoFit/>
          </a:bodyPr>
          <a:lstStyle/>
          <a:p>
            <a:pPr algn="l"/>
            <a:r>
              <a:rPr sz="1150" b="0" i="0">
                <a:solidFill>
                  <a:srgbClr val="C9D6F0"/>
                </a:solidFill>
                <a:latin typeface="Calibri"/>
              </a:rPr>
              <a:t>The queue shrank. The gap did not — 63% of alerts still go unaddressed.</a:t>
            </a:r>
          </a:p>
          <a:p>
            <a:pPr algn="l"/>
            <a:r>
              <a:rPr sz="1000" b="0" i="0">
                <a:solidFill>
                  <a:srgbClr val="C9D6F0"/>
                </a:solidFill>
                <a:latin typeface="Calibri"/>
              </a:rPr>
              <a:t>Source: Vectra AI State of Threat Detection reports, 2023-2026</a:t>
            </a:r>
          </a:p>
        </p:txBody>
      </p:sp>
      <p:sp>
        <p:nvSpPr>
          <p:cNvPr id="5" name="TextBox 4"/>
          <p:cNvSpPr txBox="1"/>
          <p:nvPr/>
        </p:nvSpPr>
        <p:spPr>
          <a:xfrm>
            <a:off x="6400800" y="1554480"/>
            <a:ext cx="4937760" cy="411480"/>
          </a:xfrm>
          <a:prstGeom prst="rect">
            <a:avLst/>
          </a:prstGeom>
          <a:noFill/>
        </p:spPr>
        <p:txBody>
          <a:bodyPr wrap="square" lIns="0" tIns="18288" rIns="0" bIns="18288" anchor="t">
            <a:spAutoFit/>
          </a:bodyPr>
          <a:lstStyle/>
          <a:p>
            <a:pPr algn="l"/>
            <a:r>
              <a:rPr sz="2000" b="1" i="0">
                <a:solidFill>
                  <a:srgbClr val="ACCBF9"/>
                </a:solidFill>
                <a:latin typeface="Calibri"/>
              </a:rPr>
              <a:t>The Tier-1 treadmill, one alert at a time</a:t>
            </a:r>
          </a:p>
        </p:txBody>
      </p:sp>
      <p:sp>
        <p:nvSpPr>
          <p:cNvPr id="6" name="Oval 5"/>
          <p:cNvSpPr/>
          <p:nvPr/>
        </p:nvSpPr>
        <p:spPr>
          <a:xfrm>
            <a:off x="6400800" y="2103120"/>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ell.png"/>
          <p:cNvPicPr>
            <a:picLocks noChangeAspect="1"/>
          </p:cNvPicPr>
          <p:nvPr/>
        </p:nvPicPr>
        <p:blipFill>
          <a:blip r:embed="rId4"/>
          <a:stretch>
            <a:fillRect/>
          </a:stretch>
        </p:blipFill>
        <p:spPr>
          <a:xfrm>
            <a:off x="6526530" y="2228850"/>
            <a:ext cx="251460" cy="251460"/>
          </a:xfrm>
          <a:prstGeom prst="rect">
            <a:avLst/>
          </a:prstGeom>
        </p:spPr>
      </p:pic>
      <p:sp>
        <p:nvSpPr>
          <p:cNvPr id="8" name="TextBox 7"/>
          <p:cNvSpPr txBox="1"/>
          <p:nvPr/>
        </p:nvSpPr>
        <p:spPr>
          <a:xfrm>
            <a:off x="7086600" y="2075688"/>
            <a:ext cx="4206240" cy="292608"/>
          </a:xfrm>
          <a:prstGeom prst="rect">
            <a:avLst/>
          </a:prstGeom>
          <a:noFill/>
        </p:spPr>
        <p:txBody>
          <a:bodyPr wrap="square" lIns="0" tIns="18288" rIns="0" bIns="18288" anchor="t">
            <a:spAutoFit/>
          </a:bodyPr>
          <a:lstStyle/>
          <a:p>
            <a:pPr algn="l"/>
            <a:r>
              <a:rPr sz="1500" b="1" i="0">
                <a:solidFill>
                  <a:srgbClr val="FFFFFF"/>
                </a:solidFill>
                <a:latin typeface="Calibri"/>
              </a:rPr>
              <a:t>Triage</a:t>
            </a:r>
          </a:p>
        </p:txBody>
      </p:sp>
      <p:sp>
        <p:nvSpPr>
          <p:cNvPr id="9" name="TextBox 8"/>
          <p:cNvSpPr txBox="1"/>
          <p:nvPr/>
        </p:nvSpPr>
        <p:spPr>
          <a:xfrm>
            <a:off x="7086600" y="2350008"/>
            <a:ext cx="4206240" cy="365760"/>
          </a:xfrm>
          <a:prstGeom prst="rect">
            <a:avLst/>
          </a:prstGeom>
          <a:noFill/>
        </p:spPr>
        <p:txBody>
          <a:bodyPr wrap="square" lIns="0" tIns="18288" rIns="0" bIns="18288" anchor="t">
            <a:spAutoFit/>
          </a:bodyPr>
          <a:lstStyle/>
          <a:p>
            <a:pPr algn="l"/>
            <a:r>
              <a:rPr sz="1200" b="0" i="0">
                <a:solidFill>
                  <a:srgbClr val="C9D6F0"/>
                </a:solidFill>
                <a:latin typeface="Calibri"/>
              </a:rPr>
              <a:t>Read the alert, decide if it matters</a:t>
            </a:r>
          </a:p>
        </p:txBody>
      </p:sp>
      <p:sp>
        <p:nvSpPr>
          <p:cNvPr id="10" name="Oval 9"/>
          <p:cNvSpPr/>
          <p:nvPr/>
        </p:nvSpPr>
        <p:spPr>
          <a:xfrm>
            <a:off x="6400800" y="2889503"/>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database.png"/>
          <p:cNvPicPr>
            <a:picLocks noChangeAspect="1"/>
          </p:cNvPicPr>
          <p:nvPr/>
        </p:nvPicPr>
        <p:blipFill>
          <a:blip r:embed="rId5"/>
          <a:stretch>
            <a:fillRect/>
          </a:stretch>
        </p:blipFill>
        <p:spPr>
          <a:xfrm>
            <a:off x="6526530" y="3015234"/>
            <a:ext cx="251460" cy="251460"/>
          </a:xfrm>
          <a:prstGeom prst="rect">
            <a:avLst/>
          </a:prstGeom>
        </p:spPr>
      </p:pic>
      <p:sp>
        <p:nvSpPr>
          <p:cNvPr id="12" name="TextBox 11"/>
          <p:cNvSpPr txBox="1"/>
          <p:nvPr/>
        </p:nvSpPr>
        <p:spPr>
          <a:xfrm>
            <a:off x="7086600" y="2862072"/>
            <a:ext cx="4206240" cy="292608"/>
          </a:xfrm>
          <a:prstGeom prst="rect">
            <a:avLst/>
          </a:prstGeom>
          <a:noFill/>
        </p:spPr>
        <p:txBody>
          <a:bodyPr wrap="square" lIns="0" tIns="18288" rIns="0" bIns="18288" anchor="t">
            <a:spAutoFit/>
          </a:bodyPr>
          <a:lstStyle/>
          <a:p>
            <a:pPr algn="l"/>
            <a:r>
              <a:rPr sz="1500" b="1" i="0">
                <a:solidFill>
                  <a:srgbClr val="FFFFFF"/>
                </a:solidFill>
                <a:latin typeface="Calibri"/>
              </a:rPr>
              <a:t>Correlate</a:t>
            </a:r>
          </a:p>
        </p:txBody>
      </p:sp>
      <p:sp>
        <p:nvSpPr>
          <p:cNvPr id="13" name="TextBox 12"/>
          <p:cNvSpPr txBox="1"/>
          <p:nvPr/>
        </p:nvSpPr>
        <p:spPr>
          <a:xfrm>
            <a:off x="7086600" y="3136391"/>
            <a:ext cx="4206240" cy="365760"/>
          </a:xfrm>
          <a:prstGeom prst="rect">
            <a:avLst/>
          </a:prstGeom>
          <a:noFill/>
        </p:spPr>
        <p:txBody>
          <a:bodyPr wrap="square" lIns="0" tIns="18288" rIns="0" bIns="18288" anchor="t">
            <a:spAutoFit/>
          </a:bodyPr>
          <a:lstStyle/>
          <a:p>
            <a:pPr algn="l"/>
            <a:r>
              <a:rPr sz="1200" b="0" i="0">
                <a:solidFill>
                  <a:srgbClr val="C9D6F0"/>
                </a:solidFill>
                <a:latin typeface="Calibri"/>
              </a:rPr>
              <a:t>Pivot through sign-in, endpoint, and network logs</a:t>
            </a:r>
          </a:p>
        </p:txBody>
      </p:sp>
      <p:sp>
        <p:nvSpPr>
          <p:cNvPr id="14" name="Oval 13"/>
          <p:cNvSpPr/>
          <p:nvPr/>
        </p:nvSpPr>
        <p:spPr>
          <a:xfrm>
            <a:off x="6400800" y="3675887"/>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globe.png"/>
          <p:cNvPicPr>
            <a:picLocks noChangeAspect="1"/>
          </p:cNvPicPr>
          <p:nvPr/>
        </p:nvPicPr>
        <p:blipFill>
          <a:blip r:embed="rId6"/>
          <a:stretch>
            <a:fillRect/>
          </a:stretch>
        </p:blipFill>
        <p:spPr>
          <a:xfrm>
            <a:off x="6526530" y="3801618"/>
            <a:ext cx="251460" cy="251460"/>
          </a:xfrm>
          <a:prstGeom prst="rect">
            <a:avLst/>
          </a:prstGeom>
        </p:spPr>
      </p:pic>
      <p:sp>
        <p:nvSpPr>
          <p:cNvPr id="16" name="TextBox 15"/>
          <p:cNvSpPr txBox="1"/>
          <p:nvPr/>
        </p:nvSpPr>
        <p:spPr>
          <a:xfrm>
            <a:off x="7086600" y="3648456"/>
            <a:ext cx="4206240" cy="292608"/>
          </a:xfrm>
          <a:prstGeom prst="rect">
            <a:avLst/>
          </a:prstGeom>
          <a:noFill/>
        </p:spPr>
        <p:txBody>
          <a:bodyPr wrap="square" lIns="0" tIns="18288" rIns="0" bIns="18288" anchor="t">
            <a:spAutoFit/>
          </a:bodyPr>
          <a:lstStyle/>
          <a:p>
            <a:pPr algn="l"/>
            <a:r>
              <a:rPr sz="1500" b="1" i="0">
                <a:solidFill>
                  <a:srgbClr val="FFFFFF"/>
                </a:solidFill>
                <a:latin typeface="Calibri"/>
              </a:rPr>
              <a:t>Enrich</a:t>
            </a:r>
          </a:p>
        </p:txBody>
      </p:sp>
      <p:sp>
        <p:nvSpPr>
          <p:cNvPr id="17" name="TextBox 16"/>
          <p:cNvSpPr txBox="1"/>
          <p:nvPr/>
        </p:nvSpPr>
        <p:spPr>
          <a:xfrm>
            <a:off x="7086600" y="3922775"/>
            <a:ext cx="4206240" cy="365760"/>
          </a:xfrm>
          <a:prstGeom prst="rect">
            <a:avLst/>
          </a:prstGeom>
          <a:noFill/>
        </p:spPr>
        <p:txBody>
          <a:bodyPr wrap="square" lIns="0" tIns="18288" rIns="0" bIns="18288" anchor="t">
            <a:spAutoFit/>
          </a:bodyPr>
          <a:lstStyle/>
          <a:p>
            <a:pPr algn="l"/>
            <a:r>
              <a:rPr sz="1200" b="0" i="0">
                <a:solidFill>
                  <a:srgbClr val="C9D6F0"/>
                </a:solidFill>
                <a:latin typeface="Calibri"/>
              </a:rPr>
              <a:t>Look up IPs, hashes, users, and assets in 5+ consoles</a:t>
            </a:r>
          </a:p>
        </p:txBody>
      </p:sp>
      <p:sp>
        <p:nvSpPr>
          <p:cNvPr id="18" name="Oval 17"/>
          <p:cNvSpPr/>
          <p:nvPr/>
        </p:nvSpPr>
        <p:spPr>
          <a:xfrm>
            <a:off x="6400800" y="4462272"/>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earch.png"/>
          <p:cNvPicPr>
            <a:picLocks noChangeAspect="1"/>
          </p:cNvPicPr>
          <p:nvPr/>
        </p:nvPicPr>
        <p:blipFill>
          <a:blip r:embed="rId7"/>
          <a:stretch>
            <a:fillRect/>
          </a:stretch>
        </p:blipFill>
        <p:spPr>
          <a:xfrm>
            <a:off x="6526530" y="4588002"/>
            <a:ext cx="251460" cy="251460"/>
          </a:xfrm>
          <a:prstGeom prst="rect">
            <a:avLst/>
          </a:prstGeom>
        </p:spPr>
      </p:pic>
      <p:sp>
        <p:nvSpPr>
          <p:cNvPr id="20" name="TextBox 19"/>
          <p:cNvSpPr txBox="1"/>
          <p:nvPr/>
        </p:nvSpPr>
        <p:spPr>
          <a:xfrm>
            <a:off x="7086600" y="4434840"/>
            <a:ext cx="4206240" cy="292608"/>
          </a:xfrm>
          <a:prstGeom prst="rect">
            <a:avLst/>
          </a:prstGeom>
          <a:noFill/>
        </p:spPr>
        <p:txBody>
          <a:bodyPr wrap="square" lIns="0" tIns="18288" rIns="0" bIns="18288" anchor="t">
            <a:spAutoFit/>
          </a:bodyPr>
          <a:lstStyle/>
          <a:p>
            <a:pPr algn="l"/>
            <a:r>
              <a:rPr sz="1500" b="1" i="0">
                <a:solidFill>
                  <a:srgbClr val="FFFFFF"/>
                </a:solidFill>
                <a:latin typeface="Calibri"/>
              </a:rPr>
              <a:t>Investigate</a:t>
            </a:r>
          </a:p>
        </p:txBody>
      </p:sp>
      <p:sp>
        <p:nvSpPr>
          <p:cNvPr id="21" name="TextBox 20"/>
          <p:cNvSpPr txBox="1"/>
          <p:nvPr/>
        </p:nvSpPr>
        <p:spPr>
          <a:xfrm>
            <a:off x="7086600" y="4709160"/>
            <a:ext cx="4206240" cy="365760"/>
          </a:xfrm>
          <a:prstGeom prst="rect">
            <a:avLst/>
          </a:prstGeom>
          <a:noFill/>
        </p:spPr>
        <p:txBody>
          <a:bodyPr wrap="square" lIns="0" tIns="18288" rIns="0" bIns="18288" anchor="t">
            <a:spAutoFit/>
          </a:bodyPr>
          <a:lstStyle/>
          <a:p>
            <a:pPr algn="l"/>
            <a:r>
              <a:rPr sz="1200" b="0" i="0">
                <a:solidFill>
                  <a:srgbClr val="C9D6F0"/>
                </a:solidFill>
                <a:latin typeface="Calibri"/>
              </a:rPr>
              <a:t>Build the timeline, scope the blast radius</a:t>
            </a:r>
          </a:p>
        </p:txBody>
      </p:sp>
      <p:sp>
        <p:nvSpPr>
          <p:cNvPr id="22" name="Oval 21"/>
          <p:cNvSpPr/>
          <p:nvPr/>
        </p:nvSpPr>
        <p:spPr>
          <a:xfrm>
            <a:off x="6400800" y="5248656"/>
            <a:ext cx="502920" cy="502920"/>
          </a:xfrm>
          <a:prstGeom prst="ellipse">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ileAlt.png"/>
          <p:cNvPicPr>
            <a:picLocks noChangeAspect="1"/>
          </p:cNvPicPr>
          <p:nvPr/>
        </p:nvPicPr>
        <p:blipFill>
          <a:blip r:embed="rId8"/>
          <a:stretch>
            <a:fillRect/>
          </a:stretch>
        </p:blipFill>
        <p:spPr>
          <a:xfrm>
            <a:off x="6526530" y="5374386"/>
            <a:ext cx="251460" cy="251460"/>
          </a:xfrm>
          <a:prstGeom prst="rect">
            <a:avLst/>
          </a:prstGeom>
        </p:spPr>
      </p:pic>
      <p:sp>
        <p:nvSpPr>
          <p:cNvPr id="24" name="TextBox 23"/>
          <p:cNvSpPr txBox="1"/>
          <p:nvPr/>
        </p:nvSpPr>
        <p:spPr>
          <a:xfrm>
            <a:off x="7086600" y="5221224"/>
            <a:ext cx="4206240" cy="292608"/>
          </a:xfrm>
          <a:prstGeom prst="rect">
            <a:avLst/>
          </a:prstGeom>
          <a:noFill/>
        </p:spPr>
        <p:txBody>
          <a:bodyPr wrap="square" lIns="0" tIns="18288" rIns="0" bIns="18288" anchor="t">
            <a:spAutoFit/>
          </a:bodyPr>
          <a:lstStyle/>
          <a:p>
            <a:pPr algn="l"/>
            <a:r>
              <a:rPr sz="1500" b="1" i="0">
                <a:solidFill>
                  <a:srgbClr val="FFFFFF"/>
                </a:solidFill>
                <a:latin typeface="Calibri"/>
              </a:rPr>
              <a:t>Disposition</a:t>
            </a:r>
          </a:p>
        </p:txBody>
      </p:sp>
      <p:sp>
        <p:nvSpPr>
          <p:cNvPr id="25" name="TextBox 24"/>
          <p:cNvSpPr txBox="1"/>
          <p:nvPr/>
        </p:nvSpPr>
        <p:spPr>
          <a:xfrm>
            <a:off x="7086600" y="5495544"/>
            <a:ext cx="4206240" cy="365760"/>
          </a:xfrm>
          <a:prstGeom prst="rect">
            <a:avLst/>
          </a:prstGeom>
          <a:noFill/>
        </p:spPr>
        <p:txBody>
          <a:bodyPr wrap="square" lIns="0" tIns="18288" rIns="0" bIns="18288" anchor="t">
            <a:spAutoFit/>
          </a:bodyPr>
          <a:lstStyle/>
          <a:p>
            <a:pPr algn="l"/>
            <a:r>
              <a:rPr sz="1200" b="0" i="0">
                <a:solidFill>
                  <a:srgbClr val="C9D6F0"/>
                </a:solidFill>
                <a:latin typeface="Calibri"/>
              </a:rPr>
              <a:t>Write it up, close or escalate, repeat 100x per shift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a:t>What Good Looks Like</a:t>
            </a:r>
            <a:endParaRPr lang="en"/>
          </a:p>
        </p:txBody>
      </p:sp>
      <p:sp>
        <p:nvSpPr>
          <p:cNvPr id="3" name="Content Placeholder 2">
            <a:extLst>
              <a:ext uri="{FF2B5EF4-FFF2-40B4-BE49-F238E27FC236}">
                <a16:creationId xmlns:a16="http://schemas.microsoft.com/office/drawing/2014/main" id="{2E47C443-A519-CA6C-F515-F098DE1D8E32}"/>
              </a:ext>
            </a:extLst>
          </p:cNvPr>
          <p:cNvSpPr>
            <a:spLocks noGrp="1"/>
          </p:cNvSpPr>
          <p:nvPr>
            <p:ph idx="1"/>
          </p:nvPr>
        </p:nvSpPr>
        <p:spPr/>
        <p:txBody>
          <a:bodyPr>
            <a:normAutofit/>
          </a:bodyPr>
          <a:lstStyle/>
          <a:p>
            <a:r>
              <a:rPr lang="en-US" dirty="0"/>
              <a:t>Agents own the repetitive 80 percent</a:t>
            </a:r>
          </a:p>
          <a:p>
            <a:r>
              <a:rPr lang="en-US" dirty="0"/>
              <a:t>Humans own judgment, exceptions, and hunting</a:t>
            </a:r>
          </a:p>
          <a:p>
            <a:r>
              <a:rPr lang="en-US" dirty="0"/>
              <a:t>Junior analysts become force multipliers</a:t>
            </a:r>
          </a:p>
          <a:p>
            <a:r>
              <a:rPr lang="en-US" dirty="0"/>
              <a:t>MTTA drops without giving up control or compliance</a:t>
            </a:r>
          </a:p>
        </p:txBody>
      </p:sp>
    </p:spTree>
    <p:extLst>
      <p:ext uri="{BB962C8B-B14F-4D97-AF65-F5344CB8AC3E}">
        <p14:creationId xmlns:p14="http://schemas.microsoft.com/office/powerpoint/2010/main" val="2692478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The Agentic Stack</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Models + tools + a loop. That is a teammate.</a:t>
            </a:r>
          </a:p>
        </p:txBody>
      </p:sp>
    </p:spTree>
    <p:extLst>
      <p:ext uri="{BB962C8B-B14F-4D97-AF65-F5344CB8AC3E}">
        <p14:creationId xmlns:p14="http://schemas.microsoft.com/office/powerpoint/2010/main" val="2279942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Three Assistants, One SOC</a:t>
            </a:r>
          </a:p>
        </p:txBody>
      </p:sp>
      <p:sp>
        <p:nvSpPr>
          <p:cNvPr id="3" name="Rounded Rectangle 2"/>
          <p:cNvSpPr/>
          <p:nvPr/>
        </p:nvSpPr>
        <p:spPr>
          <a:xfrm>
            <a:off x="841248" y="1463040"/>
            <a:ext cx="3310128" cy="4343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691640"/>
            <a:ext cx="594360" cy="59436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rain.png"/>
          <p:cNvPicPr>
            <a:picLocks noChangeAspect="1"/>
          </p:cNvPicPr>
          <p:nvPr/>
        </p:nvPicPr>
        <p:blipFill>
          <a:blip r:embed="rId3"/>
          <a:stretch>
            <a:fillRect/>
          </a:stretch>
        </p:blipFill>
        <p:spPr>
          <a:xfrm>
            <a:off x="1218438" y="1840230"/>
            <a:ext cx="297180" cy="297180"/>
          </a:xfrm>
          <a:prstGeom prst="rect">
            <a:avLst/>
          </a:prstGeom>
        </p:spPr>
      </p:pic>
      <p:sp>
        <p:nvSpPr>
          <p:cNvPr id="6" name="TextBox 5"/>
          <p:cNvSpPr txBox="1"/>
          <p:nvPr/>
        </p:nvSpPr>
        <p:spPr>
          <a:xfrm>
            <a:off x="1801368" y="1664208"/>
            <a:ext cx="2212848" cy="365760"/>
          </a:xfrm>
          <a:prstGeom prst="rect">
            <a:avLst/>
          </a:prstGeom>
          <a:noFill/>
        </p:spPr>
        <p:txBody>
          <a:bodyPr wrap="square" lIns="0" tIns="18288" rIns="0" bIns="18288" anchor="t">
            <a:spAutoFit/>
          </a:bodyPr>
          <a:lstStyle/>
          <a:p>
            <a:pPr algn="l"/>
            <a:r>
              <a:rPr sz="2200" b="1" i="0">
                <a:solidFill>
                  <a:srgbClr val="FFFFFF"/>
                </a:solidFill>
                <a:latin typeface="Calibri"/>
              </a:rPr>
              <a:t>Claude</a:t>
            </a:r>
          </a:p>
        </p:txBody>
      </p:sp>
      <p:sp>
        <p:nvSpPr>
          <p:cNvPr id="7" name="TextBox 6"/>
          <p:cNvSpPr txBox="1"/>
          <p:nvPr/>
        </p:nvSpPr>
        <p:spPr>
          <a:xfrm>
            <a:off x="1801368" y="2011680"/>
            <a:ext cx="2212848" cy="274320"/>
          </a:xfrm>
          <a:prstGeom prst="rect">
            <a:avLst/>
          </a:prstGeom>
          <a:noFill/>
        </p:spPr>
        <p:txBody>
          <a:bodyPr wrap="square" lIns="0" tIns="18288" rIns="0" bIns="18288" anchor="t">
            <a:spAutoFit/>
          </a:bodyPr>
          <a:lstStyle/>
          <a:p>
            <a:pPr algn="l"/>
            <a:r>
              <a:rPr sz="1100" b="0" i="0">
                <a:solidFill>
                  <a:srgbClr val="C9D6F0"/>
                </a:solidFill>
                <a:latin typeface="Calibri"/>
              </a:rPr>
              <a:t>Anthropic</a:t>
            </a:r>
          </a:p>
        </p:txBody>
      </p:sp>
      <p:sp>
        <p:nvSpPr>
          <p:cNvPr id="8" name="TextBox 7"/>
          <p:cNvSpPr txBox="1"/>
          <p:nvPr/>
        </p:nvSpPr>
        <p:spPr>
          <a:xfrm>
            <a:off x="1069848" y="2514600"/>
            <a:ext cx="2852928" cy="3291840"/>
          </a:xfrm>
          <a:prstGeom prst="rect">
            <a:avLst/>
          </a:prstGeom>
          <a:noFill/>
        </p:spPr>
        <p:txBody>
          <a:bodyPr wrap="square" lIns="0" tIns="18288" rIns="0" bIns="18288" anchor="t">
            <a:spAutoFit/>
          </a:bodyPr>
          <a:lstStyle/>
          <a:p>
            <a:pPr>
              <a:spcAft>
                <a:spcPts val="1200"/>
              </a:spcAft>
            </a:pPr>
            <a:r>
              <a:rPr sz="1500" b="1" i="0">
                <a:solidFill>
                  <a:srgbClr val="629DD1"/>
                </a:solidFill>
                <a:latin typeface="Calibri"/>
              </a:rPr>
              <a:t>▸ </a:t>
            </a:r>
            <a:r>
              <a:rPr sz="1500" b="0" i="0">
                <a:solidFill>
                  <a:srgbClr val="FFFFFF"/>
                </a:solidFill>
                <a:latin typeface="Calibri"/>
              </a:rPr>
              <a:t>Deep reasoning over long investigations and large log excerpts</a:t>
            </a:r>
          </a:p>
          <a:p>
            <a:pPr>
              <a:spcAft>
                <a:spcPts val="1200"/>
              </a:spcAft>
            </a:pPr>
            <a:r>
              <a:rPr sz="1500" b="1" i="0">
                <a:solidFill>
                  <a:srgbClr val="629DD1"/>
                </a:solidFill>
                <a:latin typeface="Calibri"/>
              </a:rPr>
              <a:t>▸ </a:t>
            </a:r>
            <a:r>
              <a:rPr sz="1500" b="0" i="0">
                <a:solidFill>
                  <a:srgbClr val="FFFFFF"/>
                </a:solidFill>
                <a:latin typeface="Calibri"/>
              </a:rPr>
              <a:t>Claude Desktop, Claude Code, and Claude API all speak MCP natively</a:t>
            </a:r>
          </a:p>
          <a:p>
            <a:pPr>
              <a:spcAft>
                <a:spcPts val="1200"/>
              </a:spcAft>
            </a:pPr>
            <a:r>
              <a:rPr sz="1500" b="1" i="0">
                <a:solidFill>
                  <a:srgbClr val="629DD1"/>
                </a:solidFill>
                <a:latin typeface="Calibri"/>
              </a:rPr>
              <a:t>▸ </a:t>
            </a:r>
            <a:r>
              <a:rPr sz="1500" b="0" i="0">
                <a:solidFill>
                  <a:srgbClr val="FFFFFF"/>
                </a:solidFill>
                <a:latin typeface="Calibri"/>
              </a:rPr>
              <a:t>Claude Agent SDK for building your own production agents</a:t>
            </a:r>
          </a:p>
          <a:p>
            <a:pPr>
              <a:spcAft>
                <a:spcPts val="1200"/>
              </a:spcAft>
            </a:pPr>
            <a:r>
              <a:rPr sz="1500" b="1" i="0">
                <a:solidFill>
                  <a:srgbClr val="629DD1"/>
                </a:solidFill>
                <a:latin typeface="Calibri"/>
              </a:rPr>
              <a:t>▸ </a:t>
            </a:r>
            <a:r>
              <a:rPr sz="1500" b="1" i="0">
                <a:solidFill>
                  <a:srgbClr val="FFFFFF"/>
                </a:solidFill>
                <a:latin typeface="Calibri"/>
              </a:rPr>
              <a:t>Best fit: complex investigations, custom agent development</a:t>
            </a:r>
          </a:p>
        </p:txBody>
      </p:sp>
      <p:sp>
        <p:nvSpPr>
          <p:cNvPr id="9" name="Rounded Rectangle 8"/>
          <p:cNvSpPr/>
          <p:nvPr/>
        </p:nvSpPr>
        <p:spPr>
          <a:xfrm>
            <a:off x="4443984" y="1463040"/>
            <a:ext cx="3310128" cy="4343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672584" y="1691640"/>
            <a:ext cx="594360" cy="59436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hield.png"/>
          <p:cNvPicPr>
            <a:picLocks noChangeAspect="1"/>
          </p:cNvPicPr>
          <p:nvPr/>
        </p:nvPicPr>
        <p:blipFill>
          <a:blip r:embed="rId4"/>
          <a:stretch>
            <a:fillRect/>
          </a:stretch>
        </p:blipFill>
        <p:spPr>
          <a:xfrm>
            <a:off x="4821174" y="1840230"/>
            <a:ext cx="297180" cy="297180"/>
          </a:xfrm>
          <a:prstGeom prst="rect">
            <a:avLst/>
          </a:prstGeom>
        </p:spPr>
      </p:pic>
      <p:sp>
        <p:nvSpPr>
          <p:cNvPr id="12" name="TextBox 11"/>
          <p:cNvSpPr txBox="1"/>
          <p:nvPr/>
        </p:nvSpPr>
        <p:spPr>
          <a:xfrm>
            <a:off x="5404104" y="1664208"/>
            <a:ext cx="2212848" cy="365760"/>
          </a:xfrm>
          <a:prstGeom prst="rect">
            <a:avLst/>
          </a:prstGeom>
          <a:noFill/>
        </p:spPr>
        <p:txBody>
          <a:bodyPr wrap="square" lIns="0" tIns="18288" rIns="0" bIns="18288" anchor="t">
            <a:spAutoFit/>
          </a:bodyPr>
          <a:lstStyle/>
          <a:p>
            <a:pPr algn="l"/>
            <a:r>
              <a:rPr sz="2200" b="1" i="0">
                <a:solidFill>
                  <a:srgbClr val="FFFFFF"/>
                </a:solidFill>
                <a:latin typeface="Calibri"/>
              </a:rPr>
              <a:t>Copilot</a:t>
            </a:r>
          </a:p>
        </p:txBody>
      </p:sp>
      <p:sp>
        <p:nvSpPr>
          <p:cNvPr id="13" name="TextBox 12"/>
          <p:cNvSpPr txBox="1"/>
          <p:nvPr/>
        </p:nvSpPr>
        <p:spPr>
          <a:xfrm>
            <a:off x="5404104" y="2011680"/>
            <a:ext cx="2212848" cy="274320"/>
          </a:xfrm>
          <a:prstGeom prst="rect">
            <a:avLst/>
          </a:prstGeom>
          <a:noFill/>
        </p:spPr>
        <p:txBody>
          <a:bodyPr wrap="square" lIns="0" tIns="18288" rIns="0" bIns="18288" anchor="t">
            <a:spAutoFit/>
          </a:bodyPr>
          <a:lstStyle/>
          <a:p>
            <a:pPr algn="l"/>
            <a:r>
              <a:rPr sz="1100" b="0" i="0">
                <a:solidFill>
                  <a:srgbClr val="C9D6F0"/>
                </a:solidFill>
                <a:latin typeface="Calibri"/>
              </a:rPr>
              <a:t>Microsoft Security Copilot</a:t>
            </a:r>
          </a:p>
        </p:txBody>
      </p:sp>
      <p:sp>
        <p:nvSpPr>
          <p:cNvPr id="14" name="TextBox 13"/>
          <p:cNvSpPr txBox="1"/>
          <p:nvPr/>
        </p:nvSpPr>
        <p:spPr>
          <a:xfrm>
            <a:off x="4672584" y="2514600"/>
            <a:ext cx="2852928" cy="3291840"/>
          </a:xfrm>
          <a:prstGeom prst="rect">
            <a:avLst/>
          </a:prstGeom>
          <a:noFill/>
        </p:spPr>
        <p:txBody>
          <a:bodyPr wrap="square" lIns="0" tIns="18288" rIns="0" bIns="18288" anchor="t">
            <a:spAutoFit/>
          </a:bodyPr>
          <a:lstStyle/>
          <a:p>
            <a:pPr>
              <a:spcAft>
                <a:spcPts val="1200"/>
              </a:spcAft>
            </a:pPr>
            <a:r>
              <a:rPr sz="1500" b="1" i="0">
                <a:solidFill>
                  <a:srgbClr val="629DD1"/>
                </a:solidFill>
                <a:latin typeface="Calibri"/>
              </a:rPr>
              <a:t>▸ </a:t>
            </a:r>
            <a:r>
              <a:rPr sz="1500" b="0" i="0">
                <a:solidFill>
                  <a:srgbClr val="FFFFFF"/>
                </a:solidFill>
                <a:latin typeface="Calibri"/>
              </a:rPr>
              <a:t>Lives inside Defender XDR, Sentinel, Intune, and Entra</a:t>
            </a:r>
          </a:p>
          <a:p>
            <a:pPr>
              <a:spcAft>
                <a:spcPts val="1200"/>
              </a:spcAft>
            </a:pPr>
            <a:r>
              <a:rPr sz="1500" b="1" i="0">
                <a:solidFill>
                  <a:srgbClr val="629DD1"/>
                </a:solidFill>
                <a:latin typeface="Calibri"/>
              </a:rPr>
              <a:t>▸ </a:t>
            </a:r>
            <a:r>
              <a:rPr sz="1500" b="0" i="0">
                <a:solidFill>
                  <a:srgbClr val="FFFFFF"/>
                </a:solidFill>
                <a:latin typeface="Calibri"/>
              </a:rPr>
              <a:t>Prebuilt agents: phishing triage, conditional access optimization, more</a:t>
            </a:r>
          </a:p>
          <a:p>
            <a:pPr>
              <a:spcAft>
                <a:spcPts val="1200"/>
              </a:spcAft>
            </a:pPr>
            <a:r>
              <a:rPr sz="1500" b="1" i="0">
                <a:solidFill>
                  <a:srgbClr val="629DD1"/>
                </a:solidFill>
                <a:latin typeface="Calibri"/>
              </a:rPr>
              <a:t>▸ </a:t>
            </a:r>
            <a:r>
              <a:rPr sz="1500" b="0" i="0">
                <a:solidFill>
                  <a:srgbClr val="FFFFFF"/>
                </a:solidFill>
                <a:latin typeface="Calibri"/>
              </a:rPr>
              <a:t>Uses your tenant RBAC and audit trail automatically</a:t>
            </a:r>
          </a:p>
          <a:p>
            <a:pPr>
              <a:spcAft>
                <a:spcPts val="1200"/>
              </a:spcAft>
            </a:pPr>
            <a:r>
              <a:rPr sz="1500" b="1" i="0">
                <a:solidFill>
                  <a:srgbClr val="629DD1"/>
                </a:solidFill>
                <a:latin typeface="Calibri"/>
              </a:rPr>
              <a:t>▸ </a:t>
            </a:r>
            <a:r>
              <a:rPr sz="1500" b="1" i="0">
                <a:solidFill>
                  <a:srgbClr val="FFFFFF"/>
                </a:solidFill>
                <a:latin typeface="Calibri"/>
              </a:rPr>
              <a:t>Best fit: in-console triage and Microsoft-native automation</a:t>
            </a:r>
          </a:p>
        </p:txBody>
      </p:sp>
      <p:sp>
        <p:nvSpPr>
          <p:cNvPr id="15" name="Rounded Rectangle 14"/>
          <p:cNvSpPr/>
          <p:nvPr/>
        </p:nvSpPr>
        <p:spPr>
          <a:xfrm>
            <a:off x="8046720" y="1463040"/>
            <a:ext cx="3310128" cy="4343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275320" y="1691640"/>
            <a:ext cx="594360" cy="59436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omments.png"/>
          <p:cNvPicPr>
            <a:picLocks noChangeAspect="1"/>
          </p:cNvPicPr>
          <p:nvPr/>
        </p:nvPicPr>
        <p:blipFill>
          <a:blip r:embed="rId5"/>
          <a:stretch>
            <a:fillRect/>
          </a:stretch>
        </p:blipFill>
        <p:spPr>
          <a:xfrm>
            <a:off x="8423910" y="1840230"/>
            <a:ext cx="297180" cy="297180"/>
          </a:xfrm>
          <a:prstGeom prst="rect">
            <a:avLst/>
          </a:prstGeom>
        </p:spPr>
      </p:pic>
      <p:sp>
        <p:nvSpPr>
          <p:cNvPr id="18" name="TextBox 17"/>
          <p:cNvSpPr txBox="1"/>
          <p:nvPr/>
        </p:nvSpPr>
        <p:spPr>
          <a:xfrm>
            <a:off x="9006840" y="1664208"/>
            <a:ext cx="2212848" cy="365760"/>
          </a:xfrm>
          <a:prstGeom prst="rect">
            <a:avLst/>
          </a:prstGeom>
          <a:noFill/>
        </p:spPr>
        <p:txBody>
          <a:bodyPr wrap="square" lIns="0" tIns="18288" rIns="0" bIns="18288" anchor="t">
            <a:spAutoFit/>
          </a:bodyPr>
          <a:lstStyle/>
          <a:p>
            <a:pPr algn="l"/>
            <a:r>
              <a:rPr sz="2200" b="1" i="0">
                <a:solidFill>
                  <a:srgbClr val="FFFFFF"/>
                </a:solidFill>
                <a:latin typeface="Calibri"/>
              </a:rPr>
              <a:t>ChatGPT</a:t>
            </a:r>
          </a:p>
        </p:txBody>
      </p:sp>
      <p:sp>
        <p:nvSpPr>
          <p:cNvPr id="19" name="TextBox 18"/>
          <p:cNvSpPr txBox="1"/>
          <p:nvPr/>
        </p:nvSpPr>
        <p:spPr>
          <a:xfrm>
            <a:off x="9006840" y="2011680"/>
            <a:ext cx="2212848" cy="274320"/>
          </a:xfrm>
          <a:prstGeom prst="rect">
            <a:avLst/>
          </a:prstGeom>
          <a:noFill/>
        </p:spPr>
        <p:txBody>
          <a:bodyPr wrap="square" lIns="0" tIns="18288" rIns="0" bIns="18288" anchor="t">
            <a:spAutoFit/>
          </a:bodyPr>
          <a:lstStyle/>
          <a:p>
            <a:pPr algn="l"/>
            <a:r>
              <a:rPr sz="1100" b="0" i="0">
                <a:solidFill>
                  <a:srgbClr val="C9D6F0"/>
                </a:solidFill>
                <a:latin typeface="Calibri"/>
              </a:rPr>
              <a:t>OpenAI</a:t>
            </a:r>
          </a:p>
        </p:txBody>
      </p:sp>
      <p:sp>
        <p:nvSpPr>
          <p:cNvPr id="20" name="TextBox 19"/>
          <p:cNvSpPr txBox="1"/>
          <p:nvPr/>
        </p:nvSpPr>
        <p:spPr>
          <a:xfrm>
            <a:off x="8275320" y="2514600"/>
            <a:ext cx="2852928" cy="3291840"/>
          </a:xfrm>
          <a:prstGeom prst="rect">
            <a:avLst/>
          </a:prstGeom>
          <a:noFill/>
        </p:spPr>
        <p:txBody>
          <a:bodyPr wrap="square" lIns="0" tIns="18288" rIns="0" bIns="18288" anchor="t">
            <a:spAutoFit/>
          </a:bodyPr>
          <a:lstStyle/>
          <a:p>
            <a:pPr>
              <a:spcAft>
                <a:spcPts val="1200"/>
              </a:spcAft>
            </a:pPr>
            <a:r>
              <a:rPr sz="1500" b="1" i="0">
                <a:solidFill>
                  <a:srgbClr val="629DD1"/>
                </a:solidFill>
                <a:latin typeface="Calibri"/>
              </a:rPr>
              <a:t>▸ </a:t>
            </a:r>
            <a:r>
              <a:rPr sz="1500" b="0" i="0">
                <a:solidFill>
                  <a:srgbClr val="FFFFFF"/>
                </a:solidFill>
                <a:latin typeface="Calibri"/>
              </a:rPr>
              <a:t>Broad general knowledge and fast drafting of reports and KQL</a:t>
            </a:r>
          </a:p>
          <a:p>
            <a:pPr>
              <a:spcAft>
                <a:spcPts val="1200"/>
              </a:spcAft>
            </a:pPr>
            <a:r>
              <a:rPr sz="1500" b="1" i="0">
                <a:solidFill>
                  <a:srgbClr val="629DD1"/>
                </a:solidFill>
                <a:latin typeface="Calibri"/>
              </a:rPr>
              <a:t>▸ </a:t>
            </a:r>
            <a:r>
              <a:rPr sz="1500" b="0" i="0">
                <a:solidFill>
                  <a:srgbClr val="FFFFFF"/>
                </a:solidFill>
                <a:latin typeface="Calibri"/>
              </a:rPr>
              <a:t>Connectors (MCP) in Developer Mode reach Sentinel data lake</a:t>
            </a:r>
          </a:p>
          <a:p>
            <a:pPr>
              <a:spcAft>
                <a:spcPts val="1200"/>
              </a:spcAft>
            </a:pPr>
            <a:r>
              <a:rPr sz="1500" b="1" i="0">
                <a:solidFill>
                  <a:srgbClr val="629DD1"/>
                </a:solidFill>
                <a:latin typeface="Calibri"/>
              </a:rPr>
              <a:t>▸ </a:t>
            </a:r>
            <a:r>
              <a:rPr sz="1500" b="0" i="0">
                <a:solidFill>
                  <a:srgbClr val="FFFFFF"/>
                </a:solidFill>
                <a:latin typeface="Calibri"/>
              </a:rPr>
              <a:t>Widely adopted, low training cost for analysts</a:t>
            </a:r>
          </a:p>
          <a:p>
            <a:pPr>
              <a:spcAft>
                <a:spcPts val="1200"/>
              </a:spcAft>
            </a:pPr>
            <a:r>
              <a:rPr sz="1500" b="1" i="0">
                <a:solidFill>
                  <a:srgbClr val="629DD1"/>
                </a:solidFill>
                <a:latin typeface="Calibri"/>
              </a:rPr>
              <a:t>▸ </a:t>
            </a:r>
            <a:r>
              <a:rPr sz="1500" b="1" i="0">
                <a:solidFill>
                  <a:srgbClr val="FFFFFF"/>
                </a:solidFill>
                <a:latin typeface="Calibri"/>
              </a:rPr>
              <a:t>Best fit: analyst copilot for writing, summarizing, and explaining</a:t>
            </a:r>
          </a:p>
        </p:txBody>
      </p:sp>
      <p:sp>
        <p:nvSpPr>
          <p:cNvPr id="21" name="TextBox 20"/>
          <p:cNvSpPr txBox="1"/>
          <p:nvPr/>
        </p:nvSpPr>
        <p:spPr>
          <a:xfrm>
            <a:off x="841248" y="5989320"/>
            <a:ext cx="10515600" cy="365760"/>
          </a:xfrm>
          <a:prstGeom prst="rect">
            <a:avLst/>
          </a:prstGeom>
          <a:noFill/>
        </p:spPr>
        <p:txBody>
          <a:bodyPr wrap="square" lIns="0" tIns="18288" rIns="0" bIns="18288" anchor="t">
            <a:spAutoFit/>
          </a:bodyPr>
          <a:lstStyle/>
          <a:p>
            <a:pPr algn="l"/>
            <a:r>
              <a:rPr sz="1400" b="0" i="1">
                <a:solidFill>
                  <a:srgbClr val="C9D6F0"/>
                </a:solidFill>
                <a:latin typeface="Calibri"/>
              </a:rPr>
              <a:t>Route by task. Brand loyalty is not an architecture. Most SOCs run at least two of these against the same MCP servers.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MCP: The USB-C Port for Security Data</a:t>
            </a:r>
          </a:p>
        </p:txBody>
      </p:sp>
      <p:sp>
        <p:nvSpPr>
          <p:cNvPr id="3" name="TextBox 2"/>
          <p:cNvSpPr txBox="1"/>
          <p:nvPr/>
        </p:nvSpPr>
        <p:spPr>
          <a:xfrm>
            <a:off x="841248" y="1463040"/>
            <a:ext cx="3931920" cy="4480560"/>
          </a:xfrm>
          <a:prstGeom prst="rect">
            <a:avLst/>
          </a:prstGeom>
          <a:noFill/>
        </p:spPr>
        <p:txBody>
          <a:bodyPr wrap="square" lIns="0" tIns="18288" rIns="0" bIns="18288" anchor="t">
            <a:spAutoFit/>
          </a:bodyPr>
          <a:lstStyle/>
          <a:p>
            <a:pPr>
              <a:spcAft>
                <a:spcPts val="1000"/>
              </a:spcAft>
            </a:pPr>
            <a:r>
              <a:rPr sz="2000" b="1" i="0">
                <a:solidFill>
                  <a:srgbClr val="ACCBF9"/>
                </a:solidFill>
                <a:latin typeface="Calibri"/>
              </a:rPr>
              <a:t>Model Context Protocol (MCP)</a:t>
            </a:r>
          </a:p>
          <a:p>
            <a:pPr>
              <a:spcAft>
                <a:spcPts val="1000"/>
              </a:spcAft>
            </a:pPr>
            <a:r>
              <a:rPr sz="1400" b="0" i="0">
                <a:solidFill>
                  <a:srgbClr val="FFFFFF"/>
                </a:solidFill>
                <a:latin typeface="Calibri"/>
              </a:rPr>
              <a:t>An open standard that lets any AI client discover and call tools exposed by a server: query a table, fetch an incident, run a hunting query, open a ticket.</a:t>
            </a:r>
          </a:p>
          <a:p>
            <a:pPr>
              <a:spcAft>
                <a:spcPts val="1000"/>
              </a:spcAft>
            </a:pPr>
            <a:r>
              <a:rPr sz="1600" b="1" i="0">
                <a:solidFill>
                  <a:srgbClr val="ACCBF9"/>
                </a:solidFill>
                <a:latin typeface="Calibri"/>
              </a:rPr>
              <a:t>Why SOCs care</a:t>
            </a:r>
          </a:p>
          <a:p>
            <a:pPr>
              <a:spcAft>
                <a:spcPts val="1000"/>
              </a:spcAft>
            </a:pPr>
            <a:r>
              <a:rPr sz="1400" b="0" i="0">
                <a:solidFill>
                  <a:srgbClr val="FFFFFF"/>
                </a:solidFill>
                <a:latin typeface="Calibri"/>
              </a:rPr>
              <a:t>One integration per data source instead of one per assistant. Swap the model, keep the plumbing.</a:t>
            </a:r>
          </a:p>
          <a:p>
            <a:pPr>
              <a:spcAft>
                <a:spcPts val="1000"/>
              </a:spcAft>
            </a:pPr>
            <a:r>
              <a:rPr sz="1600" b="1" i="0">
                <a:solidFill>
                  <a:srgbClr val="ACCBF9"/>
                </a:solidFill>
                <a:latin typeface="Calibri"/>
              </a:rPr>
              <a:t>Microsoft Sentinel MCP server</a:t>
            </a:r>
          </a:p>
          <a:p>
            <a:pPr>
              <a:spcAft>
                <a:spcPts val="1000"/>
              </a:spcAft>
            </a:pPr>
            <a:r>
              <a:rPr sz="1400" b="0" i="0">
                <a:solidFill>
                  <a:srgbClr val="FFFFFF"/>
                </a:solidFill>
                <a:latin typeface="Calibri"/>
              </a:rPr>
              <a:t>Hosted by Microsoft, Entra auth, Security Reader minimum, scoped to your tenant. Collections: Data Exploration, Triage, Agent Creation.</a:t>
            </a:r>
          </a:p>
        </p:txBody>
      </p:sp>
      <p:sp>
        <p:nvSpPr>
          <p:cNvPr id="4" name="Rounded Rectangle 3"/>
          <p:cNvSpPr/>
          <p:nvPr/>
        </p:nvSpPr>
        <p:spPr>
          <a:xfrm>
            <a:off x="5212080" y="1554480"/>
            <a:ext cx="2194560"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212080" y="1554480"/>
            <a:ext cx="2194560" cy="777240"/>
          </a:xfrm>
          <a:prstGeom prst="rect">
            <a:avLst/>
          </a:prstGeom>
          <a:noFill/>
        </p:spPr>
        <p:txBody>
          <a:bodyPr wrap="square" lIns="0" tIns="18288" rIns="0" bIns="18288" anchor="ctr">
            <a:spAutoFit/>
          </a:bodyPr>
          <a:lstStyle/>
          <a:p>
            <a:pPr algn="ctr"/>
            <a:r>
              <a:rPr sz="1300" b="1" i="0">
                <a:solidFill>
                  <a:srgbClr val="FFFFFF"/>
                </a:solidFill>
                <a:latin typeface="Calibri"/>
              </a:rPr>
              <a:t>Claude Desktop / Code</a:t>
            </a:r>
          </a:p>
        </p:txBody>
      </p:sp>
      <p:sp>
        <p:nvSpPr>
          <p:cNvPr id="6" name="Right Arrow 5"/>
          <p:cNvSpPr/>
          <p:nvPr/>
        </p:nvSpPr>
        <p:spPr>
          <a:xfrm>
            <a:off x="7498079" y="181051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212080" y="2560320"/>
            <a:ext cx="2194560"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212080" y="2560320"/>
            <a:ext cx="2194560" cy="777240"/>
          </a:xfrm>
          <a:prstGeom prst="rect">
            <a:avLst/>
          </a:prstGeom>
          <a:noFill/>
        </p:spPr>
        <p:txBody>
          <a:bodyPr wrap="square" lIns="0" tIns="18288" rIns="0" bIns="18288" anchor="ctr">
            <a:spAutoFit/>
          </a:bodyPr>
          <a:lstStyle/>
          <a:p>
            <a:pPr algn="ctr"/>
            <a:r>
              <a:rPr sz="1300" b="1" i="0">
                <a:solidFill>
                  <a:srgbClr val="FFFFFF"/>
                </a:solidFill>
                <a:latin typeface="Calibri"/>
              </a:rPr>
              <a:t>Security Copilot</a:t>
            </a:r>
          </a:p>
        </p:txBody>
      </p:sp>
      <p:sp>
        <p:nvSpPr>
          <p:cNvPr id="9" name="Right Arrow 8"/>
          <p:cNvSpPr/>
          <p:nvPr/>
        </p:nvSpPr>
        <p:spPr>
          <a:xfrm>
            <a:off x="7498079" y="281635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212080" y="3566160"/>
            <a:ext cx="2194560"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212080" y="3566160"/>
            <a:ext cx="2194560" cy="777240"/>
          </a:xfrm>
          <a:prstGeom prst="rect">
            <a:avLst/>
          </a:prstGeom>
          <a:noFill/>
        </p:spPr>
        <p:txBody>
          <a:bodyPr wrap="square" lIns="0" tIns="18288" rIns="0" bIns="18288" anchor="ctr">
            <a:spAutoFit/>
          </a:bodyPr>
          <a:lstStyle/>
          <a:p>
            <a:pPr algn="ctr"/>
            <a:r>
              <a:rPr sz="1300" b="1" i="0">
                <a:solidFill>
                  <a:srgbClr val="FFFFFF"/>
                </a:solidFill>
                <a:latin typeface="Calibri"/>
              </a:rPr>
              <a:t>ChatGPT</a:t>
            </a:r>
          </a:p>
        </p:txBody>
      </p:sp>
      <p:sp>
        <p:nvSpPr>
          <p:cNvPr id="12" name="Right Arrow 11"/>
          <p:cNvSpPr/>
          <p:nvPr/>
        </p:nvSpPr>
        <p:spPr>
          <a:xfrm>
            <a:off x="7498079" y="382219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212080" y="4572000"/>
            <a:ext cx="2194560"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212080" y="4572000"/>
            <a:ext cx="2194560" cy="777240"/>
          </a:xfrm>
          <a:prstGeom prst="rect">
            <a:avLst/>
          </a:prstGeom>
          <a:noFill/>
        </p:spPr>
        <p:txBody>
          <a:bodyPr wrap="square" lIns="0" tIns="18288" rIns="0" bIns="18288" anchor="ctr">
            <a:spAutoFit/>
          </a:bodyPr>
          <a:lstStyle/>
          <a:p>
            <a:pPr algn="ctr"/>
            <a:r>
              <a:rPr sz="1300" b="1" i="0">
                <a:solidFill>
                  <a:srgbClr val="FFFFFF"/>
                </a:solidFill>
                <a:latin typeface="Calibri"/>
              </a:rPr>
              <a:t>VS Code / Copilot Studio</a:t>
            </a:r>
          </a:p>
        </p:txBody>
      </p:sp>
      <p:sp>
        <p:nvSpPr>
          <p:cNvPr id="15" name="Right Arrow 14"/>
          <p:cNvSpPr/>
          <p:nvPr/>
        </p:nvSpPr>
        <p:spPr>
          <a:xfrm>
            <a:off x="7498079" y="482803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92440" y="1554480"/>
            <a:ext cx="1463040" cy="3794760"/>
          </a:xfrm>
          <a:prstGeom prst="roundRect">
            <a:avLst>
              <a:gd name="adj" fmla="val 12000"/>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092440" y="1554480"/>
            <a:ext cx="1463040" cy="3794760"/>
          </a:xfrm>
          <a:prstGeom prst="rect">
            <a:avLst/>
          </a:prstGeom>
          <a:noFill/>
        </p:spPr>
        <p:txBody>
          <a:bodyPr wrap="square" lIns="0" tIns="18288" rIns="0" bIns="18288" anchor="ctr">
            <a:spAutoFit/>
          </a:bodyPr>
          <a:lstStyle/>
          <a:p>
            <a:pPr algn="ctr"/>
            <a:r>
              <a:rPr sz="1500" b="1" i="0">
                <a:solidFill>
                  <a:srgbClr val="FFFFFF"/>
                </a:solidFill>
                <a:latin typeface="Calibri"/>
              </a:rPr>
              <a:t>MCP</a:t>
            </a:r>
          </a:p>
          <a:p>
            <a:pPr algn="ctr"/>
            <a:r>
              <a:rPr sz="1500" b="1" i="0">
                <a:solidFill>
                  <a:srgbClr val="FFFFFF"/>
                </a:solidFill>
                <a:latin typeface="Calibri"/>
              </a:rPr>
              <a:t>Server</a:t>
            </a:r>
          </a:p>
          <a:p>
            <a:pPr algn="ctr"/>
            <a:endParaRPr sz="1500" b="1" i="0">
              <a:solidFill>
                <a:srgbClr val="FFFFFF"/>
              </a:solidFill>
              <a:latin typeface="Calibri"/>
            </a:endParaRPr>
          </a:p>
          <a:p>
            <a:pPr algn="ctr"/>
            <a:r>
              <a:rPr sz="1500" b="1" i="0">
                <a:solidFill>
                  <a:srgbClr val="FFFFFF"/>
                </a:solidFill>
                <a:latin typeface="Calibri"/>
              </a:rPr>
              <a:t>tools</a:t>
            </a:r>
          </a:p>
          <a:p>
            <a:pPr algn="ctr"/>
            <a:r>
              <a:rPr sz="1500" b="1" i="0">
                <a:solidFill>
                  <a:srgbClr val="FFFFFF"/>
                </a:solidFill>
                <a:latin typeface="Calibri"/>
              </a:rPr>
              <a:t>auth</a:t>
            </a:r>
          </a:p>
          <a:p>
            <a:pPr algn="ctr"/>
            <a:r>
              <a:rPr sz="1500" b="1" i="0">
                <a:solidFill>
                  <a:srgbClr val="FFFFFF"/>
                </a:solidFill>
                <a:latin typeface="Calibri"/>
              </a:rPr>
              <a:t>RBAC</a:t>
            </a:r>
          </a:p>
          <a:p>
            <a:pPr algn="ctr"/>
            <a:r>
              <a:rPr sz="1500" b="1" i="0">
                <a:solidFill>
                  <a:srgbClr val="FFFFFF"/>
                </a:solidFill>
                <a:latin typeface="Calibri"/>
              </a:rPr>
              <a:t>audit</a:t>
            </a:r>
          </a:p>
        </p:txBody>
      </p:sp>
      <p:sp>
        <p:nvSpPr>
          <p:cNvPr id="18" name="Right Arrow 17"/>
          <p:cNvSpPr/>
          <p:nvPr/>
        </p:nvSpPr>
        <p:spPr>
          <a:xfrm>
            <a:off x="9646920" y="181051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241280" y="1554480"/>
            <a:ext cx="1673352"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241280" y="1554480"/>
            <a:ext cx="1673352" cy="777240"/>
          </a:xfrm>
          <a:prstGeom prst="rect">
            <a:avLst/>
          </a:prstGeom>
          <a:noFill/>
        </p:spPr>
        <p:txBody>
          <a:bodyPr wrap="square" lIns="0" tIns="18288" rIns="0" bIns="18288" anchor="ctr">
            <a:spAutoFit/>
          </a:bodyPr>
          <a:lstStyle/>
          <a:p>
            <a:pPr algn="ctr"/>
            <a:r>
              <a:rPr sz="1200" b="1" i="0">
                <a:solidFill>
                  <a:srgbClr val="FFFFFF"/>
                </a:solidFill>
                <a:latin typeface="Calibri"/>
              </a:rPr>
              <a:t>Sentinel data lake</a:t>
            </a:r>
          </a:p>
        </p:txBody>
      </p:sp>
      <p:sp>
        <p:nvSpPr>
          <p:cNvPr id="21" name="Right Arrow 20"/>
          <p:cNvSpPr/>
          <p:nvPr/>
        </p:nvSpPr>
        <p:spPr>
          <a:xfrm>
            <a:off x="9646920" y="281635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241280" y="2560320"/>
            <a:ext cx="1673352"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241280" y="2560320"/>
            <a:ext cx="1673352" cy="777240"/>
          </a:xfrm>
          <a:prstGeom prst="rect">
            <a:avLst/>
          </a:prstGeom>
          <a:noFill/>
        </p:spPr>
        <p:txBody>
          <a:bodyPr wrap="square" lIns="0" tIns="18288" rIns="0" bIns="18288" anchor="ctr">
            <a:spAutoFit/>
          </a:bodyPr>
          <a:lstStyle/>
          <a:p>
            <a:pPr algn="ctr"/>
            <a:r>
              <a:rPr sz="1200" b="1" i="0">
                <a:solidFill>
                  <a:srgbClr val="FFFFFF"/>
                </a:solidFill>
                <a:latin typeface="Calibri"/>
              </a:rPr>
              <a:t>Defender XDR incidents &amp; alerts</a:t>
            </a:r>
          </a:p>
        </p:txBody>
      </p:sp>
      <p:sp>
        <p:nvSpPr>
          <p:cNvPr id="24" name="Right Arrow 23"/>
          <p:cNvSpPr/>
          <p:nvPr/>
        </p:nvSpPr>
        <p:spPr>
          <a:xfrm>
            <a:off x="9646920" y="382219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0241280" y="3566160"/>
            <a:ext cx="1673352"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241280" y="3566160"/>
            <a:ext cx="1673352" cy="777240"/>
          </a:xfrm>
          <a:prstGeom prst="rect">
            <a:avLst/>
          </a:prstGeom>
          <a:noFill/>
        </p:spPr>
        <p:txBody>
          <a:bodyPr wrap="square" lIns="0" tIns="18288" rIns="0" bIns="18288" anchor="ctr">
            <a:spAutoFit/>
          </a:bodyPr>
          <a:lstStyle/>
          <a:p>
            <a:pPr algn="ctr"/>
            <a:r>
              <a:rPr sz="1200" b="1" i="0">
                <a:solidFill>
                  <a:srgbClr val="FFFFFF"/>
                </a:solidFill>
                <a:latin typeface="Calibri"/>
              </a:rPr>
              <a:t>Advanced hunting (KQL)</a:t>
            </a:r>
          </a:p>
        </p:txBody>
      </p:sp>
      <p:sp>
        <p:nvSpPr>
          <p:cNvPr id="27" name="Right Arrow 26"/>
          <p:cNvSpPr/>
          <p:nvPr/>
        </p:nvSpPr>
        <p:spPr>
          <a:xfrm>
            <a:off x="9646920" y="4828032"/>
            <a:ext cx="502920" cy="274320"/>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241280" y="4572000"/>
            <a:ext cx="1673352" cy="7772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41280" y="4572000"/>
            <a:ext cx="1673352" cy="777240"/>
          </a:xfrm>
          <a:prstGeom prst="rect">
            <a:avLst/>
          </a:prstGeom>
          <a:noFill/>
        </p:spPr>
        <p:txBody>
          <a:bodyPr wrap="square" lIns="0" tIns="18288" rIns="0" bIns="18288" anchor="ctr">
            <a:spAutoFit/>
          </a:bodyPr>
          <a:lstStyle/>
          <a:p>
            <a:pPr algn="ctr"/>
            <a:r>
              <a:rPr sz="1200" b="1" i="0">
                <a:solidFill>
                  <a:srgbClr val="FFFFFF"/>
                </a:solidFill>
                <a:latin typeface="Calibri"/>
              </a:rPr>
              <a:t>Entity analyzers, TI, tickets</a:t>
            </a:r>
          </a:p>
        </p:txBody>
      </p:sp>
      <p:sp>
        <p:nvSpPr>
          <p:cNvPr id="30" name="TextBox 29"/>
          <p:cNvSpPr txBox="1"/>
          <p:nvPr/>
        </p:nvSpPr>
        <p:spPr>
          <a:xfrm>
            <a:off x="5212080" y="5532120"/>
            <a:ext cx="6766560" cy="457200"/>
          </a:xfrm>
          <a:prstGeom prst="rect">
            <a:avLst/>
          </a:prstGeom>
          <a:noFill/>
        </p:spPr>
        <p:txBody>
          <a:bodyPr wrap="square" lIns="0" tIns="18288" rIns="0" bIns="18288" anchor="t">
            <a:spAutoFit/>
          </a:bodyPr>
          <a:lstStyle/>
          <a:p>
            <a:pPr algn="l"/>
            <a:r>
              <a:rPr sz="1200" b="0" i="1">
                <a:solidFill>
                  <a:srgbClr val="C9D6F0"/>
                </a:solidFill>
                <a:latin typeface="Calibri"/>
              </a:rPr>
              <a:t>Any client on the left can call any tool on the right through the same server. Permissions are evaluated per user, per call.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From Chatbot to Agent: The Maturity Ladder</a:t>
            </a:r>
          </a:p>
        </p:txBody>
      </p:sp>
      <p:sp>
        <p:nvSpPr>
          <p:cNvPr id="3" name="Rounded Rectangle 2"/>
          <p:cNvSpPr/>
          <p:nvPr/>
        </p:nvSpPr>
        <p:spPr>
          <a:xfrm>
            <a:off x="841248" y="1417320"/>
            <a:ext cx="10515600" cy="10058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24128" y="16002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ments.png"/>
          <p:cNvPicPr>
            <a:picLocks noChangeAspect="1"/>
          </p:cNvPicPr>
          <p:nvPr/>
        </p:nvPicPr>
        <p:blipFill>
          <a:blip r:embed="rId3"/>
          <a:stretch>
            <a:fillRect/>
          </a:stretch>
        </p:blipFill>
        <p:spPr>
          <a:xfrm>
            <a:off x="1184148" y="1760220"/>
            <a:ext cx="320040" cy="320040"/>
          </a:xfrm>
          <a:prstGeom prst="rect">
            <a:avLst/>
          </a:prstGeom>
        </p:spPr>
      </p:pic>
      <p:sp>
        <p:nvSpPr>
          <p:cNvPr id="6" name="TextBox 5"/>
          <p:cNvSpPr txBox="1"/>
          <p:nvPr/>
        </p:nvSpPr>
        <p:spPr>
          <a:xfrm>
            <a:off x="1847088" y="1527048"/>
            <a:ext cx="2743200" cy="365760"/>
          </a:xfrm>
          <a:prstGeom prst="rect">
            <a:avLst/>
          </a:prstGeom>
          <a:noFill/>
        </p:spPr>
        <p:txBody>
          <a:bodyPr wrap="square" lIns="0" tIns="18288" rIns="0" bIns="18288" anchor="t">
            <a:spAutoFit/>
          </a:bodyPr>
          <a:lstStyle/>
          <a:p>
            <a:pPr algn="l"/>
            <a:r>
              <a:rPr sz="1800" b="1" i="0">
                <a:solidFill>
                  <a:srgbClr val="FFFFFF"/>
                </a:solidFill>
                <a:latin typeface="Calibri"/>
              </a:rPr>
              <a:t>Level 1: Assistant</a:t>
            </a:r>
          </a:p>
        </p:txBody>
      </p:sp>
      <p:sp>
        <p:nvSpPr>
          <p:cNvPr id="7" name="TextBox 6"/>
          <p:cNvSpPr txBox="1"/>
          <p:nvPr/>
        </p:nvSpPr>
        <p:spPr>
          <a:xfrm>
            <a:off x="1847088" y="1874519"/>
            <a:ext cx="5120640" cy="502920"/>
          </a:xfrm>
          <a:prstGeom prst="rect">
            <a:avLst/>
          </a:prstGeom>
          <a:noFill/>
        </p:spPr>
        <p:txBody>
          <a:bodyPr wrap="square" lIns="0" tIns="18288" rIns="0" bIns="18288" anchor="t">
            <a:spAutoFit/>
          </a:bodyPr>
          <a:lstStyle/>
          <a:p>
            <a:pPr algn="l"/>
            <a:r>
              <a:rPr sz="1250" b="0" i="0">
                <a:solidFill>
                  <a:srgbClr val="FFFFFF"/>
                </a:solidFill>
                <a:latin typeface="Calibri"/>
              </a:rPr>
              <a:t>Analyst pastes context into a chat. Model explains, summarizes, drafts KQL.</a:t>
            </a:r>
          </a:p>
        </p:txBody>
      </p:sp>
      <p:sp>
        <p:nvSpPr>
          <p:cNvPr id="8" name="TextBox 7"/>
          <p:cNvSpPr txBox="1"/>
          <p:nvPr/>
        </p:nvSpPr>
        <p:spPr>
          <a:xfrm>
            <a:off x="7150608" y="1554480"/>
            <a:ext cx="4023360" cy="777240"/>
          </a:xfrm>
          <a:prstGeom prst="rect">
            <a:avLst/>
          </a:prstGeom>
          <a:noFill/>
        </p:spPr>
        <p:txBody>
          <a:bodyPr wrap="square" lIns="0" tIns="18288" rIns="0" bIns="18288" anchor="ctr">
            <a:spAutoFit/>
          </a:bodyPr>
          <a:lstStyle/>
          <a:p>
            <a:pPr algn="l"/>
            <a:r>
              <a:rPr sz="1200" b="0" i="1">
                <a:solidFill>
                  <a:srgbClr val="C9D6F0"/>
                </a:solidFill>
                <a:latin typeface="Calibri"/>
              </a:rPr>
              <a:t>Value: faster writing. Risk: copy-paste data leakage.</a:t>
            </a:r>
          </a:p>
        </p:txBody>
      </p:sp>
      <p:sp>
        <p:nvSpPr>
          <p:cNvPr id="9" name="Rounded Rectangle 8"/>
          <p:cNvSpPr/>
          <p:nvPr/>
        </p:nvSpPr>
        <p:spPr>
          <a:xfrm>
            <a:off x="1344168" y="2560320"/>
            <a:ext cx="10012680" cy="100584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1527048" y="27432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lug.png"/>
          <p:cNvPicPr>
            <a:picLocks noChangeAspect="1"/>
          </p:cNvPicPr>
          <p:nvPr/>
        </p:nvPicPr>
        <p:blipFill>
          <a:blip r:embed="rId4"/>
          <a:stretch>
            <a:fillRect/>
          </a:stretch>
        </p:blipFill>
        <p:spPr>
          <a:xfrm>
            <a:off x="1687068" y="2903220"/>
            <a:ext cx="320040" cy="320040"/>
          </a:xfrm>
          <a:prstGeom prst="rect">
            <a:avLst/>
          </a:prstGeom>
        </p:spPr>
      </p:pic>
      <p:sp>
        <p:nvSpPr>
          <p:cNvPr id="12" name="TextBox 11"/>
          <p:cNvSpPr txBox="1"/>
          <p:nvPr/>
        </p:nvSpPr>
        <p:spPr>
          <a:xfrm>
            <a:off x="2350008" y="2670048"/>
            <a:ext cx="2743200" cy="365760"/>
          </a:xfrm>
          <a:prstGeom prst="rect">
            <a:avLst/>
          </a:prstGeom>
          <a:noFill/>
        </p:spPr>
        <p:txBody>
          <a:bodyPr wrap="square" lIns="0" tIns="18288" rIns="0" bIns="18288" anchor="t">
            <a:spAutoFit/>
          </a:bodyPr>
          <a:lstStyle/>
          <a:p>
            <a:pPr algn="l"/>
            <a:r>
              <a:rPr sz="1800" b="1" i="0">
                <a:solidFill>
                  <a:srgbClr val="FFFFFF"/>
                </a:solidFill>
                <a:latin typeface="Calibri"/>
              </a:rPr>
              <a:t>Level 2: Connected</a:t>
            </a:r>
          </a:p>
        </p:txBody>
      </p:sp>
      <p:sp>
        <p:nvSpPr>
          <p:cNvPr id="13" name="TextBox 12"/>
          <p:cNvSpPr txBox="1"/>
          <p:nvPr/>
        </p:nvSpPr>
        <p:spPr>
          <a:xfrm>
            <a:off x="2350008" y="3017520"/>
            <a:ext cx="5120640" cy="502920"/>
          </a:xfrm>
          <a:prstGeom prst="rect">
            <a:avLst/>
          </a:prstGeom>
          <a:noFill/>
        </p:spPr>
        <p:txBody>
          <a:bodyPr wrap="square" lIns="0" tIns="18288" rIns="0" bIns="18288" anchor="t">
            <a:spAutoFit/>
          </a:bodyPr>
          <a:lstStyle/>
          <a:p>
            <a:pPr algn="l"/>
            <a:r>
              <a:rPr sz="1250" b="0" i="0">
                <a:solidFill>
                  <a:srgbClr val="FFFFFF"/>
                </a:solidFill>
                <a:latin typeface="Calibri"/>
              </a:rPr>
              <a:t>Assistant reaches live data through MCP. Analyst asks, model queries and answers.</a:t>
            </a:r>
          </a:p>
        </p:txBody>
      </p:sp>
      <p:sp>
        <p:nvSpPr>
          <p:cNvPr id="14" name="TextBox 13"/>
          <p:cNvSpPr txBox="1"/>
          <p:nvPr/>
        </p:nvSpPr>
        <p:spPr>
          <a:xfrm>
            <a:off x="7653528" y="2697479"/>
            <a:ext cx="3520439" cy="777240"/>
          </a:xfrm>
          <a:prstGeom prst="rect">
            <a:avLst/>
          </a:prstGeom>
          <a:noFill/>
        </p:spPr>
        <p:txBody>
          <a:bodyPr wrap="square" lIns="0" tIns="18288" rIns="0" bIns="18288" anchor="ctr">
            <a:spAutoFit/>
          </a:bodyPr>
          <a:lstStyle/>
          <a:p>
            <a:pPr algn="l"/>
            <a:r>
              <a:rPr sz="1200" b="0" i="1">
                <a:solidFill>
                  <a:srgbClr val="C9D6F0"/>
                </a:solidFill>
                <a:latin typeface="Calibri"/>
              </a:rPr>
              <a:t>Value: no swivel chair. Risk: over-broad permissions.</a:t>
            </a:r>
          </a:p>
        </p:txBody>
      </p:sp>
      <p:sp>
        <p:nvSpPr>
          <p:cNvPr id="15" name="Rounded Rectangle 14"/>
          <p:cNvSpPr/>
          <p:nvPr/>
        </p:nvSpPr>
        <p:spPr>
          <a:xfrm>
            <a:off x="1847088" y="3703320"/>
            <a:ext cx="9509760" cy="100584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2029968" y="388620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obot.png"/>
          <p:cNvPicPr>
            <a:picLocks noChangeAspect="1"/>
          </p:cNvPicPr>
          <p:nvPr/>
        </p:nvPicPr>
        <p:blipFill>
          <a:blip r:embed="rId5"/>
          <a:stretch>
            <a:fillRect/>
          </a:stretch>
        </p:blipFill>
        <p:spPr>
          <a:xfrm>
            <a:off x="2189988" y="4046220"/>
            <a:ext cx="320040" cy="320040"/>
          </a:xfrm>
          <a:prstGeom prst="rect">
            <a:avLst/>
          </a:prstGeom>
        </p:spPr>
      </p:pic>
      <p:sp>
        <p:nvSpPr>
          <p:cNvPr id="18" name="TextBox 17"/>
          <p:cNvSpPr txBox="1"/>
          <p:nvPr/>
        </p:nvSpPr>
        <p:spPr>
          <a:xfrm>
            <a:off x="2852928" y="3813048"/>
            <a:ext cx="2743200" cy="365760"/>
          </a:xfrm>
          <a:prstGeom prst="rect">
            <a:avLst/>
          </a:prstGeom>
          <a:noFill/>
        </p:spPr>
        <p:txBody>
          <a:bodyPr wrap="square" lIns="0" tIns="18288" rIns="0" bIns="18288" anchor="t">
            <a:spAutoFit/>
          </a:bodyPr>
          <a:lstStyle/>
          <a:p>
            <a:pPr algn="l"/>
            <a:r>
              <a:rPr sz="1800" b="1" i="0">
                <a:solidFill>
                  <a:srgbClr val="FFFFFF"/>
                </a:solidFill>
                <a:latin typeface="Calibri"/>
              </a:rPr>
              <a:t>Level 3: Agent</a:t>
            </a:r>
          </a:p>
        </p:txBody>
      </p:sp>
      <p:sp>
        <p:nvSpPr>
          <p:cNvPr id="19" name="TextBox 18"/>
          <p:cNvSpPr txBox="1"/>
          <p:nvPr/>
        </p:nvSpPr>
        <p:spPr>
          <a:xfrm>
            <a:off x="2852928" y="4160520"/>
            <a:ext cx="5120640" cy="502920"/>
          </a:xfrm>
          <a:prstGeom prst="rect">
            <a:avLst/>
          </a:prstGeom>
          <a:noFill/>
        </p:spPr>
        <p:txBody>
          <a:bodyPr wrap="square" lIns="0" tIns="18288" rIns="0" bIns="18288" anchor="t">
            <a:spAutoFit/>
          </a:bodyPr>
          <a:lstStyle/>
          <a:p>
            <a:pPr algn="l"/>
            <a:r>
              <a:rPr sz="1250" b="0" i="0">
                <a:solidFill>
                  <a:srgbClr val="FFFFFF"/>
                </a:solidFill>
                <a:latin typeface="Calibri"/>
              </a:rPr>
              <a:t>Agent runs the triage loop on its own, proposes a disposition, waits for approval.</a:t>
            </a:r>
          </a:p>
        </p:txBody>
      </p:sp>
      <p:sp>
        <p:nvSpPr>
          <p:cNvPr id="20" name="TextBox 19"/>
          <p:cNvSpPr txBox="1"/>
          <p:nvPr/>
        </p:nvSpPr>
        <p:spPr>
          <a:xfrm>
            <a:off x="8156448" y="3840480"/>
            <a:ext cx="3017520" cy="777240"/>
          </a:xfrm>
          <a:prstGeom prst="rect">
            <a:avLst/>
          </a:prstGeom>
          <a:noFill/>
        </p:spPr>
        <p:txBody>
          <a:bodyPr wrap="square" lIns="0" tIns="18288" rIns="0" bIns="18288" anchor="ctr">
            <a:spAutoFit/>
          </a:bodyPr>
          <a:lstStyle/>
          <a:p>
            <a:pPr algn="l"/>
            <a:r>
              <a:rPr sz="1200" b="0" i="1">
                <a:solidFill>
                  <a:srgbClr val="C9D6F0"/>
                </a:solidFill>
                <a:latin typeface="Calibri"/>
              </a:rPr>
              <a:t>Value: 24x7 first pass. Risk: silent errors without review.</a:t>
            </a:r>
          </a:p>
        </p:txBody>
      </p:sp>
      <p:sp>
        <p:nvSpPr>
          <p:cNvPr id="21" name="Rounded Rectangle 20"/>
          <p:cNvSpPr/>
          <p:nvPr/>
        </p:nvSpPr>
        <p:spPr>
          <a:xfrm>
            <a:off x="2350008" y="4846320"/>
            <a:ext cx="9006840" cy="1005840"/>
          </a:xfrm>
          <a:prstGeom prst="roundRect">
            <a:avLst>
              <a:gd name="adj" fmla="val 8000"/>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2532888" y="5029200"/>
            <a:ext cx="640080" cy="64008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users.png"/>
          <p:cNvPicPr>
            <a:picLocks noChangeAspect="1"/>
          </p:cNvPicPr>
          <p:nvPr/>
        </p:nvPicPr>
        <p:blipFill>
          <a:blip r:embed="rId6"/>
          <a:stretch>
            <a:fillRect/>
          </a:stretch>
        </p:blipFill>
        <p:spPr>
          <a:xfrm>
            <a:off x="2692908" y="5189220"/>
            <a:ext cx="320040" cy="320040"/>
          </a:xfrm>
          <a:prstGeom prst="rect">
            <a:avLst/>
          </a:prstGeom>
        </p:spPr>
      </p:pic>
      <p:sp>
        <p:nvSpPr>
          <p:cNvPr id="24" name="TextBox 23"/>
          <p:cNvSpPr txBox="1"/>
          <p:nvPr/>
        </p:nvSpPr>
        <p:spPr>
          <a:xfrm>
            <a:off x="3355848" y="4956048"/>
            <a:ext cx="2743200" cy="365760"/>
          </a:xfrm>
          <a:prstGeom prst="rect">
            <a:avLst/>
          </a:prstGeom>
          <a:noFill/>
        </p:spPr>
        <p:txBody>
          <a:bodyPr wrap="square" lIns="0" tIns="18288" rIns="0" bIns="18288" anchor="t">
            <a:spAutoFit/>
          </a:bodyPr>
          <a:lstStyle/>
          <a:p>
            <a:pPr algn="l"/>
            <a:r>
              <a:rPr sz="1800" b="1" i="0">
                <a:solidFill>
                  <a:srgbClr val="FFFFFF"/>
                </a:solidFill>
                <a:latin typeface="Calibri"/>
              </a:rPr>
              <a:t>Level 4: Agentic SOC</a:t>
            </a:r>
          </a:p>
        </p:txBody>
      </p:sp>
      <p:sp>
        <p:nvSpPr>
          <p:cNvPr id="25" name="TextBox 24"/>
          <p:cNvSpPr txBox="1"/>
          <p:nvPr/>
        </p:nvSpPr>
        <p:spPr>
          <a:xfrm>
            <a:off x="3355848" y="5303520"/>
            <a:ext cx="5120640" cy="502920"/>
          </a:xfrm>
          <a:prstGeom prst="rect">
            <a:avLst/>
          </a:prstGeom>
          <a:noFill/>
        </p:spPr>
        <p:txBody>
          <a:bodyPr wrap="square" lIns="0" tIns="18288" rIns="0" bIns="18288" anchor="t">
            <a:spAutoFit/>
          </a:bodyPr>
          <a:lstStyle/>
          <a:p>
            <a:pPr algn="l"/>
            <a:r>
              <a:rPr sz="1250" b="0" i="0">
                <a:solidFill>
                  <a:srgbClr val="FFFFFF"/>
                </a:solidFill>
                <a:latin typeface="Calibri"/>
              </a:rPr>
              <a:t>Multiple specialized agents hand off: triage, enrichment, hunting, response.</a:t>
            </a:r>
          </a:p>
        </p:txBody>
      </p:sp>
      <p:sp>
        <p:nvSpPr>
          <p:cNvPr id="26" name="TextBox 25"/>
          <p:cNvSpPr txBox="1"/>
          <p:nvPr/>
        </p:nvSpPr>
        <p:spPr>
          <a:xfrm>
            <a:off x="8659368" y="4983480"/>
            <a:ext cx="2514600" cy="777240"/>
          </a:xfrm>
          <a:prstGeom prst="rect">
            <a:avLst/>
          </a:prstGeom>
          <a:noFill/>
        </p:spPr>
        <p:txBody>
          <a:bodyPr wrap="square" lIns="0" tIns="18288" rIns="0" bIns="18288" anchor="ctr">
            <a:spAutoFit/>
          </a:bodyPr>
          <a:lstStyle/>
          <a:p>
            <a:pPr algn="l"/>
            <a:r>
              <a:rPr sz="1200" b="0" i="1">
                <a:solidFill>
                  <a:srgbClr val="FFFFFF"/>
                </a:solidFill>
                <a:latin typeface="Calibri"/>
              </a:rPr>
              <a:t>Value: analysts hunt. Risk: governance debt if unmanaged.</a:t>
            </a:r>
          </a:p>
        </p:txBody>
      </p:sp>
      <p:sp>
        <p:nvSpPr>
          <p:cNvPr id="27" name="TextBox 26"/>
          <p:cNvSpPr txBox="1"/>
          <p:nvPr/>
        </p:nvSpPr>
        <p:spPr>
          <a:xfrm>
            <a:off x="841248" y="6035040"/>
            <a:ext cx="10515600" cy="658368"/>
          </a:xfrm>
          <a:prstGeom prst="rect">
            <a:avLst/>
          </a:prstGeom>
          <a:noFill/>
        </p:spPr>
        <p:txBody>
          <a:bodyPr wrap="square" lIns="0" tIns="18288" rIns="0" bIns="18288" anchor="t">
            <a:spAutoFit/>
          </a:bodyPr>
          <a:lstStyle/>
          <a:p>
            <a:pPr algn="l"/>
            <a:r>
              <a:rPr sz="1300" b="0" i="1">
                <a:solidFill>
                  <a:srgbClr val="C9D6F0"/>
                </a:solidFill>
                <a:latin typeface="Calibri"/>
              </a:rPr>
              <a:t>Mission 1 shows Level 2. Mission 2 shows Level 3. The rest of the session is how to get to Level 4 safely.</a:t>
            </a:r>
          </a:p>
          <a:p>
            <a:pPr algn="l"/>
            <a:r>
              <a:rPr sz="1300" b="0" i="1">
                <a:solidFill>
                  <a:srgbClr val="C9D6F0"/>
                </a:solidFill>
                <a:latin typeface="Calibri"/>
              </a:rPr>
              <a:t>This is not hypothetical: 76% of defenders say AI agents or assistants already handle more than 10% of their workload (Vectra AI,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a:xfrm>
            <a:off x="831850" y="658178"/>
            <a:ext cx="10515600" cy="2852737"/>
          </a:xfrm>
        </p:spPr>
        <p:txBody>
          <a:bodyPr/>
          <a:lstStyle/>
          <a:p>
            <a:r>
              <a:rPr lang="en-US"/>
              <a:t>Live Missions</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a:xfrm>
            <a:off x="831850" y="3537903"/>
            <a:ext cx="10515600" cy="1500187"/>
          </a:xfrm>
        </p:spPr>
        <p:txBody>
          <a:bodyPr>
            <a:normAutofit/>
          </a:bodyPr>
          <a:lstStyle/>
          <a:p>
            <a:r>
              <a:rPr lang="en-US" dirty="0"/>
              <a:t>Watch the pattern. Steal the pattern.</a:t>
            </a:r>
          </a:p>
        </p:txBody>
      </p:sp>
      <p:pic>
        <p:nvPicPr>
          <p:cNvPr id="6" name="Picture 5" descr="site.png"/>
          <p:cNvPicPr>
            <a:picLocks noChangeAspect="1"/>
          </p:cNvPicPr>
          <p:nvPr/>
        </p:nvPicPr>
        <p:blipFill>
          <a:blip r:embed="rId4"/>
          <a:stretch>
            <a:fillRect/>
          </a:stretch>
        </p:blipFill>
        <p:spPr>
          <a:xfrm>
            <a:off x="1481328" y="4087368"/>
            <a:ext cx="1463040" cy="1463040"/>
          </a:xfrm>
          <a:prstGeom prst="rect">
            <a:avLst/>
          </a:prstGeom>
        </p:spPr>
      </p:pic>
      <p:sp>
        <p:nvSpPr>
          <p:cNvPr id="7" name="TextBox 6"/>
          <p:cNvSpPr txBox="1"/>
          <p:nvPr/>
        </p:nvSpPr>
        <p:spPr>
          <a:xfrm>
            <a:off x="3154680" y="4526280"/>
            <a:ext cx="4754880" cy="365760"/>
          </a:xfrm>
          <a:prstGeom prst="rect">
            <a:avLst/>
          </a:prstGeom>
          <a:noFill/>
        </p:spPr>
        <p:txBody>
          <a:bodyPr wrap="none" anchor="ctr" tIns="0" bIns="0" lIns="0">
            <a:spAutoFit/>
          </a:bodyPr>
          <a:lstStyle/>
          <a:p>
            <a:pPr algn="l"/>
            <a:r>
              <a:rPr sz="1300" b="0">
                <a:solidFill>
                  <a:srgbClr val="C9D6F0"/>
                </a:solidFill>
              </a:rPr>
              <a:t>Run every demo yourself, in a browser</a:t>
            </a:r>
          </a:p>
        </p:txBody>
      </p:sp>
      <p:sp>
        <p:nvSpPr>
          <p:cNvPr id="8" name="TextBox 7"/>
          <p:cNvSpPr txBox="1"/>
          <p:nvPr/>
        </p:nvSpPr>
        <p:spPr>
          <a:xfrm>
            <a:off x="3154680" y="4892040"/>
            <a:ext cx="4754880" cy="365760"/>
          </a:xfrm>
          <a:prstGeom prst="rect">
            <a:avLst/>
          </a:prstGeom>
          <a:noFill/>
        </p:spPr>
        <p:txBody>
          <a:bodyPr wrap="none" anchor="ctr" tIns="0" bIns="0" lIns="0">
            <a:spAutoFit/>
          </a:bodyPr>
          <a:lstStyle/>
          <a:p>
            <a:pPr algn="l"/>
            <a:r>
              <a:rPr sz="1700" b="1">
                <a:solidFill>
                  <a:srgbClr val="F2B134"/>
                </a:solidFill>
              </a:rPr>
              <a:t>mms-midway-demos.vercel.app</a:t>
            </a:r>
          </a:p>
        </p:txBody>
      </p:sp>
      <p:sp>
        <p:nvSpPr>
          <p:cNvPr id="9" name="QR repo TextBox 6"/>
          <p:cNvSpPr txBox="1"/>
          <p:nvPr/>
        </p:nvSpPr>
        <p:spPr>
          <a:xfrm>
            <a:off x="8439912" y="4526280"/>
            <a:ext cx="4754880" cy="365760"/>
          </a:xfrm>
          <a:prstGeom prst="rect">
            <a:avLst/>
          </a:prstGeom>
          <a:noFill/>
        </p:spPr>
        <p:txBody>
          <a:bodyPr wrap="none" anchor="ctr" tIns="0" bIns="0" lIns="0">
            <a:spAutoFit/>
          </a:bodyPr>
          <a:lstStyle/>
          <a:p>
            <a:pPr algn="l"/>
            <a:r>
              <a:rPr sz="1300" b="0">
                <a:solidFill>
                  <a:srgbClr val="C9D6F0"/>
                </a:solidFill>
              </a:rPr>
              <a:t>All the code, prompts, and decks</a:t>
            </a:r>
          </a:p>
        </p:txBody>
      </p:sp>
      <p:sp>
        <p:nvSpPr>
          <p:cNvPr id="10" name="QR repo TextBox 7"/>
          <p:cNvSpPr txBox="1"/>
          <p:nvPr/>
        </p:nvSpPr>
        <p:spPr>
          <a:xfrm>
            <a:off x="8439912" y="4892040"/>
            <a:ext cx="4754880" cy="365760"/>
          </a:xfrm>
          <a:prstGeom prst="rect">
            <a:avLst/>
          </a:prstGeom>
          <a:noFill/>
        </p:spPr>
        <p:txBody>
          <a:bodyPr wrap="none" anchor="ctr" tIns="0" bIns="0" lIns="0">
            <a:spAutoFit/>
          </a:bodyPr>
          <a:lstStyle/>
          <a:p>
            <a:pPr algn="l"/>
            <a:r>
              <a:rPr sz="1700" b="1">
                <a:solidFill>
                  <a:srgbClr val="F2B134"/>
                </a:solidFill>
              </a:rPr>
              <a:t>go.rodtrent.com/go/eje7vdj</a:t>
            </a:r>
          </a:p>
        </p:txBody>
      </p:sp>
      <p:pic>
        <p:nvPicPr>
          <p:cNvPr id="11" name="QR repo Picture" descr="qr-repo.png"/>
          <p:cNvPicPr>
            <a:picLocks noChangeAspect="1"/>
          </p:cNvPicPr>
          <p:nvPr/>
        </p:nvPicPr>
        <p:blipFill>
          <a:blip r:embed="rId5"/>
          <a:stretch>
            <a:fillRect/>
          </a:stretch>
        </p:blipFill>
        <p:spPr>
          <a:xfrm>
            <a:off x="6766560" y="4087368"/>
            <a:ext cx="1463040" cy="1463040"/>
          </a:xfrm>
          <a:prstGeom prst="rect">
            <a:avLst/>
          </a:prstGeom>
        </p:spPr>
      </p:pic>
    </p:spTree>
    <p:extLst>
      <p:ext uri="{BB962C8B-B14F-4D97-AF65-F5344CB8AC3E}">
        <p14:creationId xmlns:p14="http://schemas.microsoft.com/office/powerpoint/2010/main" val="2279942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1: Wire the Model</a:t>
            </a:r>
          </a:p>
        </p:txBody>
      </p:sp>
      <p:sp>
        <p:nvSpPr>
          <p:cNvPr id="3" name="Text Placeholder 2"/>
          <p:cNvSpPr>
            <a:spLocks noGrp="1"/>
          </p:cNvSpPr>
          <p:nvPr>
            <p:ph type="body" idx="1"/>
          </p:nvPr>
        </p:nvSpPr>
        <p:spPr/>
        <p:txBody>
          <a:bodyPr/>
          <a:lstStyle/>
          <a:p>
            <a:r>
              <a:t>Connect Claude to the Sentinel MCP server and investigate in plain language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1 Walkthrough</a:t>
            </a:r>
          </a:p>
        </p:txBody>
      </p:sp>
      <p:sp>
        <p:nvSpPr>
          <p:cNvPr id="3" name="Rounded Rectangle 2"/>
          <p:cNvSpPr/>
          <p:nvPr/>
        </p:nvSpPr>
        <p:spPr>
          <a:xfrm>
            <a:off x="841248" y="1417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24128" y="1645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1</a:t>
            </a:r>
          </a:p>
        </p:txBody>
      </p:sp>
      <p:sp>
        <p:nvSpPr>
          <p:cNvPr id="5" name="TextBox 4"/>
          <p:cNvSpPr txBox="1"/>
          <p:nvPr/>
        </p:nvSpPr>
        <p:spPr>
          <a:xfrm>
            <a:off x="1709928" y="1527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Register the client</a:t>
            </a:r>
          </a:p>
        </p:txBody>
      </p:sp>
      <p:sp>
        <p:nvSpPr>
          <p:cNvPr id="6" name="TextBox 5"/>
          <p:cNvSpPr txBox="1"/>
          <p:nvPr/>
        </p:nvSpPr>
        <p:spPr>
          <a:xfrm>
            <a:off x="1709928" y="1856232"/>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Entra app registration with the Claude redirect URI and SentinelPlatform.DelegatedAccess permission.</a:t>
            </a:r>
          </a:p>
        </p:txBody>
      </p:sp>
      <p:sp>
        <p:nvSpPr>
          <p:cNvPr id="7" name="Rounded Rectangle 6"/>
          <p:cNvSpPr/>
          <p:nvPr/>
        </p:nvSpPr>
        <p:spPr>
          <a:xfrm>
            <a:off x="6190488" y="1417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373368" y="1645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2</a:t>
            </a:r>
          </a:p>
        </p:txBody>
      </p:sp>
      <p:sp>
        <p:nvSpPr>
          <p:cNvPr id="9" name="TextBox 8"/>
          <p:cNvSpPr txBox="1"/>
          <p:nvPr/>
        </p:nvSpPr>
        <p:spPr>
          <a:xfrm>
            <a:off x="7059168" y="1527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Add the connector</a:t>
            </a:r>
          </a:p>
        </p:txBody>
      </p:sp>
      <p:sp>
        <p:nvSpPr>
          <p:cNvPr id="10" name="TextBox 9"/>
          <p:cNvSpPr txBox="1"/>
          <p:nvPr/>
        </p:nvSpPr>
        <p:spPr>
          <a:xfrm>
            <a:off x="7059168" y="1856232"/>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Point Claude at https://sentinel.microsoft.com/mcp/data-exploration and complete the OAuth consent as a Security Reader.</a:t>
            </a:r>
          </a:p>
        </p:txBody>
      </p:sp>
      <p:sp>
        <p:nvSpPr>
          <p:cNvPr id="11" name="Rounded Rectangle 10"/>
          <p:cNvSpPr/>
          <p:nvPr/>
        </p:nvSpPr>
        <p:spPr>
          <a:xfrm>
            <a:off x="841248" y="2560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024128" y="2788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3</a:t>
            </a:r>
          </a:p>
        </p:txBody>
      </p:sp>
      <p:sp>
        <p:nvSpPr>
          <p:cNvPr id="13" name="TextBox 12"/>
          <p:cNvSpPr txBox="1"/>
          <p:nvPr/>
        </p:nvSpPr>
        <p:spPr>
          <a:xfrm>
            <a:off x="1709928" y="2670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Discover tools</a:t>
            </a:r>
          </a:p>
        </p:txBody>
      </p:sp>
      <p:sp>
        <p:nvSpPr>
          <p:cNvPr id="14" name="TextBox 13"/>
          <p:cNvSpPr txBox="1"/>
          <p:nvPr/>
        </p:nvSpPr>
        <p:spPr>
          <a:xfrm>
            <a:off x="1709928" y="2999232"/>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Claude lists the workspace and the tools it can call. No KQL, no schema knowledge required.</a:t>
            </a:r>
          </a:p>
        </p:txBody>
      </p:sp>
      <p:sp>
        <p:nvSpPr>
          <p:cNvPr id="15" name="Rounded Rectangle 14"/>
          <p:cNvSpPr/>
          <p:nvPr/>
        </p:nvSpPr>
        <p:spPr>
          <a:xfrm>
            <a:off x="6190488" y="2560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373368" y="2788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4</a:t>
            </a:r>
          </a:p>
        </p:txBody>
      </p:sp>
      <p:sp>
        <p:nvSpPr>
          <p:cNvPr id="17" name="TextBox 16"/>
          <p:cNvSpPr txBox="1"/>
          <p:nvPr/>
        </p:nvSpPr>
        <p:spPr>
          <a:xfrm>
            <a:off x="7059168" y="2670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Ask like an analyst</a:t>
            </a:r>
          </a:p>
        </p:txBody>
      </p:sp>
      <p:sp>
        <p:nvSpPr>
          <p:cNvPr id="18" name="TextBox 17"/>
          <p:cNvSpPr txBox="1"/>
          <p:nvPr/>
        </p:nvSpPr>
        <p:spPr>
          <a:xfrm>
            <a:off x="7059168" y="2999232"/>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"Which incidents from the last 24 hours involve a user with impossible travel plus a new MFA method?"</a:t>
            </a:r>
          </a:p>
        </p:txBody>
      </p:sp>
      <p:sp>
        <p:nvSpPr>
          <p:cNvPr id="19" name="Rounded Rectangle 18"/>
          <p:cNvSpPr/>
          <p:nvPr/>
        </p:nvSpPr>
        <p:spPr>
          <a:xfrm>
            <a:off x="841248" y="3703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024128" y="3931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5</a:t>
            </a:r>
          </a:p>
        </p:txBody>
      </p:sp>
      <p:sp>
        <p:nvSpPr>
          <p:cNvPr id="21" name="TextBox 20"/>
          <p:cNvSpPr txBox="1"/>
          <p:nvPr/>
        </p:nvSpPr>
        <p:spPr>
          <a:xfrm>
            <a:off x="1709928" y="3813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Watch it pivot</a:t>
            </a:r>
          </a:p>
        </p:txBody>
      </p:sp>
      <p:sp>
        <p:nvSpPr>
          <p:cNvPr id="22" name="TextBox 21"/>
          <p:cNvSpPr txBox="1"/>
          <p:nvPr/>
        </p:nvSpPr>
        <p:spPr>
          <a:xfrm>
            <a:off x="1709928" y="4142231"/>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Claude finds tables, runs the queries, correlates sign-in and audit data, and summarizes with evidence links.</a:t>
            </a:r>
          </a:p>
        </p:txBody>
      </p:sp>
      <p:sp>
        <p:nvSpPr>
          <p:cNvPr id="23" name="Rounded Rectangle 22"/>
          <p:cNvSpPr/>
          <p:nvPr/>
        </p:nvSpPr>
        <p:spPr>
          <a:xfrm>
            <a:off x="6190488" y="3703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373368" y="3931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6</a:t>
            </a:r>
          </a:p>
        </p:txBody>
      </p:sp>
      <p:sp>
        <p:nvSpPr>
          <p:cNvPr id="25" name="TextBox 24"/>
          <p:cNvSpPr txBox="1"/>
          <p:nvPr/>
        </p:nvSpPr>
        <p:spPr>
          <a:xfrm>
            <a:off x="7059168" y="3813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Check the audit</a:t>
            </a:r>
          </a:p>
        </p:txBody>
      </p:sp>
      <p:sp>
        <p:nvSpPr>
          <p:cNvPr id="26" name="TextBox 25"/>
          <p:cNvSpPr txBox="1"/>
          <p:nvPr/>
        </p:nvSpPr>
        <p:spPr>
          <a:xfrm>
            <a:off x="7059168" y="4142231"/>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Every tool call is visible in the transcript and in Sentinel. Same RBAC as the portal.</a:t>
            </a:r>
          </a:p>
        </p:txBody>
      </p:sp>
      <p:sp>
        <p:nvSpPr>
          <p:cNvPr id="27" name="Rounded Rectangle 26"/>
          <p:cNvSpPr/>
          <p:nvPr/>
        </p:nvSpPr>
        <p:spPr>
          <a:xfrm>
            <a:off x="841248" y="6144768"/>
            <a:ext cx="10515600" cy="603504"/>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exclaim.png"/>
          <p:cNvPicPr>
            <a:picLocks noChangeAspect="1"/>
          </p:cNvPicPr>
          <p:nvPr/>
        </p:nvPicPr>
        <p:blipFill>
          <a:blip r:embed="rId3"/>
          <a:stretch>
            <a:fillRect/>
          </a:stretch>
        </p:blipFill>
        <p:spPr>
          <a:xfrm>
            <a:off x="1024128" y="6245352"/>
            <a:ext cx="411480" cy="411480"/>
          </a:xfrm>
          <a:prstGeom prst="rect">
            <a:avLst/>
          </a:prstGeom>
        </p:spPr>
      </p:pic>
      <p:sp>
        <p:nvSpPr>
          <p:cNvPr id="29" name="TextBox 28"/>
          <p:cNvSpPr txBox="1"/>
          <p:nvPr/>
        </p:nvSpPr>
        <p:spPr>
          <a:xfrm>
            <a:off x="1554480" y="6144768"/>
            <a:ext cx="9692640" cy="603504"/>
          </a:xfrm>
          <a:prstGeom prst="rect">
            <a:avLst/>
          </a:prstGeom>
          <a:noFill/>
        </p:spPr>
        <p:txBody>
          <a:bodyPr wrap="square" lIns="0" tIns="18288" rIns="0" bIns="18288" anchor="ctr">
            <a:spAutoFit/>
          </a:bodyPr>
          <a:lstStyle/>
          <a:p>
            <a:pPr algn="l"/>
            <a:r>
              <a:rPr sz="1250" b="0" i="1">
                <a:solidFill>
                  <a:srgbClr val="FFFFFF"/>
                </a:solidFill>
                <a:latin typeface="Calibri"/>
              </a:rPr>
              <a:t>Fallback: if auth or connectivity fails, switch to the recorded run. The transcript screenshots on the backup slides show the same prompts and tool calls.</a:t>
            </a:r>
          </a:p>
        </p:txBody>
      </p:sp>
      <p:sp>
        <p:nvSpPr>
          <p:cNvPr id="30" name="Rounded Rectangle 98-g7"/>
          <p:cNvSpPr/>
          <p:nvPr/>
        </p:nvSpPr>
        <p:spPr>
          <a:xfrm>
            <a:off x="841248" y="4846320"/>
            <a:ext cx="5166360" cy="1024128"/>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99-g7"/>
          <p:cNvSpPr/>
          <p:nvPr/>
        </p:nvSpPr>
        <p:spPr>
          <a:xfrm>
            <a:off x="1024128" y="5074920"/>
            <a:ext cx="502920" cy="50292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40" b="1">
                <a:solidFill>
                  <a:srgbClr val="FFFFFF"/>
                </a:solidFill>
              </a:rPr>
              <a:t>7</a:t>
            </a:r>
          </a:p>
        </p:txBody>
      </p:sp>
      <p:sp>
        <p:nvSpPr>
          <p:cNvPr id="32" name="TextBox 90-g7"/>
          <p:cNvSpPr txBox="1"/>
          <p:nvPr/>
        </p:nvSpPr>
        <p:spPr>
          <a:xfrm>
            <a:off x="1709928" y="4956048"/>
            <a:ext cx="4160520" cy="320040"/>
          </a:xfrm>
          <a:prstGeom prst="rect">
            <a:avLst/>
          </a:prstGeom>
          <a:noFill/>
        </p:spPr>
        <p:txBody>
          <a:bodyPr wrap="square" lIns="0" tIns="18288" rIns="0" bIns="18288" anchor="t">
            <a:spAutoFit/>
          </a:bodyPr>
          <a:lstStyle/>
          <a:p>
            <a:pPr algn="l"/>
            <a:r>
              <a:rPr sz="1600" b="1" i="0">
                <a:solidFill>
                  <a:srgbClr val="FFFFFF"/>
                </a:solidFill>
                <a:latin typeface="Calibri"/>
              </a:rPr>
              <a:t>Map the blast radius</a:t>
            </a:r>
          </a:p>
        </p:txBody>
      </p:sp>
      <p:sp>
        <p:nvSpPr>
          <p:cNvPr id="33" name="TextBox 91-g7"/>
          <p:cNvSpPr txBox="1"/>
          <p:nvPr/>
        </p:nvSpPr>
        <p:spPr>
          <a:xfrm>
            <a:off x="1709928" y="5285231"/>
            <a:ext cx="4160520" cy="731520"/>
          </a:xfrm>
          <a:prstGeom prst="rect">
            <a:avLst/>
          </a:prstGeom>
          <a:noFill/>
        </p:spPr>
        <p:txBody>
          <a:bodyPr wrap="square" lIns="0" tIns="18288" rIns="0" bIns="18288" anchor="t">
            <a:spAutoFit/>
          </a:bodyPr>
          <a:lstStyle/>
          <a:p>
            <a:pPr algn="l"/>
            <a:r>
              <a:rPr sz="1200" b="0" i="0">
                <a:solidFill>
                  <a:srgbClr val="C9D6F0"/>
                </a:solidFill>
                <a:latin typeface="Calibri"/>
              </a:rPr>
              <a:t>Preview graph tools: what the account can actually reach, what is blocked and why, and why a reset alone will not close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Anatomy of a Triage Agent</a:t>
            </a:r>
          </a:p>
        </p:txBody>
      </p:sp>
      <p:sp>
        <p:nvSpPr>
          <p:cNvPr id="3" name="Rounded Rectangle 2"/>
          <p:cNvSpPr/>
          <p:nvPr/>
        </p:nvSpPr>
        <p:spPr>
          <a:xfrm>
            <a:off x="841248" y="1463040"/>
            <a:ext cx="1572768"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307592"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ell.png"/>
          <p:cNvPicPr>
            <a:picLocks noChangeAspect="1"/>
          </p:cNvPicPr>
          <p:nvPr/>
        </p:nvPicPr>
        <p:blipFill>
          <a:blip r:embed="rId3"/>
          <a:stretch>
            <a:fillRect/>
          </a:stretch>
        </p:blipFill>
        <p:spPr>
          <a:xfrm>
            <a:off x="1467612" y="1805940"/>
            <a:ext cx="320040" cy="320040"/>
          </a:xfrm>
          <a:prstGeom prst="rect">
            <a:avLst/>
          </a:prstGeom>
        </p:spPr>
      </p:pic>
      <p:sp>
        <p:nvSpPr>
          <p:cNvPr id="6" name="TextBox 5"/>
          <p:cNvSpPr txBox="1"/>
          <p:nvPr/>
        </p:nvSpPr>
        <p:spPr>
          <a:xfrm>
            <a:off x="932688" y="2377440"/>
            <a:ext cx="1389888" cy="365760"/>
          </a:xfrm>
          <a:prstGeom prst="rect">
            <a:avLst/>
          </a:prstGeom>
          <a:noFill/>
        </p:spPr>
        <p:txBody>
          <a:bodyPr wrap="square" lIns="0" tIns="18288" rIns="0" bIns="18288" anchor="t">
            <a:spAutoFit/>
          </a:bodyPr>
          <a:lstStyle/>
          <a:p>
            <a:pPr algn="ctr"/>
            <a:r>
              <a:rPr sz="1600" b="1" i="0">
                <a:solidFill>
                  <a:srgbClr val="FFFFFF"/>
                </a:solidFill>
                <a:latin typeface="Calibri"/>
              </a:rPr>
              <a:t>Ingest</a:t>
            </a:r>
          </a:p>
        </p:txBody>
      </p:sp>
      <p:sp>
        <p:nvSpPr>
          <p:cNvPr id="7" name="TextBox 6"/>
          <p:cNvSpPr txBox="1"/>
          <p:nvPr/>
        </p:nvSpPr>
        <p:spPr>
          <a:xfrm>
            <a:off x="950976" y="2743200"/>
            <a:ext cx="1353312" cy="1005840"/>
          </a:xfrm>
          <a:prstGeom prst="rect">
            <a:avLst/>
          </a:prstGeom>
          <a:noFill/>
        </p:spPr>
        <p:txBody>
          <a:bodyPr wrap="square" lIns="0" tIns="18288" rIns="0" bIns="18288" anchor="t">
            <a:spAutoFit/>
          </a:bodyPr>
          <a:lstStyle/>
          <a:p>
            <a:pPr algn="ctr"/>
            <a:r>
              <a:rPr sz="1100" b="0" i="0">
                <a:solidFill>
                  <a:srgbClr val="C9D6F0"/>
                </a:solidFill>
                <a:latin typeface="Calibri"/>
              </a:rPr>
              <a:t>New Defender incident or Sentinel alert triggers the run</a:t>
            </a:r>
          </a:p>
        </p:txBody>
      </p:sp>
      <p:sp>
        <p:nvSpPr>
          <p:cNvPr id="8" name="Right Arrow 7"/>
          <p:cNvSpPr/>
          <p:nvPr/>
        </p:nvSpPr>
        <p:spPr>
          <a:xfrm>
            <a:off x="2432304" y="2514600"/>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628900" y="1463040"/>
            <a:ext cx="1572768"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095244"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database.png"/>
          <p:cNvPicPr>
            <a:picLocks noChangeAspect="1"/>
          </p:cNvPicPr>
          <p:nvPr/>
        </p:nvPicPr>
        <p:blipFill>
          <a:blip r:embed="rId4"/>
          <a:stretch>
            <a:fillRect/>
          </a:stretch>
        </p:blipFill>
        <p:spPr>
          <a:xfrm>
            <a:off x="3255263" y="1805940"/>
            <a:ext cx="320040" cy="320040"/>
          </a:xfrm>
          <a:prstGeom prst="rect">
            <a:avLst/>
          </a:prstGeom>
        </p:spPr>
      </p:pic>
      <p:sp>
        <p:nvSpPr>
          <p:cNvPr id="12" name="TextBox 11"/>
          <p:cNvSpPr txBox="1"/>
          <p:nvPr/>
        </p:nvSpPr>
        <p:spPr>
          <a:xfrm>
            <a:off x="2720340" y="2377440"/>
            <a:ext cx="1389888" cy="365760"/>
          </a:xfrm>
          <a:prstGeom prst="rect">
            <a:avLst/>
          </a:prstGeom>
          <a:noFill/>
        </p:spPr>
        <p:txBody>
          <a:bodyPr wrap="square" lIns="0" tIns="18288" rIns="0" bIns="18288" anchor="t">
            <a:spAutoFit/>
          </a:bodyPr>
          <a:lstStyle/>
          <a:p>
            <a:pPr algn="ctr"/>
            <a:r>
              <a:rPr sz="1600" b="1" i="0">
                <a:solidFill>
                  <a:srgbClr val="FFFFFF"/>
                </a:solidFill>
                <a:latin typeface="Calibri"/>
              </a:rPr>
              <a:t>Correlate</a:t>
            </a:r>
          </a:p>
        </p:txBody>
      </p:sp>
      <p:sp>
        <p:nvSpPr>
          <p:cNvPr id="13" name="TextBox 12"/>
          <p:cNvSpPr txBox="1"/>
          <p:nvPr/>
        </p:nvSpPr>
        <p:spPr>
          <a:xfrm>
            <a:off x="2738628" y="2743200"/>
            <a:ext cx="1353312" cy="1005840"/>
          </a:xfrm>
          <a:prstGeom prst="rect">
            <a:avLst/>
          </a:prstGeom>
          <a:noFill/>
        </p:spPr>
        <p:txBody>
          <a:bodyPr wrap="square" lIns="0" tIns="18288" rIns="0" bIns="18288" anchor="t">
            <a:spAutoFit/>
          </a:bodyPr>
          <a:lstStyle/>
          <a:p>
            <a:pPr algn="ctr"/>
            <a:r>
              <a:rPr sz="1100" b="0" i="0">
                <a:solidFill>
                  <a:srgbClr val="C9D6F0"/>
                </a:solidFill>
                <a:latin typeface="Calibri"/>
              </a:rPr>
              <a:t>Pull related alerts, sign-ins, device events via MCP</a:t>
            </a:r>
          </a:p>
        </p:txBody>
      </p:sp>
      <p:sp>
        <p:nvSpPr>
          <p:cNvPr id="14" name="Right Arrow 13"/>
          <p:cNvSpPr/>
          <p:nvPr/>
        </p:nvSpPr>
        <p:spPr>
          <a:xfrm>
            <a:off x="4219955" y="2514600"/>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16552" y="1463040"/>
            <a:ext cx="1572768"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4882896"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lobe.png"/>
          <p:cNvPicPr>
            <a:picLocks noChangeAspect="1"/>
          </p:cNvPicPr>
          <p:nvPr/>
        </p:nvPicPr>
        <p:blipFill>
          <a:blip r:embed="rId5"/>
          <a:stretch>
            <a:fillRect/>
          </a:stretch>
        </p:blipFill>
        <p:spPr>
          <a:xfrm>
            <a:off x="5042916" y="1805940"/>
            <a:ext cx="320040" cy="320040"/>
          </a:xfrm>
          <a:prstGeom prst="rect">
            <a:avLst/>
          </a:prstGeom>
        </p:spPr>
      </p:pic>
      <p:sp>
        <p:nvSpPr>
          <p:cNvPr id="18" name="TextBox 17"/>
          <p:cNvSpPr txBox="1"/>
          <p:nvPr/>
        </p:nvSpPr>
        <p:spPr>
          <a:xfrm>
            <a:off x="4507992" y="2377440"/>
            <a:ext cx="1389888" cy="365760"/>
          </a:xfrm>
          <a:prstGeom prst="rect">
            <a:avLst/>
          </a:prstGeom>
          <a:noFill/>
        </p:spPr>
        <p:txBody>
          <a:bodyPr wrap="square" lIns="0" tIns="18288" rIns="0" bIns="18288" anchor="t">
            <a:spAutoFit/>
          </a:bodyPr>
          <a:lstStyle/>
          <a:p>
            <a:pPr algn="ctr"/>
            <a:r>
              <a:rPr sz="1600" b="1" i="0">
                <a:solidFill>
                  <a:srgbClr val="FFFFFF"/>
                </a:solidFill>
                <a:latin typeface="Calibri"/>
              </a:rPr>
              <a:t>Enrich</a:t>
            </a:r>
          </a:p>
        </p:txBody>
      </p:sp>
      <p:sp>
        <p:nvSpPr>
          <p:cNvPr id="19" name="TextBox 18"/>
          <p:cNvSpPr txBox="1"/>
          <p:nvPr/>
        </p:nvSpPr>
        <p:spPr>
          <a:xfrm>
            <a:off x="4526280" y="2743200"/>
            <a:ext cx="1353312" cy="1005840"/>
          </a:xfrm>
          <a:prstGeom prst="rect">
            <a:avLst/>
          </a:prstGeom>
          <a:noFill/>
        </p:spPr>
        <p:txBody>
          <a:bodyPr wrap="square" lIns="0" tIns="18288" rIns="0" bIns="18288" anchor="t">
            <a:spAutoFit/>
          </a:bodyPr>
          <a:lstStyle/>
          <a:p>
            <a:pPr algn="ctr"/>
            <a:r>
              <a:rPr sz="1100" b="0" i="0">
                <a:solidFill>
                  <a:srgbClr val="C9D6F0"/>
                </a:solidFill>
                <a:latin typeface="Calibri"/>
              </a:rPr>
              <a:t>TI lookups, entity analyzers, asset criticality, user risk</a:t>
            </a:r>
          </a:p>
        </p:txBody>
      </p:sp>
      <p:sp>
        <p:nvSpPr>
          <p:cNvPr id="20" name="Right Arrow 19"/>
          <p:cNvSpPr/>
          <p:nvPr/>
        </p:nvSpPr>
        <p:spPr>
          <a:xfrm>
            <a:off x="6007607" y="2514600"/>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04204" y="1463040"/>
            <a:ext cx="1572768"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670548"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rain.png"/>
          <p:cNvPicPr>
            <a:picLocks noChangeAspect="1"/>
          </p:cNvPicPr>
          <p:nvPr/>
        </p:nvPicPr>
        <p:blipFill>
          <a:blip r:embed="rId6"/>
          <a:stretch>
            <a:fillRect/>
          </a:stretch>
        </p:blipFill>
        <p:spPr>
          <a:xfrm>
            <a:off x="6830568" y="1805940"/>
            <a:ext cx="320040" cy="320040"/>
          </a:xfrm>
          <a:prstGeom prst="rect">
            <a:avLst/>
          </a:prstGeom>
        </p:spPr>
      </p:pic>
      <p:sp>
        <p:nvSpPr>
          <p:cNvPr id="24" name="TextBox 23"/>
          <p:cNvSpPr txBox="1"/>
          <p:nvPr/>
        </p:nvSpPr>
        <p:spPr>
          <a:xfrm>
            <a:off x="6295644" y="2377440"/>
            <a:ext cx="1389888" cy="365760"/>
          </a:xfrm>
          <a:prstGeom prst="rect">
            <a:avLst/>
          </a:prstGeom>
          <a:noFill/>
        </p:spPr>
        <p:txBody>
          <a:bodyPr wrap="square" lIns="0" tIns="18288" rIns="0" bIns="18288" anchor="t">
            <a:spAutoFit/>
          </a:bodyPr>
          <a:lstStyle/>
          <a:p>
            <a:pPr algn="ctr"/>
            <a:r>
              <a:rPr sz="1600" b="1" i="0">
                <a:solidFill>
                  <a:srgbClr val="FFFFFF"/>
                </a:solidFill>
                <a:latin typeface="Calibri"/>
              </a:rPr>
              <a:t>Reason</a:t>
            </a:r>
          </a:p>
        </p:txBody>
      </p:sp>
      <p:sp>
        <p:nvSpPr>
          <p:cNvPr id="25" name="TextBox 24"/>
          <p:cNvSpPr txBox="1"/>
          <p:nvPr/>
        </p:nvSpPr>
        <p:spPr>
          <a:xfrm>
            <a:off x="6313932" y="2743200"/>
            <a:ext cx="1353312" cy="1005840"/>
          </a:xfrm>
          <a:prstGeom prst="rect">
            <a:avLst/>
          </a:prstGeom>
          <a:noFill/>
        </p:spPr>
        <p:txBody>
          <a:bodyPr wrap="square" lIns="0" tIns="18288" rIns="0" bIns="18288" anchor="t">
            <a:spAutoFit/>
          </a:bodyPr>
          <a:lstStyle/>
          <a:p>
            <a:pPr algn="ctr"/>
            <a:r>
              <a:rPr sz="1100" b="0" i="0">
                <a:solidFill>
                  <a:srgbClr val="C9D6F0"/>
                </a:solidFill>
                <a:latin typeface="Calibri"/>
              </a:rPr>
              <a:t>Build timeline, score severity, draft disposition + rationale</a:t>
            </a:r>
          </a:p>
        </p:txBody>
      </p:sp>
      <p:sp>
        <p:nvSpPr>
          <p:cNvPr id="26" name="Right Arrow 25"/>
          <p:cNvSpPr/>
          <p:nvPr/>
        </p:nvSpPr>
        <p:spPr>
          <a:xfrm>
            <a:off x="7795260" y="2514600"/>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991856" y="1463040"/>
            <a:ext cx="1572768" cy="2331720"/>
          </a:xfrm>
          <a:prstGeom prst="roundRect">
            <a:avLst>
              <a:gd name="adj" fmla="val 8000"/>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8458200" y="1645920"/>
            <a:ext cx="640080" cy="64008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hand.png"/>
          <p:cNvPicPr>
            <a:picLocks noChangeAspect="1"/>
          </p:cNvPicPr>
          <p:nvPr/>
        </p:nvPicPr>
        <p:blipFill>
          <a:blip r:embed="rId7"/>
          <a:stretch>
            <a:fillRect/>
          </a:stretch>
        </p:blipFill>
        <p:spPr>
          <a:xfrm>
            <a:off x="8618220" y="1805940"/>
            <a:ext cx="320040" cy="320040"/>
          </a:xfrm>
          <a:prstGeom prst="rect">
            <a:avLst/>
          </a:prstGeom>
        </p:spPr>
      </p:pic>
      <p:sp>
        <p:nvSpPr>
          <p:cNvPr id="30" name="TextBox 29"/>
          <p:cNvSpPr txBox="1"/>
          <p:nvPr/>
        </p:nvSpPr>
        <p:spPr>
          <a:xfrm>
            <a:off x="8083296" y="2377440"/>
            <a:ext cx="1389888" cy="365760"/>
          </a:xfrm>
          <a:prstGeom prst="rect">
            <a:avLst/>
          </a:prstGeom>
          <a:noFill/>
        </p:spPr>
        <p:txBody>
          <a:bodyPr wrap="square" lIns="0" tIns="18288" rIns="0" bIns="18288" anchor="t">
            <a:spAutoFit/>
          </a:bodyPr>
          <a:lstStyle/>
          <a:p>
            <a:pPr algn="ctr"/>
            <a:r>
              <a:rPr sz="1600" b="1" i="0">
                <a:solidFill>
                  <a:srgbClr val="242852"/>
                </a:solidFill>
                <a:latin typeface="Calibri"/>
              </a:rPr>
              <a:t>Approve</a:t>
            </a:r>
          </a:p>
        </p:txBody>
      </p:sp>
      <p:sp>
        <p:nvSpPr>
          <p:cNvPr id="31" name="TextBox 30"/>
          <p:cNvSpPr txBox="1"/>
          <p:nvPr/>
        </p:nvSpPr>
        <p:spPr>
          <a:xfrm>
            <a:off x="8101583" y="2743200"/>
            <a:ext cx="1353312" cy="1005840"/>
          </a:xfrm>
          <a:prstGeom prst="rect">
            <a:avLst/>
          </a:prstGeom>
          <a:noFill/>
        </p:spPr>
        <p:txBody>
          <a:bodyPr wrap="square" lIns="0" tIns="18288" rIns="0" bIns="18288" anchor="t">
            <a:spAutoFit/>
          </a:bodyPr>
          <a:lstStyle/>
          <a:p>
            <a:pPr algn="ctr"/>
            <a:r>
              <a:rPr sz="1100" b="0" i="0">
                <a:solidFill>
                  <a:srgbClr val="242852"/>
                </a:solidFill>
                <a:latin typeface="Calibri"/>
              </a:rPr>
              <a:t>Human confirms, edits, or rejects. Nothing closes without it</a:t>
            </a:r>
          </a:p>
        </p:txBody>
      </p:sp>
      <p:sp>
        <p:nvSpPr>
          <p:cNvPr id="32" name="Right Arrow 31"/>
          <p:cNvSpPr/>
          <p:nvPr/>
        </p:nvSpPr>
        <p:spPr>
          <a:xfrm>
            <a:off x="9582912" y="2514600"/>
            <a:ext cx="178307" cy="237744"/>
          </a:xfrm>
          <a:prstGeom prst="rightArrow">
            <a:avLst/>
          </a:prstGeom>
          <a:solidFill>
            <a:srgbClr val="629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779508" y="1463040"/>
            <a:ext cx="1572768"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0245852" y="1645920"/>
            <a:ext cx="640080" cy="64008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check.png"/>
          <p:cNvPicPr>
            <a:picLocks noChangeAspect="1"/>
          </p:cNvPicPr>
          <p:nvPr/>
        </p:nvPicPr>
        <p:blipFill>
          <a:blip r:embed="rId8"/>
          <a:stretch>
            <a:fillRect/>
          </a:stretch>
        </p:blipFill>
        <p:spPr>
          <a:xfrm>
            <a:off x="10405872" y="1805940"/>
            <a:ext cx="320040" cy="320040"/>
          </a:xfrm>
          <a:prstGeom prst="rect">
            <a:avLst/>
          </a:prstGeom>
        </p:spPr>
      </p:pic>
      <p:sp>
        <p:nvSpPr>
          <p:cNvPr id="36" name="TextBox 35"/>
          <p:cNvSpPr txBox="1"/>
          <p:nvPr/>
        </p:nvSpPr>
        <p:spPr>
          <a:xfrm>
            <a:off x="9870948" y="2377440"/>
            <a:ext cx="1389888" cy="365760"/>
          </a:xfrm>
          <a:prstGeom prst="rect">
            <a:avLst/>
          </a:prstGeom>
          <a:noFill/>
        </p:spPr>
        <p:txBody>
          <a:bodyPr wrap="square" lIns="0" tIns="18288" rIns="0" bIns="18288" anchor="t">
            <a:spAutoFit/>
          </a:bodyPr>
          <a:lstStyle/>
          <a:p>
            <a:pPr algn="ctr"/>
            <a:r>
              <a:rPr sz="1600" b="1" i="0">
                <a:solidFill>
                  <a:srgbClr val="FFFFFF"/>
                </a:solidFill>
                <a:latin typeface="Calibri"/>
              </a:rPr>
              <a:t>Act</a:t>
            </a:r>
          </a:p>
        </p:txBody>
      </p:sp>
      <p:sp>
        <p:nvSpPr>
          <p:cNvPr id="37" name="TextBox 36"/>
          <p:cNvSpPr txBox="1"/>
          <p:nvPr/>
        </p:nvSpPr>
        <p:spPr>
          <a:xfrm>
            <a:off x="9889236" y="2743200"/>
            <a:ext cx="1353312" cy="1005840"/>
          </a:xfrm>
          <a:prstGeom prst="rect">
            <a:avLst/>
          </a:prstGeom>
          <a:noFill/>
        </p:spPr>
        <p:txBody>
          <a:bodyPr wrap="square" lIns="0" tIns="18288" rIns="0" bIns="18288" anchor="t">
            <a:spAutoFit/>
          </a:bodyPr>
          <a:lstStyle/>
          <a:p>
            <a:pPr algn="ctr"/>
            <a:r>
              <a:rPr sz="1100" b="0" i="0">
                <a:solidFill>
                  <a:srgbClr val="C9D6F0"/>
                </a:solidFill>
                <a:latin typeface="Calibri"/>
              </a:rPr>
              <a:t>Close as benign, escalate to Tier 2, or trigger response playbook</a:t>
            </a:r>
          </a:p>
        </p:txBody>
      </p:sp>
      <p:sp>
        <p:nvSpPr>
          <p:cNvPr id="38" name="Rounded Rectangle 37"/>
          <p:cNvSpPr/>
          <p:nvPr/>
        </p:nvSpPr>
        <p:spPr>
          <a:xfrm>
            <a:off x="841248" y="4069080"/>
            <a:ext cx="10515600" cy="196596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51560" y="4160520"/>
            <a:ext cx="10058400" cy="365760"/>
          </a:xfrm>
          <a:prstGeom prst="rect">
            <a:avLst/>
          </a:prstGeom>
          <a:noFill/>
        </p:spPr>
        <p:txBody>
          <a:bodyPr wrap="square" lIns="0" tIns="18288" rIns="0" bIns="18288" anchor="t">
            <a:spAutoFit/>
          </a:bodyPr>
          <a:lstStyle/>
          <a:p>
            <a:pPr algn="l"/>
            <a:r>
              <a:rPr sz="1600" b="1" i="0">
                <a:solidFill>
                  <a:srgbClr val="ACCBF9"/>
                </a:solidFill>
                <a:latin typeface="Calibri"/>
              </a:rPr>
              <a:t>What makes it production-ready</a:t>
            </a:r>
          </a:p>
        </p:txBody>
      </p:sp>
      <p:pic>
        <p:nvPicPr>
          <p:cNvPr id="40" name="Picture 39" descr="key.png"/>
          <p:cNvPicPr>
            <a:picLocks noChangeAspect="1"/>
          </p:cNvPicPr>
          <p:nvPr/>
        </p:nvPicPr>
        <p:blipFill>
          <a:blip r:embed="rId9"/>
          <a:stretch>
            <a:fillRect/>
          </a:stretch>
        </p:blipFill>
        <p:spPr>
          <a:xfrm>
            <a:off x="1051560" y="4617720"/>
            <a:ext cx="365760" cy="365760"/>
          </a:xfrm>
          <a:prstGeom prst="rect">
            <a:avLst/>
          </a:prstGeom>
        </p:spPr>
      </p:pic>
      <p:sp>
        <p:nvSpPr>
          <p:cNvPr id="41" name="TextBox 40"/>
          <p:cNvSpPr txBox="1"/>
          <p:nvPr/>
        </p:nvSpPr>
        <p:spPr>
          <a:xfrm>
            <a:off x="1508760" y="457200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Least-privilege identity</a:t>
            </a:r>
          </a:p>
        </p:txBody>
      </p:sp>
      <p:sp>
        <p:nvSpPr>
          <p:cNvPr id="42" name="TextBox 41"/>
          <p:cNvSpPr txBox="1"/>
          <p:nvPr/>
        </p:nvSpPr>
        <p:spPr>
          <a:xfrm>
            <a:off x="1508760" y="489204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Agent runs as its own workload identity with Security Reader plus scoped write actions</a:t>
            </a:r>
          </a:p>
        </p:txBody>
      </p:sp>
      <p:pic>
        <p:nvPicPr>
          <p:cNvPr id="43" name="Picture 42" descr="lock.png"/>
          <p:cNvPicPr>
            <a:picLocks noChangeAspect="1"/>
          </p:cNvPicPr>
          <p:nvPr/>
        </p:nvPicPr>
        <p:blipFill>
          <a:blip r:embed="rId10"/>
          <a:stretch>
            <a:fillRect/>
          </a:stretch>
        </p:blipFill>
        <p:spPr>
          <a:xfrm>
            <a:off x="3657600" y="4617720"/>
            <a:ext cx="365760" cy="365760"/>
          </a:xfrm>
          <a:prstGeom prst="rect">
            <a:avLst/>
          </a:prstGeom>
        </p:spPr>
      </p:pic>
      <p:sp>
        <p:nvSpPr>
          <p:cNvPr id="44" name="TextBox 43"/>
          <p:cNvSpPr txBox="1"/>
          <p:nvPr/>
        </p:nvSpPr>
        <p:spPr>
          <a:xfrm>
            <a:off x="4114800" y="457200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Tool allow-list</a:t>
            </a:r>
          </a:p>
        </p:txBody>
      </p:sp>
      <p:sp>
        <p:nvSpPr>
          <p:cNvPr id="45" name="TextBox 44"/>
          <p:cNvSpPr txBox="1"/>
          <p:nvPr/>
        </p:nvSpPr>
        <p:spPr>
          <a:xfrm>
            <a:off x="4114800" y="489204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Only approved MCP tools; destructive actions gated behind approval</a:t>
            </a:r>
          </a:p>
        </p:txBody>
      </p:sp>
      <p:pic>
        <p:nvPicPr>
          <p:cNvPr id="46" name="Picture 45" descr="clipboard.png"/>
          <p:cNvPicPr>
            <a:picLocks noChangeAspect="1"/>
          </p:cNvPicPr>
          <p:nvPr/>
        </p:nvPicPr>
        <p:blipFill>
          <a:blip r:embed="rId11"/>
          <a:stretch>
            <a:fillRect/>
          </a:stretch>
        </p:blipFill>
        <p:spPr>
          <a:xfrm>
            <a:off x="6263640" y="4617720"/>
            <a:ext cx="365760" cy="365760"/>
          </a:xfrm>
          <a:prstGeom prst="rect">
            <a:avLst/>
          </a:prstGeom>
        </p:spPr>
      </p:pic>
      <p:sp>
        <p:nvSpPr>
          <p:cNvPr id="47" name="TextBox 46"/>
          <p:cNvSpPr txBox="1"/>
          <p:nvPr/>
        </p:nvSpPr>
        <p:spPr>
          <a:xfrm>
            <a:off x="6720840" y="457200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Structured output</a:t>
            </a:r>
          </a:p>
        </p:txBody>
      </p:sp>
      <p:sp>
        <p:nvSpPr>
          <p:cNvPr id="48" name="TextBox 47"/>
          <p:cNvSpPr txBox="1"/>
          <p:nvPr/>
        </p:nvSpPr>
        <p:spPr>
          <a:xfrm>
            <a:off x="6720840" y="489204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Every run emits severity, confidence, evidence, and rationale as JSON</a:t>
            </a:r>
          </a:p>
        </p:txBody>
      </p:sp>
      <p:pic>
        <p:nvPicPr>
          <p:cNvPr id="49" name="Picture 48" descr="eye.png"/>
          <p:cNvPicPr>
            <a:picLocks noChangeAspect="1"/>
          </p:cNvPicPr>
          <p:nvPr/>
        </p:nvPicPr>
        <p:blipFill>
          <a:blip r:embed="rId12"/>
          <a:stretch>
            <a:fillRect/>
          </a:stretch>
        </p:blipFill>
        <p:spPr>
          <a:xfrm>
            <a:off x="8869680" y="4617720"/>
            <a:ext cx="365760" cy="365760"/>
          </a:xfrm>
          <a:prstGeom prst="rect">
            <a:avLst/>
          </a:prstGeom>
        </p:spPr>
      </p:pic>
      <p:sp>
        <p:nvSpPr>
          <p:cNvPr id="50" name="TextBox 49"/>
          <p:cNvSpPr txBox="1"/>
          <p:nvPr/>
        </p:nvSpPr>
        <p:spPr>
          <a:xfrm>
            <a:off x="9326880" y="4572000"/>
            <a:ext cx="2103120" cy="320040"/>
          </a:xfrm>
          <a:prstGeom prst="rect">
            <a:avLst/>
          </a:prstGeom>
          <a:noFill/>
        </p:spPr>
        <p:txBody>
          <a:bodyPr wrap="square" lIns="0" tIns="18288" rIns="0" bIns="18288" anchor="t">
            <a:spAutoFit/>
          </a:bodyPr>
          <a:lstStyle/>
          <a:p>
            <a:pPr algn="l"/>
            <a:r>
              <a:rPr sz="1300" b="1" i="0">
                <a:solidFill>
                  <a:srgbClr val="FFFFFF"/>
                </a:solidFill>
                <a:latin typeface="Calibri"/>
              </a:rPr>
              <a:t>Full observability</a:t>
            </a:r>
          </a:p>
        </p:txBody>
      </p:sp>
      <p:sp>
        <p:nvSpPr>
          <p:cNvPr id="51" name="TextBox 50"/>
          <p:cNvSpPr txBox="1"/>
          <p:nvPr/>
        </p:nvSpPr>
        <p:spPr>
          <a:xfrm>
            <a:off x="9326880" y="4892040"/>
            <a:ext cx="2103120" cy="1097280"/>
          </a:xfrm>
          <a:prstGeom prst="rect">
            <a:avLst/>
          </a:prstGeom>
          <a:noFill/>
        </p:spPr>
        <p:txBody>
          <a:bodyPr wrap="square" lIns="0" tIns="18288" rIns="0" bIns="18288" anchor="t">
            <a:spAutoFit/>
          </a:bodyPr>
          <a:lstStyle/>
          <a:p>
            <a:pPr algn="l"/>
            <a:r>
              <a:rPr sz="1100" b="0" i="0">
                <a:solidFill>
                  <a:srgbClr val="C9D6F0"/>
                </a:solidFill>
                <a:latin typeface="Calibri"/>
              </a:rPr>
              <a:t>Prompts, tool calls, and decisions logged to Sentinel for audit and tuning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2: Auto-Triage + HITL</a:t>
            </a:r>
          </a:p>
        </p:txBody>
      </p:sp>
      <p:sp>
        <p:nvSpPr>
          <p:cNvPr id="3" name="Text Placeholder 2"/>
          <p:cNvSpPr>
            <a:spLocks noGrp="1"/>
          </p:cNvSpPr>
          <p:nvPr>
            <p:ph type="body" idx="1"/>
          </p:nvPr>
        </p:nvSpPr>
        <p:spPr/>
        <p:txBody>
          <a:bodyPr/>
          <a:lstStyle/>
          <a:p>
            <a:r>
              <a:t>An agent works a live incident end to end, then asks before it acts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Mission 2 Walkthrough</a:t>
            </a:r>
          </a:p>
        </p:txBody>
      </p:sp>
      <p:sp>
        <p:nvSpPr>
          <p:cNvPr id="3" name="Oval 2"/>
          <p:cNvSpPr/>
          <p:nvPr/>
        </p:nvSpPr>
        <p:spPr>
          <a:xfrm>
            <a:off x="841248" y="1463040"/>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4" name="TextBox 3"/>
          <p:cNvSpPr txBox="1"/>
          <p:nvPr/>
        </p:nvSpPr>
        <p:spPr>
          <a:xfrm>
            <a:off x="1463040" y="1399032"/>
            <a:ext cx="4572000" cy="320040"/>
          </a:xfrm>
          <a:prstGeom prst="rect">
            <a:avLst/>
          </a:prstGeom>
          <a:noFill/>
        </p:spPr>
        <p:txBody>
          <a:bodyPr wrap="square" lIns="0" tIns="18288" rIns="0" bIns="18288" anchor="t">
            <a:spAutoFit/>
          </a:bodyPr>
          <a:lstStyle/>
          <a:p>
            <a:pPr algn="l"/>
            <a:r>
              <a:rPr sz="1600" b="1" i="0">
                <a:solidFill>
                  <a:srgbClr val="FFFFFF"/>
                </a:solidFill>
                <a:latin typeface="Calibri"/>
              </a:rPr>
              <a:t>Kick off</a:t>
            </a:r>
          </a:p>
        </p:txBody>
      </p:sp>
      <p:sp>
        <p:nvSpPr>
          <p:cNvPr id="5" name="TextBox 4"/>
          <p:cNvSpPr txBox="1"/>
          <p:nvPr/>
        </p:nvSpPr>
        <p:spPr>
          <a:xfrm>
            <a:off x="1463040" y="1709928"/>
            <a:ext cx="4572000" cy="594360"/>
          </a:xfrm>
          <a:prstGeom prst="rect">
            <a:avLst/>
          </a:prstGeom>
          <a:noFill/>
        </p:spPr>
        <p:txBody>
          <a:bodyPr wrap="square" lIns="0" tIns="18288" rIns="0" bIns="18288" anchor="t">
            <a:spAutoFit/>
          </a:bodyPr>
          <a:lstStyle/>
          <a:p>
            <a:pPr algn="l"/>
            <a:r>
              <a:rPr sz="1200" b="0" i="0">
                <a:solidFill>
                  <a:srgbClr val="C9D6F0"/>
                </a:solidFill>
                <a:latin typeface="Calibri"/>
              </a:rPr>
              <a:t>Agent picks the oldest unassigned medium+ incident from Defender XDR.</a:t>
            </a:r>
          </a:p>
        </p:txBody>
      </p:sp>
      <p:sp>
        <p:nvSpPr>
          <p:cNvPr id="6" name="Oval 5"/>
          <p:cNvSpPr/>
          <p:nvPr/>
        </p:nvSpPr>
        <p:spPr>
          <a:xfrm>
            <a:off x="841248" y="2359152"/>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7" name="TextBox 6"/>
          <p:cNvSpPr txBox="1"/>
          <p:nvPr/>
        </p:nvSpPr>
        <p:spPr>
          <a:xfrm>
            <a:off x="1463040" y="2295144"/>
            <a:ext cx="4572000" cy="320040"/>
          </a:xfrm>
          <a:prstGeom prst="rect">
            <a:avLst/>
          </a:prstGeom>
          <a:noFill/>
        </p:spPr>
        <p:txBody>
          <a:bodyPr wrap="square" lIns="0" tIns="18288" rIns="0" bIns="18288" anchor="t">
            <a:spAutoFit/>
          </a:bodyPr>
          <a:lstStyle/>
          <a:p>
            <a:pPr algn="l"/>
            <a:r>
              <a:rPr sz="1600" b="1" i="0">
                <a:solidFill>
                  <a:srgbClr val="FFFFFF"/>
                </a:solidFill>
                <a:latin typeface="Calibri"/>
              </a:rPr>
              <a:t>Correlate and enrich</a:t>
            </a:r>
          </a:p>
        </p:txBody>
      </p:sp>
      <p:sp>
        <p:nvSpPr>
          <p:cNvPr id="8" name="TextBox 7"/>
          <p:cNvSpPr txBox="1"/>
          <p:nvPr/>
        </p:nvSpPr>
        <p:spPr>
          <a:xfrm>
            <a:off x="1463040" y="2606040"/>
            <a:ext cx="4572000" cy="594360"/>
          </a:xfrm>
          <a:prstGeom prst="rect">
            <a:avLst/>
          </a:prstGeom>
          <a:noFill/>
        </p:spPr>
        <p:txBody>
          <a:bodyPr wrap="square" lIns="0" tIns="18288" rIns="0" bIns="18288" anchor="t">
            <a:spAutoFit/>
          </a:bodyPr>
          <a:lstStyle/>
          <a:p>
            <a:pPr algn="l"/>
            <a:r>
              <a:rPr sz="1200" b="0" i="0">
                <a:solidFill>
                  <a:srgbClr val="C9D6F0"/>
                </a:solidFill>
                <a:latin typeface="Calibri"/>
              </a:rPr>
              <a:t>Fetches alerts and evidence, runs advanced hunting for the user and device, calls the user entity analyzer.</a:t>
            </a:r>
          </a:p>
        </p:txBody>
      </p:sp>
      <p:sp>
        <p:nvSpPr>
          <p:cNvPr id="9" name="Oval 8"/>
          <p:cNvSpPr/>
          <p:nvPr/>
        </p:nvSpPr>
        <p:spPr>
          <a:xfrm>
            <a:off x="841248" y="3255263"/>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10" name="TextBox 9"/>
          <p:cNvSpPr txBox="1"/>
          <p:nvPr/>
        </p:nvSpPr>
        <p:spPr>
          <a:xfrm>
            <a:off x="1463040" y="3191256"/>
            <a:ext cx="4572000" cy="320040"/>
          </a:xfrm>
          <a:prstGeom prst="rect">
            <a:avLst/>
          </a:prstGeom>
          <a:noFill/>
        </p:spPr>
        <p:txBody>
          <a:bodyPr wrap="square" lIns="0" tIns="18288" rIns="0" bIns="18288" anchor="t">
            <a:spAutoFit/>
          </a:bodyPr>
          <a:lstStyle/>
          <a:p>
            <a:pPr algn="l"/>
            <a:r>
              <a:rPr sz="1600" b="1" i="0">
                <a:solidFill>
                  <a:srgbClr val="FFFFFF"/>
                </a:solidFill>
                <a:latin typeface="Calibri"/>
              </a:rPr>
              <a:t>Reason</a:t>
            </a:r>
          </a:p>
        </p:txBody>
      </p:sp>
      <p:sp>
        <p:nvSpPr>
          <p:cNvPr id="11" name="TextBox 10"/>
          <p:cNvSpPr txBox="1"/>
          <p:nvPr/>
        </p:nvSpPr>
        <p:spPr>
          <a:xfrm>
            <a:off x="1463040" y="3502151"/>
            <a:ext cx="4572000" cy="594360"/>
          </a:xfrm>
          <a:prstGeom prst="rect">
            <a:avLst/>
          </a:prstGeom>
          <a:noFill/>
        </p:spPr>
        <p:txBody>
          <a:bodyPr wrap="square" lIns="0" tIns="18288" rIns="0" bIns="18288" anchor="t">
            <a:spAutoFit/>
          </a:bodyPr>
          <a:lstStyle/>
          <a:p>
            <a:pPr algn="l"/>
            <a:r>
              <a:rPr sz="1200" b="0" i="0">
                <a:solidFill>
                  <a:srgbClr val="C9D6F0"/>
                </a:solidFill>
                <a:latin typeface="Calibri"/>
              </a:rPr>
              <a:t>Produces a timeline, a severity score, and a proposed disposition with cited evidence.</a:t>
            </a:r>
          </a:p>
        </p:txBody>
      </p:sp>
      <p:sp>
        <p:nvSpPr>
          <p:cNvPr id="12" name="Oval 11"/>
          <p:cNvSpPr/>
          <p:nvPr/>
        </p:nvSpPr>
        <p:spPr>
          <a:xfrm>
            <a:off x="841248" y="4151376"/>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13" name="TextBox 12"/>
          <p:cNvSpPr txBox="1"/>
          <p:nvPr/>
        </p:nvSpPr>
        <p:spPr>
          <a:xfrm>
            <a:off x="1463040" y="4087368"/>
            <a:ext cx="4572000" cy="320040"/>
          </a:xfrm>
          <a:prstGeom prst="rect">
            <a:avLst/>
          </a:prstGeom>
          <a:noFill/>
        </p:spPr>
        <p:txBody>
          <a:bodyPr wrap="square" lIns="0" tIns="18288" rIns="0" bIns="18288" anchor="t">
            <a:spAutoFit/>
          </a:bodyPr>
          <a:lstStyle/>
          <a:p>
            <a:pPr algn="l"/>
            <a:r>
              <a:rPr sz="1600" b="1" i="0">
                <a:solidFill>
                  <a:srgbClr val="FFFFFF"/>
                </a:solidFill>
                <a:latin typeface="Calibri"/>
              </a:rPr>
              <a:t>Ask for approval</a:t>
            </a:r>
          </a:p>
        </p:txBody>
      </p:sp>
      <p:sp>
        <p:nvSpPr>
          <p:cNvPr id="14" name="TextBox 13"/>
          <p:cNvSpPr txBox="1"/>
          <p:nvPr/>
        </p:nvSpPr>
        <p:spPr>
          <a:xfrm>
            <a:off x="1463040" y="4398264"/>
            <a:ext cx="4572000" cy="594360"/>
          </a:xfrm>
          <a:prstGeom prst="rect">
            <a:avLst/>
          </a:prstGeom>
          <a:noFill/>
        </p:spPr>
        <p:txBody>
          <a:bodyPr wrap="square" lIns="0" tIns="18288" rIns="0" bIns="18288" anchor="t">
            <a:spAutoFit/>
          </a:bodyPr>
          <a:lstStyle/>
          <a:p>
            <a:pPr algn="l"/>
            <a:r>
              <a:rPr sz="1200" b="0" i="0">
                <a:solidFill>
                  <a:srgbClr val="C9D6F0"/>
                </a:solidFill>
                <a:latin typeface="Calibri"/>
              </a:rPr>
              <a:t>Posts the summary and waits. Analyst approves, edits, or rejects in one click.</a:t>
            </a:r>
          </a:p>
        </p:txBody>
      </p:sp>
      <p:sp>
        <p:nvSpPr>
          <p:cNvPr id="15" name="Oval 14"/>
          <p:cNvSpPr/>
          <p:nvPr/>
        </p:nvSpPr>
        <p:spPr>
          <a:xfrm>
            <a:off x="841248" y="5047488"/>
            <a:ext cx="457200" cy="4572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5</a:t>
            </a:r>
          </a:p>
        </p:txBody>
      </p:sp>
      <p:sp>
        <p:nvSpPr>
          <p:cNvPr id="16" name="TextBox 15"/>
          <p:cNvSpPr txBox="1"/>
          <p:nvPr/>
        </p:nvSpPr>
        <p:spPr>
          <a:xfrm>
            <a:off x="1463040" y="4983480"/>
            <a:ext cx="4572000" cy="320040"/>
          </a:xfrm>
          <a:prstGeom prst="rect">
            <a:avLst/>
          </a:prstGeom>
          <a:noFill/>
        </p:spPr>
        <p:txBody>
          <a:bodyPr wrap="square" lIns="0" tIns="18288" rIns="0" bIns="18288" anchor="t">
            <a:spAutoFit/>
          </a:bodyPr>
          <a:lstStyle/>
          <a:p>
            <a:pPr algn="l"/>
            <a:r>
              <a:rPr sz="1600" b="1" i="0">
                <a:solidFill>
                  <a:srgbClr val="FFFFFF"/>
                </a:solidFill>
                <a:latin typeface="Calibri"/>
              </a:rPr>
              <a:t>Act and log</a:t>
            </a:r>
          </a:p>
        </p:txBody>
      </p:sp>
      <p:sp>
        <p:nvSpPr>
          <p:cNvPr id="17" name="TextBox 16"/>
          <p:cNvSpPr txBox="1"/>
          <p:nvPr/>
        </p:nvSpPr>
        <p:spPr>
          <a:xfrm>
            <a:off x="1463040" y="5294376"/>
            <a:ext cx="4572000" cy="594360"/>
          </a:xfrm>
          <a:prstGeom prst="rect">
            <a:avLst/>
          </a:prstGeom>
          <a:noFill/>
        </p:spPr>
        <p:txBody>
          <a:bodyPr wrap="square" lIns="0" tIns="18288" rIns="0" bIns="18288" anchor="t">
            <a:spAutoFit/>
          </a:bodyPr>
          <a:lstStyle/>
          <a:p>
            <a:pPr algn="l"/>
            <a:r>
              <a:rPr sz="1200" b="0" i="0">
                <a:solidFill>
                  <a:srgbClr val="C9D6F0"/>
                </a:solidFill>
                <a:latin typeface="Calibri"/>
              </a:rPr>
              <a:t>Closes or escalates the incident, adds comments, writes the full run to a Sentinel table.</a:t>
            </a:r>
          </a:p>
        </p:txBody>
      </p:sp>
      <p:sp>
        <p:nvSpPr>
          <p:cNvPr id="18" name="Rounded Rectangle 17"/>
          <p:cNvSpPr/>
          <p:nvPr/>
        </p:nvSpPr>
        <p:spPr>
          <a:xfrm>
            <a:off x="6492240" y="1417320"/>
            <a:ext cx="4846320" cy="448056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20840" y="1554480"/>
            <a:ext cx="4389120" cy="320040"/>
          </a:xfrm>
          <a:prstGeom prst="rect">
            <a:avLst/>
          </a:prstGeom>
          <a:noFill/>
        </p:spPr>
        <p:txBody>
          <a:bodyPr wrap="square" lIns="0" tIns="18288" rIns="0" bIns="18288" anchor="t">
            <a:spAutoFit/>
          </a:bodyPr>
          <a:lstStyle/>
          <a:p>
            <a:pPr algn="l"/>
            <a:r>
              <a:rPr sz="1300" b="1" i="0">
                <a:solidFill>
                  <a:srgbClr val="ACCBF9"/>
                </a:solidFill>
                <a:latin typeface="Calibri"/>
              </a:rPr>
              <a:t>Sample agent output (what the analyst approves)</a:t>
            </a:r>
          </a:p>
        </p:txBody>
      </p:sp>
      <p:sp>
        <p:nvSpPr>
          <p:cNvPr id="20" name="TextBox 19"/>
          <p:cNvSpPr txBox="1"/>
          <p:nvPr/>
        </p:nvSpPr>
        <p:spPr>
          <a:xfrm>
            <a:off x="6720840" y="1920240"/>
            <a:ext cx="4480560" cy="3931920"/>
          </a:xfrm>
          <a:prstGeom prst="rect">
            <a:avLst/>
          </a:prstGeom>
          <a:noFill/>
        </p:spPr>
        <p:txBody>
          <a:bodyPr wrap="square" lIns="0" tIns="18288" rIns="0" bIns="18288" anchor="t">
            <a:spAutoFit/>
          </a:bodyPr>
          <a:lstStyle/>
          <a:p>
            <a:pPr algn="l"/>
            <a:r>
              <a:rPr sz="1100" b="0" i="0">
                <a:solidFill>
                  <a:srgbClr val="FFFFFF"/>
                </a:solidFill>
                <a:latin typeface="Courier New"/>
              </a:rPr>
              <a:t>{</a:t>
            </a:r>
          </a:p>
          <a:p>
            <a:pPr algn="l"/>
            <a:r>
              <a:rPr sz="1100" b="0" i="0">
                <a:solidFill>
                  <a:srgbClr val="FFFFFF"/>
                </a:solidFill>
                <a:latin typeface="Courier New"/>
              </a:rPr>
              <a:t>  "incident": 48213,</a:t>
            </a:r>
          </a:p>
          <a:p>
            <a:pPr algn="l"/>
            <a:r>
              <a:rPr sz="1100" b="0" i="0">
                <a:solidFill>
                  <a:srgbClr val="FFFFFF"/>
                </a:solidFill>
                <a:latin typeface="Courier New"/>
              </a:rPr>
              <a:t>  "severity": "High",</a:t>
            </a:r>
          </a:p>
          <a:p>
            <a:pPr algn="l"/>
            <a:r>
              <a:rPr sz="1100" b="0" i="0">
                <a:solidFill>
                  <a:srgbClr val="FFFFFF"/>
                </a:solidFill>
                <a:latin typeface="Courier New"/>
              </a:rPr>
              <a:t>  "confidence": 0.86,</a:t>
            </a:r>
          </a:p>
          <a:p>
            <a:pPr algn="l"/>
            <a:r>
              <a:rPr sz="1100" b="0" i="0">
                <a:solidFill>
                  <a:srgbClr val="FFFFFF"/>
                </a:solidFill>
                <a:latin typeface="Courier New"/>
              </a:rPr>
              <a:t>  "disposition": "Escalate to Tier 2",</a:t>
            </a:r>
          </a:p>
          <a:p>
            <a:pPr algn="l"/>
            <a:r>
              <a:rPr sz="1100" b="0" i="0">
                <a:solidFill>
                  <a:srgbClr val="FFFFFF"/>
                </a:solidFill>
                <a:latin typeface="Courier New"/>
              </a:rPr>
              <a:t>  "summary": "Impossible travel + new MFA</a:t>
            </a:r>
          </a:p>
          <a:p>
            <a:pPr algn="l"/>
            <a:r>
              <a:rPr sz="1100" b="0" i="0">
                <a:solidFill>
                  <a:srgbClr val="FFFFFF"/>
                </a:solidFill>
                <a:latin typeface="Courier New"/>
              </a:rPr>
              <a:t>     method + OAuth consent to unknown app</a:t>
            </a:r>
          </a:p>
          <a:p>
            <a:pPr algn="l"/>
            <a:r>
              <a:rPr sz="1100" b="0" i="0">
                <a:solidFill>
                  <a:srgbClr val="FFFFFF"/>
                </a:solidFill>
                <a:latin typeface="Courier New"/>
              </a:rPr>
              <a:t>     within 11 min for user j.doe",</a:t>
            </a:r>
          </a:p>
          <a:p>
            <a:pPr algn="l"/>
            <a:r>
              <a:rPr sz="1100" b="0" i="0">
                <a:solidFill>
                  <a:srgbClr val="FFFFFF"/>
                </a:solidFill>
                <a:latin typeface="Courier New"/>
              </a:rPr>
              <a:t>  "evidence": ["SigninLogs 3 rows",</a:t>
            </a:r>
          </a:p>
          <a:p>
            <a:pPr algn="l"/>
            <a:r>
              <a:rPr sz="1100" b="0" i="0">
                <a:solidFill>
                  <a:srgbClr val="FFFFFF"/>
                </a:solidFill>
                <a:latin typeface="Courier New"/>
              </a:rPr>
              <a:t>     "AuditLogs 2 rows", "CloudAppEvents 1"],</a:t>
            </a:r>
          </a:p>
          <a:p>
            <a:pPr algn="l"/>
            <a:r>
              <a:rPr sz="1100" b="0" i="0">
                <a:solidFill>
                  <a:srgbClr val="FFFFFF"/>
                </a:solidFill>
                <a:latin typeface="Courier New"/>
              </a:rPr>
              <a:t>  "recommended_actions": ["Revoke sessions",</a:t>
            </a:r>
          </a:p>
          <a:p>
            <a:pPr algn="l"/>
            <a:r>
              <a:rPr sz="1100" b="0" i="0">
                <a:solidFill>
                  <a:srgbClr val="FFFFFF"/>
                </a:solidFill>
                <a:latin typeface="Courier New"/>
              </a:rPr>
              <a:t>     "Reset MFA", "Review app consent"],</a:t>
            </a:r>
          </a:p>
          <a:p>
            <a:pPr algn="l"/>
            <a:r>
              <a:rPr sz="1100" b="0" i="0">
                <a:solidFill>
                  <a:srgbClr val="FFFFFF"/>
                </a:solidFill>
                <a:latin typeface="Courier New"/>
              </a:rPr>
              <a:t>  "requires_approval": true</a:t>
            </a:r>
          </a:p>
          <a:p>
            <a:pPr algn="l"/>
            <a:r>
              <a:rPr sz="1100" b="0" i="0">
                <a:solidFill>
                  <a:srgbClr val="FFFFFF"/>
                </a:solidFill>
                <a:latin typeface="Courier New"/>
              </a:rPr>
              <a:t>}</a:t>
            </a:r>
          </a:p>
        </p:txBody>
      </p:sp>
      <p:sp>
        <p:nvSpPr>
          <p:cNvPr id="21" name="TextBox 20"/>
          <p:cNvSpPr txBox="1"/>
          <p:nvPr/>
        </p:nvSpPr>
        <p:spPr>
          <a:xfrm>
            <a:off x="841248" y="6035040"/>
            <a:ext cx="10515600" cy="320040"/>
          </a:xfrm>
          <a:prstGeom prst="rect">
            <a:avLst/>
          </a:prstGeom>
          <a:noFill/>
        </p:spPr>
        <p:txBody>
          <a:bodyPr wrap="square" lIns="0" tIns="18288" rIns="0" bIns="18288" anchor="t">
            <a:spAutoFit/>
          </a:bodyPr>
          <a:lstStyle/>
          <a:p>
            <a:pPr algn="l"/>
            <a:r>
              <a:rPr sz="1300" b="0" i="1">
                <a:solidFill>
                  <a:srgbClr val="C9D6F0"/>
                </a:solidFill>
                <a:latin typeface="Calibri"/>
              </a:rPr>
              <a:t>Every field above is something a Tier-1 analyst used to assemble by hand in 70 minutes. The agent drafts it in under two.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a:t>Ship It Without Getting Fired</a:t>
            </a:r>
            <a:endParaRPr lang="en"/>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normAutofit/>
          </a:bodyPr>
          <a:lstStyle/>
          <a:p>
            <a:r>
              <a:rPr lang="en-US" dirty="0"/>
              <a:t>Control is a feature. Not a blocker.</a:t>
            </a:r>
          </a:p>
        </p:txBody>
      </p:sp>
    </p:spTree>
    <p:extLst>
      <p:ext uri="{BB962C8B-B14F-4D97-AF65-F5344CB8AC3E}">
        <p14:creationId xmlns:p14="http://schemas.microsoft.com/office/powerpoint/2010/main" val="2279942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Human-in-the-Loop Is a Design Pattern</a:t>
            </a:r>
          </a:p>
        </p:txBody>
      </p:sp>
      <p:sp>
        <p:nvSpPr>
          <p:cNvPr id="3" name="Rounded Rectangle 2"/>
          <p:cNvSpPr/>
          <p:nvPr/>
        </p:nvSpPr>
        <p:spPr>
          <a:xfrm>
            <a:off x="841248"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42416"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hand.png"/>
          <p:cNvPicPr>
            <a:picLocks noChangeAspect="1"/>
          </p:cNvPicPr>
          <p:nvPr/>
        </p:nvPicPr>
        <p:blipFill>
          <a:blip r:embed="rId3"/>
          <a:stretch>
            <a:fillRect/>
          </a:stretch>
        </p:blipFill>
        <p:spPr>
          <a:xfrm>
            <a:off x="1179576" y="1755648"/>
            <a:ext cx="274320" cy="274320"/>
          </a:xfrm>
          <a:prstGeom prst="rect">
            <a:avLst/>
          </a:prstGeom>
        </p:spPr>
      </p:pic>
      <p:sp>
        <p:nvSpPr>
          <p:cNvPr id="6" name="TextBox 5"/>
          <p:cNvSpPr txBox="1"/>
          <p:nvPr/>
        </p:nvSpPr>
        <p:spPr>
          <a:xfrm>
            <a:off x="1709928" y="1664208"/>
            <a:ext cx="2331720" cy="457200"/>
          </a:xfrm>
          <a:prstGeom prst="rect">
            <a:avLst/>
          </a:prstGeom>
          <a:noFill/>
        </p:spPr>
        <p:txBody>
          <a:bodyPr wrap="square" lIns="0" tIns="18288" rIns="0" bIns="18288" anchor="ctr">
            <a:spAutoFit/>
          </a:bodyPr>
          <a:lstStyle/>
          <a:p>
            <a:pPr algn="l"/>
            <a:r>
              <a:rPr sz="1500" b="1" i="0">
                <a:solidFill>
                  <a:srgbClr val="FFFFFF"/>
                </a:solidFill>
                <a:latin typeface="Calibri"/>
              </a:rPr>
              <a:t>Approval gates</a:t>
            </a:r>
          </a:p>
        </p:txBody>
      </p:sp>
      <p:sp>
        <p:nvSpPr>
          <p:cNvPr id="7" name="TextBox 6"/>
          <p:cNvSpPr txBox="1"/>
          <p:nvPr/>
        </p:nvSpPr>
        <p:spPr>
          <a:xfrm>
            <a:off x="1042416" y="2286000"/>
            <a:ext cx="2926080" cy="1188720"/>
          </a:xfrm>
          <a:prstGeom prst="rect">
            <a:avLst/>
          </a:prstGeom>
          <a:noFill/>
        </p:spPr>
        <p:txBody>
          <a:bodyPr wrap="square" lIns="0" tIns="18288" rIns="0" bIns="18288" anchor="t">
            <a:spAutoFit/>
          </a:bodyPr>
          <a:lstStyle/>
          <a:p>
            <a:pPr algn="l"/>
            <a:r>
              <a:rPr sz="1300" b="0" i="0">
                <a:solidFill>
                  <a:srgbClr val="C9D6F0"/>
                </a:solidFill>
                <a:latin typeface="Calibri"/>
              </a:rPr>
              <a:t>Read-only by default. Any write (close, isolate, revoke, reset) needs an explicit human approval with the evidence in view. No silent production actions, ever.</a:t>
            </a:r>
          </a:p>
        </p:txBody>
      </p:sp>
      <p:sp>
        <p:nvSpPr>
          <p:cNvPr id="8" name="Rounded Rectangle 7"/>
          <p:cNvSpPr/>
          <p:nvPr/>
        </p:nvSpPr>
        <p:spPr>
          <a:xfrm>
            <a:off x="4434840"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636008"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key.png"/>
          <p:cNvPicPr>
            <a:picLocks noChangeAspect="1"/>
          </p:cNvPicPr>
          <p:nvPr/>
        </p:nvPicPr>
        <p:blipFill>
          <a:blip r:embed="rId4"/>
          <a:stretch>
            <a:fillRect/>
          </a:stretch>
        </p:blipFill>
        <p:spPr>
          <a:xfrm>
            <a:off x="4773168" y="1755648"/>
            <a:ext cx="274320" cy="274320"/>
          </a:xfrm>
          <a:prstGeom prst="rect">
            <a:avLst/>
          </a:prstGeom>
        </p:spPr>
      </p:pic>
      <p:sp>
        <p:nvSpPr>
          <p:cNvPr id="11" name="TextBox 10"/>
          <p:cNvSpPr txBox="1"/>
          <p:nvPr/>
        </p:nvSpPr>
        <p:spPr>
          <a:xfrm>
            <a:off x="5303520" y="1664208"/>
            <a:ext cx="2331720" cy="457200"/>
          </a:xfrm>
          <a:prstGeom prst="rect">
            <a:avLst/>
          </a:prstGeom>
          <a:noFill/>
        </p:spPr>
        <p:txBody>
          <a:bodyPr wrap="square" lIns="0" tIns="18288" rIns="0" bIns="18288" anchor="ctr">
            <a:spAutoFit/>
          </a:bodyPr>
          <a:lstStyle/>
          <a:p>
            <a:pPr algn="l"/>
            <a:r>
              <a:rPr sz="1500" b="1" i="0">
                <a:solidFill>
                  <a:srgbClr val="FFFFFF"/>
                </a:solidFill>
                <a:latin typeface="Calibri"/>
              </a:rPr>
              <a:t>Least privilege</a:t>
            </a:r>
          </a:p>
        </p:txBody>
      </p:sp>
      <p:sp>
        <p:nvSpPr>
          <p:cNvPr id="12" name="TextBox 11"/>
          <p:cNvSpPr txBox="1"/>
          <p:nvPr/>
        </p:nvSpPr>
        <p:spPr>
          <a:xfrm>
            <a:off x="4636008" y="2286000"/>
            <a:ext cx="2926080" cy="1188720"/>
          </a:xfrm>
          <a:prstGeom prst="rect">
            <a:avLst/>
          </a:prstGeom>
          <a:noFill/>
        </p:spPr>
        <p:txBody>
          <a:bodyPr wrap="square" lIns="0" tIns="18288" rIns="0" bIns="18288" anchor="t">
            <a:spAutoFit/>
          </a:bodyPr>
          <a:lstStyle/>
          <a:p>
            <a:pPr algn="l"/>
            <a:r>
              <a:rPr sz="1300" b="0" i="0">
                <a:solidFill>
                  <a:srgbClr val="C9D6F0"/>
                </a:solidFill>
                <a:latin typeface="Calibri"/>
              </a:rPr>
              <a:t>Agents get their own identity, Security Reader plus narrowly scoped actions, and separate credentials per environment.</a:t>
            </a:r>
          </a:p>
        </p:txBody>
      </p:sp>
      <p:sp>
        <p:nvSpPr>
          <p:cNvPr id="13" name="Rounded Rectangle 12"/>
          <p:cNvSpPr/>
          <p:nvPr/>
        </p:nvSpPr>
        <p:spPr>
          <a:xfrm>
            <a:off x="8028432" y="1417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600"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claim.png"/>
          <p:cNvPicPr>
            <a:picLocks noChangeAspect="1"/>
          </p:cNvPicPr>
          <p:nvPr/>
        </p:nvPicPr>
        <p:blipFill>
          <a:blip r:embed="rId5"/>
          <a:stretch>
            <a:fillRect/>
          </a:stretch>
        </p:blipFill>
        <p:spPr>
          <a:xfrm>
            <a:off x="8366760" y="1755648"/>
            <a:ext cx="274320" cy="274320"/>
          </a:xfrm>
          <a:prstGeom prst="rect">
            <a:avLst/>
          </a:prstGeom>
        </p:spPr>
      </p:pic>
      <p:sp>
        <p:nvSpPr>
          <p:cNvPr id="16" name="TextBox 15"/>
          <p:cNvSpPr txBox="1"/>
          <p:nvPr/>
        </p:nvSpPr>
        <p:spPr>
          <a:xfrm>
            <a:off x="8897112" y="1664208"/>
            <a:ext cx="2331720" cy="457200"/>
          </a:xfrm>
          <a:prstGeom prst="rect">
            <a:avLst/>
          </a:prstGeom>
          <a:noFill/>
        </p:spPr>
        <p:txBody>
          <a:bodyPr wrap="square" lIns="0" tIns="18288" rIns="0" bIns="18288" anchor="ctr">
            <a:spAutoFit/>
          </a:bodyPr>
          <a:lstStyle/>
          <a:p>
            <a:pPr algn="l"/>
            <a:r>
              <a:rPr sz="1500" b="1" i="0">
                <a:solidFill>
                  <a:srgbClr val="FFFFFF"/>
                </a:solidFill>
                <a:latin typeface="Calibri"/>
              </a:rPr>
              <a:t>Prompt injection defense</a:t>
            </a:r>
          </a:p>
        </p:txBody>
      </p:sp>
      <p:sp>
        <p:nvSpPr>
          <p:cNvPr id="17" name="TextBox 16"/>
          <p:cNvSpPr txBox="1"/>
          <p:nvPr/>
        </p:nvSpPr>
        <p:spPr>
          <a:xfrm>
            <a:off x="8229600" y="2286000"/>
            <a:ext cx="2926080" cy="1188720"/>
          </a:xfrm>
          <a:prstGeom prst="rect">
            <a:avLst/>
          </a:prstGeom>
          <a:noFill/>
        </p:spPr>
        <p:txBody>
          <a:bodyPr wrap="square" lIns="0" tIns="18288" rIns="0" bIns="18288" anchor="t">
            <a:spAutoFit/>
          </a:bodyPr>
          <a:lstStyle/>
          <a:p>
            <a:pPr algn="l"/>
            <a:r>
              <a:rPr sz="1300" b="0" i="0">
                <a:solidFill>
                  <a:srgbClr val="C9D6F0"/>
                </a:solidFill>
                <a:latin typeface="Calibri"/>
              </a:rPr>
              <a:t>Treat alert titles, emails, and file names as hostile input. Strip instructions from data before the model sees it; never let data pick tools.</a:t>
            </a:r>
          </a:p>
        </p:txBody>
      </p:sp>
      <p:sp>
        <p:nvSpPr>
          <p:cNvPr id="18" name="Rounded Rectangle 17"/>
          <p:cNvSpPr/>
          <p:nvPr/>
        </p:nvSpPr>
        <p:spPr>
          <a:xfrm>
            <a:off x="841248"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42416"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eye.png"/>
          <p:cNvPicPr>
            <a:picLocks noChangeAspect="1"/>
          </p:cNvPicPr>
          <p:nvPr/>
        </p:nvPicPr>
        <p:blipFill>
          <a:blip r:embed="rId6"/>
          <a:stretch>
            <a:fillRect/>
          </a:stretch>
        </p:blipFill>
        <p:spPr>
          <a:xfrm>
            <a:off x="1179576" y="4041648"/>
            <a:ext cx="274320" cy="274320"/>
          </a:xfrm>
          <a:prstGeom prst="rect">
            <a:avLst/>
          </a:prstGeom>
        </p:spPr>
      </p:pic>
      <p:sp>
        <p:nvSpPr>
          <p:cNvPr id="21" name="TextBox 20"/>
          <p:cNvSpPr txBox="1"/>
          <p:nvPr/>
        </p:nvSpPr>
        <p:spPr>
          <a:xfrm>
            <a:off x="1709928" y="3950208"/>
            <a:ext cx="2331720" cy="457200"/>
          </a:xfrm>
          <a:prstGeom prst="rect">
            <a:avLst/>
          </a:prstGeom>
          <a:noFill/>
        </p:spPr>
        <p:txBody>
          <a:bodyPr wrap="square" lIns="0" tIns="18288" rIns="0" bIns="18288" anchor="ctr">
            <a:spAutoFit/>
          </a:bodyPr>
          <a:lstStyle/>
          <a:p>
            <a:pPr algn="l"/>
            <a:r>
              <a:rPr sz="1500" b="1" i="0">
                <a:solidFill>
                  <a:srgbClr val="FFFFFF"/>
                </a:solidFill>
                <a:latin typeface="Calibri"/>
              </a:rPr>
              <a:t>Observability and audit</a:t>
            </a:r>
          </a:p>
        </p:txBody>
      </p:sp>
      <p:sp>
        <p:nvSpPr>
          <p:cNvPr id="22" name="TextBox 21"/>
          <p:cNvSpPr txBox="1"/>
          <p:nvPr/>
        </p:nvSpPr>
        <p:spPr>
          <a:xfrm>
            <a:off x="1042416" y="4572000"/>
            <a:ext cx="2926080" cy="1188720"/>
          </a:xfrm>
          <a:prstGeom prst="rect">
            <a:avLst/>
          </a:prstGeom>
          <a:noFill/>
        </p:spPr>
        <p:txBody>
          <a:bodyPr wrap="square" lIns="0" tIns="18288" rIns="0" bIns="18288" anchor="t">
            <a:spAutoFit/>
          </a:bodyPr>
          <a:lstStyle/>
          <a:p>
            <a:pPr algn="l"/>
            <a:r>
              <a:rPr sz="1300" b="0" i="0">
                <a:solidFill>
                  <a:srgbClr val="C9D6F0"/>
                </a:solidFill>
                <a:latin typeface="Calibri"/>
              </a:rPr>
              <a:t>Log every prompt, tool call, output, and human decision. Make the record queryable in Sentinel like any other data source.</a:t>
            </a:r>
          </a:p>
        </p:txBody>
      </p:sp>
      <p:sp>
        <p:nvSpPr>
          <p:cNvPr id="23" name="Rounded Rectangle 22"/>
          <p:cNvSpPr/>
          <p:nvPr/>
        </p:nvSpPr>
        <p:spPr>
          <a:xfrm>
            <a:off x="4434840"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636008"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rosshairs.png"/>
          <p:cNvPicPr>
            <a:picLocks noChangeAspect="1"/>
          </p:cNvPicPr>
          <p:nvPr/>
        </p:nvPicPr>
        <p:blipFill>
          <a:blip r:embed="rId7"/>
          <a:stretch>
            <a:fillRect/>
          </a:stretch>
        </p:blipFill>
        <p:spPr>
          <a:xfrm>
            <a:off x="4773168" y="4041648"/>
            <a:ext cx="274320" cy="274320"/>
          </a:xfrm>
          <a:prstGeom prst="rect">
            <a:avLst/>
          </a:prstGeom>
        </p:spPr>
      </p:pic>
      <p:sp>
        <p:nvSpPr>
          <p:cNvPr id="26" name="TextBox 25"/>
          <p:cNvSpPr txBox="1"/>
          <p:nvPr/>
        </p:nvSpPr>
        <p:spPr>
          <a:xfrm>
            <a:off x="5303520" y="3950208"/>
            <a:ext cx="2331720" cy="457200"/>
          </a:xfrm>
          <a:prstGeom prst="rect">
            <a:avLst/>
          </a:prstGeom>
          <a:noFill/>
        </p:spPr>
        <p:txBody>
          <a:bodyPr wrap="square" lIns="0" tIns="18288" rIns="0" bIns="18288" anchor="ctr">
            <a:spAutoFit/>
          </a:bodyPr>
          <a:lstStyle/>
          <a:p>
            <a:pPr algn="l"/>
            <a:r>
              <a:rPr sz="1500" b="1" i="0">
                <a:solidFill>
                  <a:srgbClr val="FFFFFF"/>
                </a:solidFill>
                <a:latin typeface="Calibri"/>
              </a:rPr>
              <a:t>Confidence thresholds</a:t>
            </a:r>
          </a:p>
        </p:txBody>
      </p:sp>
      <p:sp>
        <p:nvSpPr>
          <p:cNvPr id="27" name="TextBox 26"/>
          <p:cNvSpPr txBox="1"/>
          <p:nvPr/>
        </p:nvSpPr>
        <p:spPr>
          <a:xfrm>
            <a:off x="4636008" y="4572000"/>
            <a:ext cx="2926080" cy="1188720"/>
          </a:xfrm>
          <a:prstGeom prst="rect">
            <a:avLst/>
          </a:prstGeom>
          <a:noFill/>
        </p:spPr>
        <p:txBody>
          <a:bodyPr wrap="square" lIns="0" tIns="18288" rIns="0" bIns="18288" anchor="t">
            <a:spAutoFit/>
          </a:bodyPr>
          <a:lstStyle/>
          <a:p>
            <a:pPr algn="l"/>
            <a:r>
              <a:rPr sz="1300" b="0" i="0">
                <a:solidFill>
                  <a:srgbClr val="C9D6F0"/>
                </a:solidFill>
                <a:latin typeface="Calibri"/>
              </a:rPr>
              <a:t>Auto-close only when confidence is high and the alert class has a proven track record. Everything else routes to a human.</a:t>
            </a:r>
          </a:p>
        </p:txBody>
      </p:sp>
      <p:sp>
        <p:nvSpPr>
          <p:cNvPr id="28" name="Rounded Rectangle 27"/>
          <p:cNvSpPr/>
          <p:nvPr/>
        </p:nvSpPr>
        <p:spPr>
          <a:xfrm>
            <a:off x="8028432" y="3703320"/>
            <a:ext cx="3337560" cy="21031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229600" y="3904487"/>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clipboard.png"/>
          <p:cNvPicPr>
            <a:picLocks noChangeAspect="1"/>
          </p:cNvPicPr>
          <p:nvPr/>
        </p:nvPicPr>
        <p:blipFill>
          <a:blip r:embed="rId8"/>
          <a:stretch>
            <a:fillRect/>
          </a:stretch>
        </p:blipFill>
        <p:spPr>
          <a:xfrm>
            <a:off x="8366760" y="4041648"/>
            <a:ext cx="274320" cy="274320"/>
          </a:xfrm>
          <a:prstGeom prst="rect">
            <a:avLst/>
          </a:prstGeom>
        </p:spPr>
      </p:pic>
      <p:sp>
        <p:nvSpPr>
          <p:cNvPr id="31" name="TextBox 30"/>
          <p:cNvSpPr txBox="1"/>
          <p:nvPr/>
        </p:nvSpPr>
        <p:spPr>
          <a:xfrm>
            <a:off x="8897112" y="3950208"/>
            <a:ext cx="2331720" cy="457200"/>
          </a:xfrm>
          <a:prstGeom prst="rect">
            <a:avLst/>
          </a:prstGeom>
          <a:noFill/>
        </p:spPr>
        <p:txBody>
          <a:bodyPr wrap="square" lIns="0" tIns="18288" rIns="0" bIns="18288" anchor="ctr">
            <a:spAutoFit/>
          </a:bodyPr>
          <a:lstStyle/>
          <a:p>
            <a:pPr algn="l"/>
            <a:r>
              <a:rPr sz="1500" b="1" i="0">
                <a:solidFill>
                  <a:srgbClr val="FFFFFF"/>
                </a:solidFill>
                <a:latin typeface="Calibri"/>
              </a:rPr>
              <a:t>Compliance mapping</a:t>
            </a:r>
          </a:p>
        </p:txBody>
      </p:sp>
      <p:sp>
        <p:nvSpPr>
          <p:cNvPr id="32" name="TextBox 31"/>
          <p:cNvSpPr txBox="1"/>
          <p:nvPr/>
        </p:nvSpPr>
        <p:spPr>
          <a:xfrm>
            <a:off x="8229600" y="4572000"/>
            <a:ext cx="2926080" cy="1188720"/>
          </a:xfrm>
          <a:prstGeom prst="rect">
            <a:avLst/>
          </a:prstGeom>
          <a:noFill/>
        </p:spPr>
        <p:txBody>
          <a:bodyPr wrap="square" lIns="0" tIns="18288" rIns="0" bIns="18288" anchor="t">
            <a:spAutoFit/>
          </a:bodyPr>
          <a:lstStyle/>
          <a:p>
            <a:pPr algn="l"/>
            <a:r>
              <a:rPr sz="1300" b="0" i="0">
                <a:solidFill>
                  <a:srgbClr val="C9D6F0"/>
                </a:solidFill>
                <a:latin typeface="Calibri"/>
              </a:rPr>
              <a:t>Purview and DLP on the prompt path. Document data residency, retention, and who-approved-what. Reuse your SOAR playbook governance.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Measuring ROI: Instrument, Then Automate</a:t>
            </a:r>
          </a:p>
        </p:txBody>
      </p:sp>
      <p:sp>
        <p:nvSpPr>
          <p:cNvPr id="3" name="Rounded Rectangle 2"/>
          <p:cNvSpPr/>
          <p:nvPr/>
        </p:nvSpPr>
        <p:spPr>
          <a:xfrm>
            <a:off x="841248" y="1417320"/>
            <a:ext cx="2468880"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42416"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3"/>
          <a:stretch>
            <a:fillRect/>
          </a:stretch>
        </p:blipFill>
        <p:spPr>
          <a:xfrm>
            <a:off x="1179576" y="1755648"/>
            <a:ext cx="274320" cy="274320"/>
          </a:xfrm>
          <a:prstGeom prst="rect">
            <a:avLst/>
          </a:prstGeom>
        </p:spPr>
      </p:pic>
      <p:sp>
        <p:nvSpPr>
          <p:cNvPr id="6" name="TextBox 5"/>
          <p:cNvSpPr txBox="1"/>
          <p:nvPr/>
        </p:nvSpPr>
        <p:spPr>
          <a:xfrm>
            <a:off x="1042416" y="2286000"/>
            <a:ext cx="2066544" cy="457200"/>
          </a:xfrm>
          <a:prstGeom prst="rect">
            <a:avLst/>
          </a:prstGeom>
          <a:noFill/>
        </p:spPr>
        <p:txBody>
          <a:bodyPr wrap="square" lIns="0" tIns="18288" rIns="0" bIns="18288" anchor="t">
            <a:spAutoFit/>
          </a:bodyPr>
          <a:lstStyle/>
          <a:p>
            <a:pPr algn="l"/>
            <a:r>
              <a:rPr sz="1500" b="1" i="0">
                <a:solidFill>
                  <a:srgbClr val="FFFFFF"/>
                </a:solidFill>
                <a:latin typeface="Calibri"/>
              </a:rPr>
              <a:t>Mean time to triage</a:t>
            </a:r>
          </a:p>
        </p:txBody>
      </p:sp>
      <p:sp>
        <p:nvSpPr>
          <p:cNvPr id="7" name="TextBox 6"/>
          <p:cNvSpPr txBox="1"/>
          <p:nvPr/>
        </p:nvSpPr>
        <p:spPr>
          <a:xfrm>
            <a:off x="1042416" y="2743200"/>
            <a:ext cx="2066544" cy="457200"/>
          </a:xfrm>
          <a:prstGeom prst="rect">
            <a:avLst/>
          </a:prstGeom>
          <a:noFill/>
        </p:spPr>
        <p:txBody>
          <a:bodyPr wrap="square" lIns="0" tIns="18288" rIns="0" bIns="18288" anchor="t">
            <a:spAutoFit/>
          </a:bodyPr>
          <a:lstStyle/>
          <a:p>
            <a:pPr algn="l"/>
            <a:r>
              <a:rPr sz="1150" b="0" i="0">
                <a:solidFill>
                  <a:srgbClr val="C9D6F0"/>
                </a:solidFill>
                <a:latin typeface="Calibri"/>
              </a:rPr>
              <a:t>Alert created to first disposition</a:t>
            </a:r>
          </a:p>
        </p:txBody>
      </p:sp>
      <p:sp>
        <p:nvSpPr>
          <p:cNvPr id="8" name="TextBox 7"/>
          <p:cNvSpPr txBox="1"/>
          <p:nvPr/>
        </p:nvSpPr>
        <p:spPr>
          <a:xfrm>
            <a:off x="1042416" y="3200400"/>
            <a:ext cx="2066544" cy="457200"/>
          </a:xfrm>
          <a:prstGeom prst="rect">
            <a:avLst/>
          </a:prstGeom>
          <a:noFill/>
        </p:spPr>
        <p:txBody>
          <a:bodyPr wrap="square" lIns="0" tIns="18288" rIns="0" bIns="18288" anchor="t">
            <a:spAutoFit/>
          </a:bodyPr>
          <a:lstStyle/>
          <a:p>
            <a:pPr algn="l"/>
            <a:r>
              <a:rPr sz="1150" b="0" i="1">
                <a:solidFill>
                  <a:srgbClr val="ACCBF9"/>
                </a:solidFill>
                <a:latin typeface="Calibri"/>
              </a:rPr>
              <a:t>Baseline: ~56 min to first action</a:t>
            </a:r>
          </a:p>
        </p:txBody>
      </p:sp>
      <p:sp>
        <p:nvSpPr>
          <p:cNvPr id="9" name="Rounded Rectangle 8"/>
          <p:cNvSpPr/>
          <p:nvPr/>
        </p:nvSpPr>
        <p:spPr>
          <a:xfrm>
            <a:off x="3520440" y="1417320"/>
            <a:ext cx="2468880"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721608"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userTimes.png"/>
          <p:cNvPicPr>
            <a:picLocks noChangeAspect="1"/>
          </p:cNvPicPr>
          <p:nvPr/>
        </p:nvPicPr>
        <p:blipFill>
          <a:blip r:embed="rId4"/>
          <a:stretch>
            <a:fillRect/>
          </a:stretch>
        </p:blipFill>
        <p:spPr>
          <a:xfrm>
            <a:off x="3858768" y="1755648"/>
            <a:ext cx="274320" cy="274320"/>
          </a:xfrm>
          <a:prstGeom prst="rect">
            <a:avLst/>
          </a:prstGeom>
        </p:spPr>
      </p:pic>
      <p:sp>
        <p:nvSpPr>
          <p:cNvPr id="12" name="TextBox 11"/>
          <p:cNvSpPr txBox="1"/>
          <p:nvPr/>
        </p:nvSpPr>
        <p:spPr>
          <a:xfrm>
            <a:off x="3721608" y="2286000"/>
            <a:ext cx="2066544" cy="457200"/>
          </a:xfrm>
          <a:prstGeom prst="rect">
            <a:avLst/>
          </a:prstGeom>
          <a:noFill/>
        </p:spPr>
        <p:txBody>
          <a:bodyPr wrap="square" lIns="0" tIns="18288" rIns="0" bIns="18288" anchor="t">
            <a:spAutoFit/>
          </a:bodyPr>
          <a:lstStyle/>
          <a:p>
            <a:pPr algn="l"/>
            <a:r>
              <a:rPr sz="1500" b="1" i="0">
                <a:solidFill>
                  <a:srgbClr val="FFFFFF"/>
                </a:solidFill>
                <a:latin typeface="Calibri"/>
              </a:rPr>
              <a:t>Uninvestigated alert rate</a:t>
            </a:r>
          </a:p>
        </p:txBody>
      </p:sp>
      <p:sp>
        <p:nvSpPr>
          <p:cNvPr id="13" name="TextBox 12"/>
          <p:cNvSpPr txBox="1"/>
          <p:nvPr/>
        </p:nvSpPr>
        <p:spPr>
          <a:xfrm>
            <a:off x="3721608" y="2743200"/>
            <a:ext cx="2066544" cy="457200"/>
          </a:xfrm>
          <a:prstGeom prst="rect">
            <a:avLst/>
          </a:prstGeom>
          <a:noFill/>
        </p:spPr>
        <p:txBody>
          <a:bodyPr wrap="square" lIns="0" tIns="18288" rIns="0" bIns="18288" anchor="t">
            <a:spAutoFit/>
          </a:bodyPr>
          <a:lstStyle/>
          <a:p>
            <a:pPr algn="l"/>
            <a:r>
              <a:rPr sz="1150" b="0" i="0">
                <a:solidFill>
                  <a:srgbClr val="C9D6F0"/>
                </a:solidFill>
                <a:latin typeface="Calibri"/>
              </a:rPr>
              <a:t>% of alerts with no analyst touch</a:t>
            </a:r>
          </a:p>
        </p:txBody>
      </p:sp>
      <p:sp>
        <p:nvSpPr>
          <p:cNvPr id="14" name="TextBox 13"/>
          <p:cNvSpPr txBox="1"/>
          <p:nvPr/>
        </p:nvSpPr>
        <p:spPr>
          <a:xfrm>
            <a:off x="3721608" y="3200400"/>
            <a:ext cx="2066544" cy="457200"/>
          </a:xfrm>
          <a:prstGeom prst="rect">
            <a:avLst/>
          </a:prstGeom>
          <a:noFill/>
        </p:spPr>
        <p:txBody>
          <a:bodyPr wrap="square" lIns="0" tIns="18288" rIns="0" bIns="18288" anchor="t">
            <a:spAutoFit/>
          </a:bodyPr>
          <a:lstStyle/>
          <a:p>
            <a:pPr algn="l"/>
            <a:r>
              <a:rPr sz="1150" b="0" i="1">
                <a:solidFill>
                  <a:srgbClr val="ACCBF9"/>
                </a:solidFill>
                <a:latin typeface="Calibri"/>
              </a:rPr>
              <a:t>Baseline: 42% (Omdia) or 28% (Prophet, 2026)</a:t>
            </a:r>
          </a:p>
        </p:txBody>
      </p:sp>
      <p:sp>
        <p:nvSpPr>
          <p:cNvPr id="15" name="Rounded Rectangle 14"/>
          <p:cNvSpPr/>
          <p:nvPr/>
        </p:nvSpPr>
        <p:spPr>
          <a:xfrm>
            <a:off x="6199632" y="1417320"/>
            <a:ext cx="2468880"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00800"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eck.png"/>
          <p:cNvPicPr>
            <a:picLocks noChangeAspect="1"/>
          </p:cNvPicPr>
          <p:nvPr/>
        </p:nvPicPr>
        <p:blipFill>
          <a:blip r:embed="rId5"/>
          <a:stretch>
            <a:fillRect/>
          </a:stretch>
        </p:blipFill>
        <p:spPr>
          <a:xfrm>
            <a:off x="6537960" y="1755648"/>
            <a:ext cx="274320" cy="274320"/>
          </a:xfrm>
          <a:prstGeom prst="rect">
            <a:avLst/>
          </a:prstGeom>
        </p:spPr>
      </p:pic>
      <p:sp>
        <p:nvSpPr>
          <p:cNvPr id="18" name="TextBox 17"/>
          <p:cNvSpPr txBox="1"/>
          <p:nvPr/>
        </p:nvSpPr>
        <p:spPr>
          <a:xfrm>
            <a:off x="6400800" y="2286000"/>
            <a:ext cx="2066544" cy="457200"/>
          </a:xfrm>
          <a:prstGeom prst="rect">
            <a:avLst/>
          </a:prstGeom>
          <a:noFill/>
        </p:spPr>
        <p:txBody>
          <a:bodyPr wrap="square" lIns="0" tIns="18288" rIns="0" bIns="18288" anchor="t">
            <a:spAutoFit/>
          </a:bodyPr>
          <a:lstStyle/>
          <a:p>
            <a:pPr algn="l"/>
            <a:r>
              <a:rPr sz="1500" b="1" i="0">
                <a:solidFill>
                  <a:srgbClr val="FFFFFF"/>
                </a:solidFill>
                <a:latin typeface="Calibri"/>
              </a:rPr>
              <a:t>Auto-disposition accuracy</a:t>
            </a:r>
          </a:p>
        </p:txBody>
      </p:sp>
      <p:sp>
        <p:nvSpPr>
          <p:cNvPr id="19" name="TextBox 18"/>
          <p:cNvSpPr txBox="1"/>
          <p:nvPr/>
        </p:nvSpPr>
        <p:spPr>
          <a:xfrm>
            <a:off x="6400800" y="2743200"/>
            <a:ext cx="2066544" cy="457200"/>
          </a:xfrm>
          <a:prstGeom prst="rect">
            <a:avLst/>
          </a:prstGeom>
          <a:noFill/>
        </p:spPr>
        <p:txBody>
          <a:bodyPr wrap="square" lIns="0" tIns="18288" rIns="0" bIns="18288" anchor="t">
            <a:spAutoFit/>
          </a:bodyPr>
          <a:lstStyle/>
          <a:p>
            <a:pPr algn="l"/>
            <a:r>
              <a:rPr sz="1150" b="0" i="0">
                <a:solidFill>
                  <a:srgbClr val="C9D6F0"/>
                </a:solidFill>
                <a:latin typeface="Calibri"/>
              </a:rPr>
              <a:t>Verdicts confirmed on review, no reopen</a:t>
            </a:r>
          </a:p>
        </p:txBody>
      </p:sp>
      <p:sp>
        <p:nvSpPr>
          <p:cNvPr id="20" name="TextBox 19"/>
          <p:cNvSpPr txBox="1"/>
          <p:nvPr/>
        </p:nvSpPr>
        <p:spPr>
          <a:xfrm>
            <a:off x="6400800" y="3200400"/>
            <a:ext cx="2066544" cy="457200"/>
          </a:xfrm>
          <a:prstGeom prst="rect">
            <a:avLst/>
          </a:prstGeom>
          <a:noFill/>
        </p:spPr>
        <p:txBody>
          <a:bodyPr wrap="square" lIns="0" tIns="18288" rIns="0" bIns="18288" anchor="t">
            <a:spAutoFit/>
          </a:bodyPr>
          <a:lstStyle/>
          <a:p>
            <a:pPr algn="l"/>
            <a:r>
              <a:rPr sz="1150" b="0" i="1">
                <a:solidFill>
                  <a:srgbClr val="ACCBF9"/>
                </a:solidFill>
                <a:latin typeface="Calibri"/>
              </a:rPr>
              <a:t>Target: &gt;95% before expanding scope</a:t>
            </a:r>
          </a:p>
        </p:txBody>
      </p:sp>
      <p:sp>
        <p:nvSpPr>
          <p:cNvPr id="21" name="Rounded Rectangle 20"/>
          <p:cNvSpPr/>
          <p:nvPr/>
        </p:nvSpPr>
        <p:spPr>
          <a:xfrm>
            <a:off x="8878824" y="1417320"/>
            <a:ext cx="2468880" cy="233172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79992" y="1618488"/>
            <a:ext cx="548640" cy="54864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hart.png"/>
          <p:cNvPicPr>
            <a:picLocks noChangeAspect="1"/>
          </p:cNvPicPr>
          <p:nvPr/>
        </p:nvPicPr>
        <p:blipFill>
          <a:blip r:embed="rId6"/>
          <a:stretch>
            <a:fillRect/>
          </a:stretch>
        </p:blipFill>
        <p:spPr>
          <a:xfrm>
            <a:off x="9217152" y="1755648"/>
            <a:ext cx="274320" cy="274320"/>
          </a:xfrm>
          <a:prstGeom prst="rect">
            <a:avLst/>
          </a:prstGeom>
        </p:spPr>
      </p:pic>
      <p:sp>
        <p:nvSpPr>
          <p:cNvPr id="24" name="TextBox 23"/>
          <p:cNvSpPr txBox="1"/>
          <p:nvPr/>
        </p:nvSpPr>
        <p:spPr>
          <a:xfrm>
            <a:off x="9079992" y="2286000"/>
            <a:ext cx="2066544" cy="457200"/>
          </a:xfrm>
          <a:prstGeom prst="rect">
            <a:avLst/>
          </a:prstGeom>
          <a:noFill/>
        </p:spPr>
        <p:txBody>
          <a:bodyPr wrap="square" lIns="0" tIns="18288" rIns="0" bIns="18288" anchor="t">
            <a:spAutoFit/>
          </a:bodyPr>
          <a:lstStyle/>
          <a:p>
            <a:pPr algn="l"/>
            <a:r>
              <a:rPr sz="1500" b="1" i="0">
                <a:solidFill>
                  <a:srgbClr val="FFFFFF"/>
                </a:solidFill>
                <a:latin typeface="Calibri"/>
              </a:rPr>
              <a:t>Analyst hours reclaimed</a:t>
            </a:r>
          </a:p>
        </p:txBody>
      </p:sp>
      <p:sp>
        <p:nvSpPr>
          <p:cNvPr id="25" name="TextBox 24"/>
          <p:cNvSpPr txBox="1"/>
          <p:nvPr/>
        </p:nvSpPr>
        <p:spPr>
          <a:xfrm>
            <a:off x="9079992" y="2743200"/>
            <a:ext cx="2066544" cy="457200"/>
          </a:xfrm>
          <a:prstGeom prst="rect">
            <a:avLst/>
          </a:prstGeom>
          <a:noFill/>
        </p:spPr>
        <p:txBody>
          <a:bodyPr wrap="square" lIns="0" tIns="18288" rIns="0" bIns="18288" anchor="t">
            <a:spAutoFit/>
          </a:bodyPr>
          <a:lstStyle/>
          <a:p>
            <a:pPr algn="l"/>
            <a:r>
              <a:rPr sz="1150" b="0" i="0">
                <a:solidFill>
                  <a:srgbClr val="C9D6F0"/>
                </a:solidFill>
                <a:latin typeface="Calibri"/>
              </a:rPr>
              <a:t>Time moved from triage to hunting</a:t>
            </a:r>
          </a:p>
        </p:txBody>
      </p:sp>
      <p:sp>
        <p:nvSpPr>
          <p:cNvPr id="26" name="TextBox 25"/>
          <p:cNvSpPr txBox="1"/>
          <p:nvPr/>
        </p:nvSpPr>
        <p:spPr>
          <a:xfrm>
            <a:off x="9079992" y="3200400"/>
            <a:ext cx="2066544" cy="457200"/>
          </a:xfrm>
          <a:prstGeom prst="rect">
            <a:avLst/>
          </a:prstGeom>
          <a:noFill/>
        </p:spPr>
        <p:txBody>
          <a:bodyPr wrap="square" lIns="0" tIns="18288" rIns="0" bIns="18288" anchor="t">
            <a:spAutoFit/>
          </a:bodyPr>
          <a:lstStyle/>
          <a:p>
            <a:pPr algn="l"/>
            <a:r>
              <a:rPr sz="1150" b="0" i="1">
                <a:solidFill>
                  <a:srgbClr val="ACCBF9"/>
                </a:solidFill>
                <a:latin typeface="Calibri"/>
              </a:rPr>
              <a:t>Target: 10 hrs/week into hunting</a:t>
            </a:r>
          </a:p>
        </p:txBody>
      </p:sp>
      <p:sp>
        <p:nvSpPr>
          <p:cNvPr id="27" name="Rounded Rectangle 26"/>
          <p:cNvSpPr/>
          <p:nvPr/>
        </p:nvSpPr>
        <p:spPr>
          <a:xfrm>
            <a:off x="841248" y="4023360"/>
            <a:ext cx="10515600" cy="201168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51560" y="4114800"/>
            <a:ext cx="10058400" cy="365760"/>
          </a:xfrm>
          <a:prstGeom prst="rect">
            <a:avLst/>
          </a:prstGeom>
          <a:noFill/>
        </p:spPr>
        <p:txBody>
          <a:bodyPr wrap="square" lIns="0" tIns="18288" rIns="0" bIns="18288" anchor="t">
            <a:spAutoFit/>
          </a:bodyPr>
          <a:lstStyle/>
          <a:p>
            <a:pPr algn="l"/>
            <a:r>
              <a:rPr sz="1600" b="1" i="0">
                <a:solidFill>
                  <a:srgbClr val="ACCBF9"/>
                </a:solidFill>
                <a:latin typeface="Calibri"/>
              </a:rPr>
              <a:t>A simple ROI model your CFO will accept</a:t>
            </a:r>
          </a:p>
        </p:txBody>
      </p:sp>
      <p:sp>
        <p:nvSpPr>
          <p:cNvPr id="29" name="TextBox 28"/>
          <p:cNvSpPr txBox="1"/>
          <p:nvPr/>
        </p:nvSpPr>
        <p:spPr>
          <a:xfrm>
            <a:off x="1051560" y="4526280"/>
            <a:ext cx="4937760" cy="1463040"/>
          </a:xfrm>
          <a:prstGeom prst="rect">
            <a:avLst/>
          </a:prstGeom>
          <a:noFill/>
        </p:spPr>
        <p:txBody>
          <a:bodyPr wrap="square" lIns="0" tIns="18288" rIns="0" bIns="18288" anchor="t">
            <a:spAutoFit/>
          </a:bodyPr>
          <a:lstStyle/>
          <a:p>
            <a:pPr>
              <a:spcAft>
                <a:spcPts val="800"/>
              </a:spcAft>
            </a:pPr>
            <a:r>
              <a:rPr sz="1250" b="1" i="0">
                <a:solidFill>
                  <a:srgbClr val="FFFFFF"/>
                </a:solidFill>
                <a:latin typeface="Calibri"/>
              </a:rPr>
              <a:t>Benefit = </a:t>
            </a:r>
            <a:r>
              <a:rPr sz="1250" b="0" i="0">
                <a:solidFill>
                  <a:srgbClr val="FFFFFF"/>
                </a:solidFill>
                <a:latin typeface="Calibri"/>
              </a:rPr>
              <a:t>alerts auto-triaged per month x minutes saved per alert x loaded analyst rate</a:t>
            </a:r>
          </a:p>
          <a:p>
            <a:pPr>
              <a:spcAft>
                <a:spcPts val="800"/>
              </a:spcAft>
            </a:pPr>
            <a:r>
              <a:rPr sz="1250" b="1" i="0">
                <a:solidFill>
                  <a:srgbClr val="FFFFFF"/>
                </a:solidFill>
                <a:latin typeface="Calibri"/>
              </a:rPr>
              <a:t>Plus: </a:t>
            </a:r>
            <a:r>
              <a:rPr sz="1250" b="0" i="0">
                <a:solidFill>
                  <a:srgbClr val="FFFFFF"/>
                </a:solidFill>
                <a:latin typeface="Calibri"/>
              </a:rPr>
              <a:t>reduced dwell time, fewer missed true positives, lower attrition and re-hiring cost</a:t>
            </a:r>
          </a:p>
        </p:txBody>
      </p:sp>
      <p:sp>
        <p:nvSpPr>
          <p:cNvPr id="30" name="TextBox 29"/>
          <p:cNvSpPr txBox="1"/>
          <p:nvPr/>
        </p:nvSpPr>
        <p:spPr>
          <a:xfrm>
            <a:off x="6309360" y="4526280"/>
            <a:ext cx="4846320" cy="1463040"/>
          </a:xfrm>
          <a:prstGeom prst="rect">
            <a:avLst/>
          </a:prstGeom>
          <a:noFill/>
        </p:spPr>
        <p:txBody>
          <a:bodyPr wrap="square" lIns="0" tIns="18288" rIns="0" bIns="18288" anchor="t">
            <a:spAutoFit/>
          </a:bodyPr>
          <a:lstStyle/>
          <a:p>
            <a:pPr>
              <a:spcAft>
                <a:spcPts val="800"/>
              </a:spcAft>
            </a:pPr>
            <a:r>
              <a:rPr sz="1250" b="1" i="0">
                <a:solidFill>
                  <a:srgbClr val="FFFFFF"/>
                </a:solidFill>
                <a:latin typeface="Calibri"/>
              </a:rPr>
              <a:t>Cost = </a:t>
            </a:r>
            <a:r>
              <a:rPr sz="1250" b="0" i="0">
                <a:solidFill>
                  <a:srgbClr val="FFFFFF"/>
                </a:solidFill>
                <a:latin typeface="Calibri"/>
              </a:rPr>
              <a:t>model tokens + MCP/platform licensing + engineering time + review time</a:t>
            </a:r>
          </a:p>
          <a:p>
            <a:pPr>
              <a:spcAft>
                <a:spcPts val="800"/>
              </a:spcAft>
            </a:pPr>
            <a:r>
              <a:rPr sz="1250" b="1" i="0">
                <a:solidFill>
                  <a:srgbClr val="FFFFFF"/>
                </a:solidFill>
                <a:latin typeface="Calibri"/>
              </a:rPr>
              <a:t>Rule of thumb: </a:t>
            </a:r>
            <a:r>
              <a:rPr sz="1250" b="0" i="0">
                <a:solidFill>
                  <a:srgbClr val="FFFFFF"/>
                </a:solidFill>
                <a:latin typeface="Calibri"/>
              </a:rPr>
              <a:t>one high-volume alert class automated well pays for the platform. Start there.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Scaling the Agentic SOC: 30 / 60 / 90</a:t>
            </a:r>
          </a:p>
        </p:txBody>
      </p:sp>
      <p:sp>
        <p:nvSpPr>
          <p:cNvPr id="3" name="Rounded Rectangle 2"/>
          <p:cNvSpPr/>
          <p:nvPr/>
        </p:nvSpPr>
        <p:spPr>
          <a:xfrm>
            <a:off x="841248" y="1417320"/>
            <a:ext cx="3310128" cy="45720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069848" y="1600200"/>
            <a:ext cx="2852928" cy="411480"/>
          </a:xfrm>
          <a:prstGeom prst="rect">
            <a:avLst/>
          </a:prstGeom>
          <a:noFill/>
        </p:spPr>
        <p:txBody>
          <a:bodyPr wrap="square" lIns="0" tIns="18288" rIns="0" bIns="18288" anchor="t">
            <a:spAutoFit/>
          </a:bodyPr>
          <a:lstStyle/>
          <a:p>
            <a:pPr algn="l"/>
            <a:r>
              <a:rPr sz="2600" b="1" i="0">
                <a:solidFill>
                  <a:srgbClr val="ACCBF9"/>
                </a:solidFill>
                <a:latin typeface="Calibri"/>
              </a:rPr>
              <a:t>30 days</a:t>
            </a:r>
          </a:p>
        </p:txBody>
      </p:sp>
      <p:sp>
        <p:nvSpPr>
          <p:cNvPr id="5" name="TextBox 4"/>
          <p:cNvSpPr txBox="1"/>
          <p:nvPr/>
        </p:nvSpPr>
        <p:spPr>
          <a:xfrm>
            <a:off x="1069848" y="2057400"/>
            <a:ext cx="2852928" cy="365760"/>
          </a:xfrm>
          <a:prstGeom prst="rect">
            <a:avLst/>
          </a:prstGeom>
          <a:noFill/>
        </p:spPr>
        <p:txBody>
          <a:bodyPr wrap="square" lIns="0" tIns="18288" rIns="0" bIns="18288" anchor="t">
            <a:spAutoFit/>
          </a:bodyPr>
          <a:lstStyle/>
          <a:p>
            <a:pPr algn="l"/>
            <a:r>
              <a:rPr sz="1600" b="1" i="0">
                <a:solidFill>
                  <a:srgbClr val="FFFFFF"/>
                </a:solidFill>
                <a:latin typeface="Calibri"/>
              </a:rPr>
              <a:t>Connect and observe</a:t>
            </a:r>
          </a:p>
        </p:txBody>
      </p:sp>
      <p:sp>
        <p:nvSpPr>
          <p:cNvPr id="6" name="TextBox 5"/>
          <p:cNvSpPr txBox="1"/>
          <p:nvPr/>
        </p:nvSpPr>
        <p:spPr>
          <a:xfrm>
            <a:off x="1069848" y="2560320"/>
            <a:ext cx="2852928" cy="3291840"/>
          </a:xfrm>
          <a:prstGeom prst="rect">
            <a:avLst/>
          </a:prstGeom>
          <a:noFill/>
        </p:spPr>
        <p:txBody>
          <a:bodyPr wrap="square" lIns="0" tIns="18288" rIns="0" bIns="18288" anchor="t">
            <a:spAutoFit/>
          </a:bodyPr>
          <a:lstStyle/>
          <a:p>
            <a:pPr>
              <a:spcAft>
                <a:spcPts val="1200"/>
              </a:spcAft>
            </a:pPr>
            <a:r>
              <a:rPr sz="1450" b="1" i="0">
                <a:solidFill>
                  <a:srgbClr val="629DD1"/>
                </a:solidFill>
                <a:latin typeface="Calibri"/>
              </a:rPr>
              <a:t>▸ </a:t>
            </a:r>
            <a:r>
              <a:rPr sz="1450" b="0" i="0">
                <a:solidFill>
                  <a:srgbClr val="FFFFFF"/>
                </a:solidFill>
                <a:latin typeface="Calibri"/>
              </a:rPr>
              <a:t>Register Entra app, enable data lake, connect Claude / ChatGPT / Copilot via MCP</a:t>
            </a:r>
          </a:p>
          <a:p>
            <a:pPr>
              <a:spcAft>
                <a:spcPts val="1200"/>
              </a:spcAft>
            </a:pPr>
            <a:r>
              <a:rPr sz="1450" b="1" i="0">
                <a:solidFill>
                  <a:srgbClr val="629DD1"/>
                </a:solidFill>
                <a:latin typeface="Calibri"/>
              </a:rPr>
              <a:t>▸ </a:t>
            </a:r>
            <a:r>
              <a:rPr sz="1450" b="0" i="0">
                <a:solidFill>
                  <a:srgbClr val="FFFFFF"/>
                </a:solidFill>
                <a:latin typeface="Calibri"/>
              </a:rPr>
              <a:t>Analysts use natural-language investigation daily</a:t>
            </a:r>
          </a:p>
          <a:p>
            <a:pPr>
              <a:spcAft>
                <a:spcPts val="1200"/>
              </a:spcAft>
            </a:pPr>
            <a:r>
              <a:rPr sz="1450" b="1" i="0">
                <a:solidFill>
                  <a:srgbClr val="629DD1"/>
                </a:solidFill>
                <a:latin typeface="Calibri"/>
              </a:rPr>
              <a:t>▸ </a:t>
            </a:r>
            <a:r>
              <a:rPr sz="1450" b="0" i="0">
                <a:solidFill>
                  <a:srgbClr val="FFFFFF"/>
                </a:solidFill>
                <a:latin typeface="Calibri"/>
              </a:rPr>
              <a:t>Capture the four baseline metrics</a:t>
            </a:r>
          </a:p>
          <a:p>
            <a:pPr>
              <a:spcAft>
                <a:spcPts val="1200"/>
              </a:spcAft>
            </a:pPr>
            <a:r>
              <a:rPr sz="1450" b="1" i="0">
                <a:solidFill>
                  <a:srgbClr val="629DD1"/>
                </a:solidFill>
                <a:latin typeface="Calibri"/>
              </a:rPr>
              <a:t>▸ </a:t>
            </a:r>
            <a:r>
              <a:rPr sz="1450" b="0" i="0">
                <a:solidFill>
                  <a:srgbClr val="FFFFFF"/>
                </a:solidFill>
                <a:latin typeface="Calibri"/>
              </a:rPr>
              <a:t>Pick one high-volume, low-risk alert class</a:t>
            </a:r>
          </a:p>
        </p:txBody>
      </p:sp>
      <p:sp>
        <p:nvSpPr>
          <p:cNvPr id="7" name="Rounded Rectangle 6"/>
          <p:cNvSpPr/>
          <p:nvPr/>
        </p:nvSpPr>
        <p:spPr>
          <a:xfrm>
            <a:off x="4443984" y="1417320"/>
            <a:ext cx="3310128" cy="4572000"/>
          </a:xfrm>
          <a:prstGeom prst="roundRect">
            <a:avLst>
              <a:gd name="adj" fmla="val 8000"/>
            </a:avLst>
          </a:prstGeom>
          <a:solidFill>
            <a:srgbClr val="2438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72584" y="1600200"/>
            <a:ext cx="2852928" cy="411480"/>
          </a:xfrm>
          <a:prstGeom prst="rect">
            <a:avLst/>
          </a:prstGeom>
          <a:noFill/>
        </p:spPr>
        <p:txBody>
          <a:bodyPr wrap="square" lIns="0" tIns="18288" rIns="0" bIns="18288" anchor="t">
            <a:spAutoFit/>
          </a:bodyPr>
          <a:lstStyle/>
          <a:p>
            <a:pPr algn="l"/>
            <a:r>
              <a:rPr sz="2600" b="1" i="0">
                <a:solidFill>
                  <a:srgbClr val="ACCBF9"/>
                </a:solidFill>
                <a:latin typeface="Calibri"/>
              </a:rPr>
              <a:t>60 days</a:t>
            </a:r>
          </a:p>
        </p:txBody>
      </p:sp>
      <p:sp>
        <p:nvSpPr>
          <p:cNvPr id="9" name="TextBox 8"/>
          <p:cNvSpPr txBox="1"/>
          <p:nvPr/>
        </p:nvSpPr>
        <p:spPr>
          <a:xfrm>
            <a:off x="4672584" y="2057400"/>
            <a:ext cx="2852928" cy="365760"/>
          </a:xfrm>
          <a:prstGeom prst="rect">
            <a:avLst/>
          </a:prstGeom>
          <a:noFill/>
        </p:spPr>
        <p:txBody>
          <a:bodyPr wrap="square" lIns="0" tIns="18288" rIns="0" bIns="18288" anchor="t">
            <a:spAutoFit/>
          </a:bodyPr>
          <a:lstStyle/>
          <a:p>
            <a:pPr algn="l"/>
            <a:r>
              <a:rPr sz="1600" b="1" i="0">
                <a:solidFill>
                  <a:srgbClr val="FFFFFF"/>
                </a:solidFill>
                <a:latin typeface="Calibri"/>
              </a:rPr>
              <a:t>First agent, read-only</a:t>
            </a:r>
          </a:p>
        </p:txBody>
      </p:sp>
      <p:sp>
        <p:nvSpPr>
          <p:cNvPr id="10" name="TextBox 9"/>
          <p:cNvSpPr txBox="1"/>
          <p:nvPr/>
        </p:nvSpPr>
        <p:spPr>
          <a:xfrm>
            <a:off x="4672584" y="2560320"/>
            <a:ext cx="2852928" cy="3291840"/>
          </a:xfrm>
          <a:prstGeom prst="rect">
            <a:avLst/>
          </a:prstGeom>
          <a:noFill/>
        </p:spPr>
        <p:txBody>
          <a:bodyPr wrap="square" lIns="0" tIns="18288" rIns="0" bIns="18288" anchor="t">
            <a:spAutoFit/>
          </a:bodyPr>
          <a:lstStyle/>
          <a:p>
            <a:pPr>
              <a:spcAft>
                <a:spcPts val="1200"/>
              </a:spcAft>
            </a:pPr>
            <a:r>
              <a:rPr sz="1450" b="1" i="0">
                <a:solidFill>
                  <a:srgbClr val="629DD1"/>
                </a:solidFill>
                <a:latin typeface="Calibri"/>
              </a:rPr>
              <a:t>▸ </a:t>
            </a:r>
            <a:r>
              <a:rPr sz="1450" b="0" i="0">
                <a:solidFill>
                  <a:srgbClr val="FFFFFF"/>
                </a:solidFill>
                <a:latin typeface="Calibri"/>
              </a:rPr>
              <a:t>Deploy a triage agent on that alert class with approval on every disposition</a:t>
            </a:r>
          </a:p>
          <a:p>
            <a:pPr>
              <a:spcAft>
                <a:spcPts val="1200"/>
              </a:spcAft>
            </a:pPr>
            <a:r>
              <a:rPr sz="1450" b="1" i="0">
                <a:solidFill>
                  <a:srgbClr val="629DD1"/>
                </a:solidFill>
                <a:latin typeface="Calibri"/>
              </a:rPr>
              <a:t>▸ </a:t>
            </a:r>
            <a:r>
              <a:rPr sz="1450" b="0" i="0">
                <a:solidFill>
                  <a:srgbClr val="FFFFFF"/>
                </a:solidFill>
                <a:latin typeface="Calibri"/>
              </a:rPr>
              <a:t>Log every run to Sentinel; review weekly</a:t>
            </a:r>
          </a:p>
          <a:p>
            <a:pPr>
              <a:spcAft>
                <a:spcPts val="1200"/>
              </a:spcAft>
            </a:pPr>
            <a:r>
              <a:rPr sz="1450" b="1" i="0">
                <a:solidFill>
                  <a:srgbClr val="629DD1"/>
                </a:solidFill>
                <a:latin typeface="Calibri"/>
              </a:rPr>
              <a:t>▸ </a:t>
            </a:r>
            <a:r>
              <a:rPr sz="1450" b="0" i="0">
                <a:solidFill>
                  <a:srgbClr val="FFFFFF"/>
                </a:solidFill>
                <a:latin typeface="Calibri"/>
              </a:rPr>
              <a:t>Harden: prompt-injection tests, tool allow-list, separate identity</a:t>
            </a:r>
          </a:p>
          <a:p>
            <a:pPr>
              <a:spcAft>
                <a:spcPts val="1200"/>
              </a:spcAft>
            </a:pPr>
            <a:r>
              <a:rPr sz="1450" b="1" i="0">
                <a:solidFill>
                  <a:srgbClr val="629DD1"/>
                </a:solidFill>
                <a:latin typeface="Calibri"/>
              </a:rPr>
              <a:t>▸ </a:t>
            </a:r>
            <a:r>
              <a:rPr sz="1450" b="0" i="0">
                <a:solidFill>
                  <a:srgbClr val="FFFFFF"/>
                </a:solidFill>
                <a:latin typeface="Calibri"/>
              </a:rPr>
              <a:t>Measure accuracy and time-to-triage delta</a:t>
            </a:r>
          </a:p>
        </p:txBody>
      </p:sp>
      <p:sp>
        <p:nvSpPr>
          <p:cNvPr id="11" name="Rounded Rectangle 10"/>
          <p:cNvSpPr/>
          <p:nvPr/>
        </p:nvSpPr>
        <p:spPr>
          <a:xfrm>
            <a:off x="8046720" y="1417320"/>
            <a:ext cx="3310128" cy="4572000"/>
          </a:xfrm>
          <a:prstGeom prst="roundRect">
            <a:avLst>
              <a:gd name="adj" fmla="val 8000"/>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275320" y="1600200"/>
            <a:ext cx="2852928" cy="411480"/>
          </a:xfrm>
          <a:prstGeom prst="rect">
            <a:avLst/>
          </a:prstGeom>
          <a:noFill/>
        </p:spPr>
        <p:txBody>
          <a:bodyPr wrap="square" lIns="0" tIns="18288" rIns="0" bIns="18288" anchor="t">
            <a:spAutoFit/>
          </a:bodyPr>
          <a:lstStyle/>
          <a:p>
            <a:pPr algn="l"/>
            <a:r>
              <a:rPr sz="2600" b="1" i="0">
                <a:solidFill>
                  <a:srgbClr val="FFFFFF"/>
                </a:solidFill>
                <a:latin typeface="Calibri"/>
              </a:rPr>
              <a:t>90 days</a:t>
            </a:r>
          </a:p>
        </p:txBody>
      </p:sp>
      <p:sp>
        <p:nvSpPr>
          <p:cNvPr id="13" name="TextBox 12"/>
          <p:cNvSpPr txBox="1"/>
          <p:nvPr/>
        </p:nvSpPr>
        <p:spPr>
          <a:xfrm>
            <a:off x="8275320" y="2057400"/>
            <a:ext cx="2852928" cy="365760"/>
          </a:xfrm>
          <a:prstGeom prst="rect">
            <a:avLst/>
          </a:prstGeom>
          <a:noFill/>
        </p:spPr>
        <p:txBody>
          <a:bodyPr wrap="square" lIns="0" tIns="18288" rIns="0" bIns="18288" anchor="t">
            <a:spAutoFit/>
          </a:bodyPr>
          <a:lstStyle/>
          <a:p>
            <a:pPr algn="l"/>
            <a:r>
              <a:rPr sz="1600" b="1" i="0">
                <a:solidFill>
                  <a:srgbClr val="FFFFFF"/>
                </a:solidFill>
                <a:latin typeface="Calibri"/>
              </a:rPr>
              <a:t>Expand and specialize</a:t>
            </a:r>
          </a:p>
        </p:txBody>
      </p:sp>
      <p:sp>
        <p:nvSpPr>
          <p:cNvPr id="14" name="TextBox 13"/>
          <p:cNvSpPr txBox="1"/>
          <p:nvPr/>
        </p:nvSpPr>
        <p:spPr>
          <a:xfrm>
            <a:off x="8275320" y="2560320"/>
            <a:ext cx="2852928" cy="3291840"/>
          </a:xfrm>
          <a:prstGeom prst="rect">
            <a:avLst/>
          </a:prstGeom>
          <a:noFill/>
        </p:spPr>
        <p:txBody>
          <a:bodyPr wrap="square" lIns="0" tIns="18288" rIns="0" bIns="18288" anchor="t">
            <a:spAutoFit/>
          </a:bodyPr>
          <a:lstStyle/>
          <a:p>
            <a:pPr>
              <a:spcAft>
                <a:spcPts val="1200"/>
              </a:spcAft>
            </a:pPr>
            <a:r>
              <a:rPr sz="1450" b="1" i="0">
                <a:solidFill>
                  <a:srgbClr val="FFFFFF"/>
                </a:solidFill>
                <a:latin typeface="Calibri"/>
              </a:rPr>
              <a:t>▸ </a:t>
            </a:r>
            <a:r>
              <a:rPr sz="1450" b="0" i="0">
                <a:solidFill>
                  <a:srgbClr val="FFFFFF"/>
                </a:solidFill>
                <a:latin typeface="Calibri"/>
              </a:rPr>
              <a:t>Auto-close where accuracy &gt; 95% and class is well understood</a:t>
            </a:r>
          </a:p>
          <a:p>
            <a:pPr>
              <a:spcAft>
                <a:spcPts val="1200"/>
              </a:spcAft>
            </a:pPr>
            <a:r>
              <a:rPr sz="1450" b="1" i="0">
                <a:solidFill>
                  <a:srgbClr val="FFFFFF"/>
                </a:solidFill>
                <a:latin typeface="Calibri"/>
              </a:rPr>
              <a:t>▸ </a:t>
            </a:r>
            <a:r>
              <a:rPr sz="1450" b="0" i="0">
                <a:solidFill>
                  <a:srgbClr val="FFFFFF"/>
                </a:solidFill>
                <a:latin typeface="Calibri"/>
              </a:rPr>
              <a:t>Add enrichment and hunting agents; hand off between them</a:t>
            </a:r>
          </a:p>
          <a:p>
            <a:pPr>
              <a:spcAft>
                <a:spcPts val="1200"/>
              </a:spcAft>
            </a:pPr>
            <a:r>
              <a:rPr sz="1450" b="1" i="0">
                <a:solidFill>
                  <a:srgbClr val="FFFFFF"/>
                </a:solidFill>
                <a:latin typeface="Calibri"/>
              </a:rPr>
              <a:t>▸ </a:t>
            </a:r>
            <a:r>
              <a:rPr sz="1450" b="0" i="0">
                <a:solidFill>
                  <a:srgbClr val="FFFFFF"/>
                </a:solidFill>
                <a:latin typeface="Calibri"/>
              </a:rPr>
              <a:t>Reuse the same MCP servers across on-prem, Azure, and multi-cloud</a:t>
            </a:r>
          </a:p>
          <a:p>
            <a:pPr>
              <a:spcAft>
                <a:spcPts val="1200"/>
              </a:spcAft>
            </a:pPr>
            <a:r>
              <a:rPr sz="1450" b="1" i="0">
                <a:solidFill>
                  <a:srgbClr val="FFFFFF"/>
                </a:solidFill>
                <a:latin typeface="Calibri"/>
              </a:rPr>
              <a:t>▸ </a:t>
            </a:r>
            <a:r>
              <a:rPr sz="1450" b="0" i="0">
                <a:solidFill>
                  <a:srgbClr val="FFFFFF"/>
                </a:solidFill>
                <a:latin typeface="Calibri"/>
              </a:rPr>
              <a:t>Redeploy reclaimed hours to threat hunting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a:t>Takeaways</a:t>
            </a:r>
          </a:p>
        </p:txBody>
      </p:sp>
      <p:sp>
        <p:nvSpPr>
          <p:cNvPr id="3" name="Rounded Rectangle 2"/>
          <p:cNvSpPr/>
          <p:nvPr/>
        </p:nvSpPr>
        <p:spPr>
          <a:xfrm>
            <a:off x="841248" y="141732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64592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png"/>
          <p:cNvPicPr>
            <a:picLocks noChangeAspect="1"/>
          </p:cNvPicPr>
          <p:nvPr/>
        </p:nvPicPr>
        <p:blipFill>
          <a:blip r:embed="rId3"/>
          <a:stretch>
            <a:fillRect/>
          </a:stretch>
        </p:blipFill>
        <p:spPr>
          <a:xfrm>
            <a:off x="1241298" y="1817370"/>
            <a:ext cx="342900" cy="342900"/>
          </a:xfrm>
          <a:prstGeom prst="rect">
            <a:avLst/>
          </a:prstGeom>
        </p:spPr>
      </p:pic>
      <p:sp>
        <p:nvSpPr>
          <p:cNvPr id="6" name="TextBox 5"/>
          <p:cNvSpPr txBox="1"/>
          <p:nvPr/>
        </p:nvSpPr>
        <p:spPr>
          <a:xfrm>
            <a:off x="1938528" y="170992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Connect</a:t>
            </a:r>
          </a:p>
        </p:txBody>
      </p:sp>
      <p:sp>
        <p:nvSpPr>
          <p:cNvPr id="7" name="TextBox 6"/>
          <p:cNvSpPr txBox="1"/>
          <p:nvPr/>
        </p:nvSpPr>
        <p:spPr>
          <a:xfrm>
            <a:off x="1069848" y="242316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Register one Entra app, point Claude, Copilot, or ChatGPT at the Sentinel MCP server. Stop pasting logs into chat.</a:t>
            </a:r>
          </a:p>
        </p:txBody>
      </p:sp>
      <p:sp>
        <p:nvSpPr>
          <p:cNvPr id="8" name="Rounded Rectangle 7"/>
          <p:cNvSpPr/>
          <p:nvPr/>
        </p:nvSpPr>
        <p:spPr>
          <a:xfrm>
            <a:off x="6190488" y="141732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19088" y="164592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obot.png"/>
          <p:cNvPicPr>
            <a:picLocks noChangeAspect="1"/>
          </p:cNvPicPr>
          <p:nvPr/>
        </p:nvPicPr>
        <p:blipFill>
          <a:blip r:embed="rId4"/>
          <a:stretch>
            <a:fillRect/>
          </a:stretch>
        </p:blipFill>
        <p:spPr>
          <a:xfrm>
            <a:off x="6590538" y="1817370"/>
            <a:ext cx="342900" cy="342900"/>
          </a:xfrm>
          <a:prstGeom prst="rect">
            <a:avLst/>
          </a:prstGeom>
        </p:spPr>
      </p:pic>
      <p:sp>
        <p:nvSpPr>
          <p:cNvPr id="11" name="TextBox 10"/>
          <p:cNvSpPr txBox="1"/>
          <p:nvPr/>
        </p:nvSpPr>
        <p:spPr>
          <a:xfrm>
            <a:off x="7287768" y="170992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Automate</a:t>
            </a:r>
          </a:p>
        </p:txBody>
      </p:sp>
      <p:sp>
        <p:nvSpPr>
          <p:cNvPr id="12" name="TextBox 11"/>
          <p:cNvSpPr txBox="1"/>
          <p:nvPr/>
        </p:nvSpPr>
        <p:spPr>
          <a:xfrm>
            <a:off x="6419088" y="242316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Build the triage -&gt; correlate -&gt; enrich -&gt; reason -&gt; approve -&gt; act loop as an agent. Start with one noisy alert class. Keep humans on the trigger.</a:t>
            </a:r>
          </a:p>
        </p:txBody>
      </p:sp>
      <p:sp>
        <p:nvSpPr>
          <p:cNvPr id="13" name="Rounded Rectangle 12"/>
          <p:cNvSpPr/>
          <p:nvPr/>
        </p:nvSpPr>
        <p:spPr>
          <a:xfrm>
            <a:off x="841248" y="365760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69848" y="388620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hield.png"/>
          <p:cNvPicPr>
            <a:picLocks noChangeAspect="1"/>
          </p:cNvPicPr>
          <p:nvPr/>
        </p:nvPicPr>
        <p:blipFill>
          <a:blip r:embed="rId5"/>
          <a:stretch>
            <a:fillRect/>
          </a:stretch>
        </p:blipFill>
        <p:spPr>
          <a:xfrm>
            <a:off x="1241298" y="4057650"/>
            <a:ext cx="342900" cy="342900"/>
          </a:xfrm>
          <a:prstGeom prst="rect">
            <a:avLst/>
          </a:prstGeom>
        </p:spPr>
      </p:pic>
      <p:sp>
        <p:nvSpPr>
          <p:cNvPr id="16" name="TextBox 15"/>
          <p:cNvSpPr txBox="1"/>
          <p:nvPr/>
        </p:nvSpPr>
        <p:spPr>
          <a:xfrm>
            <a:off x="1938528" y="395020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Control</a:t>
            </a:r>
          </a:p>
        </p:txBody>
      </p:sp>
      <p:sp>
        <p:nvSpPr>
          <p:cNvPr id="17" name="TextBox 16"/>
          <p:cNvSpPr txBox="1"/>
          <p:nvPr/>
        </p:nvSpPr>
        <p:spPr>
          <a:xfrm>
            <a:off x="1069848" y="466344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Least privilege, approval gates, prompt-injection defense, and full audit make agents deployable in regulated environments.</a:t>
            </a:r>
          </a:p>
        </p:txBody>
      </p:sp>
      <p:sp>
        <p:nvSpPr>
          <p:cNvPr id="18" name="Rounded Rectangle 17"/>
          <p:cNvSpPr/>
          <p:nvPr/>
        </p:nvSpPr>
        <p:spPr>
          <a:xfrm>
            <a:off x="6190488" y="3657600"/>
            <a:ext cx="5166360" cy="2057400"/>
          </a:xfrm>
          <a:prstGeom prst="roundRect">
            <a:avLst>
              <a:gd name="adj" fmla="val 8000"/>
            </a:avLst>
          </a:prstGeom>
          <a:solidFill>
            <a:srgbClr val="1B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19088" y="3886200"/>
            <a:ext cx="685800" cy="685800"/>
          </a:xfrm>
          <a:prstGeom prst="ellipse">
            <a:avLst/>
          </a:prstGeom>
          <a:solidFill>
            <a:srgbClr val="297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art.png"/>
          <p:cNvPicPr>
            <a:picLocks noChangeAspect="1"/>
          </p:cNvPicPr>
          <p:nvPr/>
        </p:nvPicPr>
        <p:blipFill>
          <a:blip r:embed="rId6"/>
          <a:stretch>
            <a:fillRect/>
          </a:stretch>
        </p:blipFill>
        <p:spPr>
          <a:xfrm>
            <a:off x="6590538" y="4057650"/>
            <a:ext cx="342900" cy="342900"/>
          </a:xfrm>
          <a:prstGeom prst="rect">
            <a:avLst/>
          </a:prstGeom>
        </p:spPr>
      </p:pic>
      <p:sp>
        <p:nvSpPr>
          <p:cNvPr id="21" name="TextBox 20"/>
          <p:cNvSpPr txBox="1"/>
          <p:nvPr/>
        </p:nvSpPr>
        <p:spPr>
          <a:xfrm>
            <a:off x="7287768" y="3950208"/>
            <a:ext cx="3840480" cy="548640"/>
          </a:xfrm>
          <a:prstGeom prst="rect">
            <a:avLst/>
          </a:prstGeom>
          <a:noFill/>
        </p:spPr>
        <p:txBody>
          <a:bodyPr wrap="square" lIns="0" tIns="18288" rIns="0" bIns="18288" anchor="ctr">
            <a:spAutoFit/>
          </a:bodyPr>
          <a:lstStyle/>
          <a:p>
            <a:pPr algn="l"/>
            <a:r>
              <a:rPr sz="2200" b="1" i="0">
                <a:solidFill>
                  <a:srgbClr val="FFFFFF"/>
                </a:solidFill>
                <a:latin typeface="Calibri"/>
              </a:rPr>
              <a:t>Measure and scale</a:t>
            </a:r>
          </a:p>
        </p:txBody>
      </p:sp>
      <p:sp>
        <p:nvSpPr>
          <p:cNvPr id="22" name="TextBox 21"/>
          <p:cNvSpPr txBox="1"/>
          <p:nvPr/>
        </p:nvSpPr>
        <p:spPr>
          <a:xfrm>
            <a:off x="6419088" y="4663440"/>
            <a:ext cx="4709160" cy="1005840"/>
          </a:xfrm>
          <a:prstGeom prst="rect">
            <a:avLst/>
          </a:prstGeom>
          <a:noFill/>
        </p:spPr>
        <p:txBody>
          <a:bodyPr wrap="square" lIns="0" tIns="18288" rIns="0" bIns="18288" anchor="t">
            <a:spAutoFit/>
          </a:bodyPr>
          <a:lstStyle/>
          <a:p>
            <a:pPr algn="l"/>
            <a:r>
              <a:rPr sz="1300" b="0" i="0">
                <a:solidFill>
                  <a:srgbClr val="C9D6F0"/>
                </a:solidFill>
                <a:latin typeface="Calibri"/>
              </a:rPr>
              <a:t>Baseline MTTT and uninvestigated rate first; expand scope only when accuracy earns it. Same MCP plumbing scales anywhere.</a:t>
            </a:r>
          </a:p>
        </p:txBody>
      </p:sp>
      <p:sp>
        <p:nvSpPr>
          <p:cNvPr id="23" name="TextBox 22"/>
          <p:cNvSpPr txBox="1"/>
          <p:nvPr/>
        </p:nvSpPr>
        <p:spPr>
          <a:xfrm>
            <a:off x="841248" y="5943600"/>
            <a:ext cx="10515600" cy="365760"/>
          </a:xfrm>
          <a:prstGeom prst="rect">
            <a:avLst/>
          </a:prstGeom>
          <a:noFill/>
        </p:spPr>
        <p:txBody>
          <a:bodyPr wrap="square" lIns="0" tIns="18288" rIns="0" bIns="18288" anchor="t">
            <a:spAutoFit/>
          </a:bodyPr>
          <a:lstStyle/>
          <a:p>
            <a:pPr algn="ctr"/>
            <a:r>
              <a:rPr sz="1500" b="1" i="1">
                <a:solidFill>
                  <a:srgbClr val="ACCBF9"/>
                </a:solidFill>
                <a:latin typeface="Calibri"/>
              </a:rPr>
              <a:t>One production agent beats ten slideware POCs. The goal is not fewer analysts — it is junior analysts doing senior work sooner.</a:t>
            </a:r>
          </a:p>
        </p:txBody>
      </p:sp>
      <p:sp>
        <p:nvSpPr>
          <p:cNvPr id="24" name="TextBox 23"/>
          <p:cNvSpPr txBox="1"/>
          <p:nvPr/>
        </p:nvSpPr>
        <p:spPr>
          <a:xfrm>
            <a:off x="841248" y="6345936"/>
            <a:ext cx="10515600" cy="384048"/>
          </a:xfrm>
          <a:prstGeom prst="rect">
            <a:avLst/>
          </a:prstGeom>
          <a:noFill/>
        </p:spPr>
        <p:txBody>
          <a:bodyPr wrap="none" anchor="ctr" tIns="0" bIns="0">
            <a:spAutoFit/>
          </a:bodyPr>
          <a:lstStyle/>
          <a:p>
            <a:pPr algn="ctr"/>
            <a:r>
              <a:rPr sz="1250" b="1">
                <a:solidFill>
                  <a:srgbClr val="F2B134"/>
                </a:solidFill>
                <a:latin typeface="Calibri"/>
              </a:rPr>
              <a:t>Every demo runs in your browser:  mms-midway-demos.vercel.app</a:t>
            </a:r>
            <a:r>
              <a:rPr sz="1250" b="1">
                <a:solidFill>
                  <a:srgbClr val="F2B134"/>
                </a:solidFill>
                <a:latin typeface="Calibri"/>
              </a:rPr>
              <a:t xml:space="preserve">     ·     </a:t>
            </a:r>
            <a:r>
              <a:rPr sz="1250" b="1">
                <a:solidFill>
                  <a:srgbClr val="F2B134"/>
                </a:solidFill>
                <a:latin typeface="Calibri"/>
              </a:rPr>
              <a:t>Demo code:  go.rodtrent.com/go/eje7vdj</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7C4865-A8EA-DE9B-A9E4-A479B9FE5284}"/>
              </a:ext>
            </a:extLst>
          </p:cNvPr>
          <p:cNvSpPr>
            <a:spLocks noGrp="1"/>
          </p:cNvSpPr>
          <p:nvPr>
            <p:ph type="body" sz="quarter" idx="10"/>
          </p:nvPr>
        </p:nvSpPr>
        <p:spPr>
          <a:xfrm>
            <a:off x="841248" y="3063240"/>
            <a:ext cx="8686800" cy="2651760"/>
          </a:xfrm>
        </p:spPr>
        <p:txBody>
          <a:bodyPr/>
          <a:lstStyle/>
          <a:p>
            <a:r>
              <a:rPr sz="2000" b="1"/>
              <a:t>Rod Trent — sign up at the Wingman board</a:t>
            </a:r>
          </a:p>
          <a:p>
            <a:r>
              <a:rPr sz="2000" b="0"/>
              <a:t>Topics: Sentinel MCP setup, SOC agent design, measuring ROI</a:t>
            </a:r>
          </a:p>
          <a:p>
            <a:r>
              <a:rPr sz="2000" b="0"/>
              <a:t>Bring your noisiest alert class and we will sketch the agent together</a:t>
            </a:r>
          </a:p>
          <a:p>
            <a:r>
              <a:rPr sz="1600" b="1">
                <a:solidFill>
                  <a:srgbClr val="F2B134"/>
                </a:solidFill>
              </a:rPr>
              <a:t>Also speaking: Using AI for Modern Threat Detection — Tue 27 Oct, 10:00am, Seaport G</a:t>
            </a:r>
          </a:p>
        </p:txBody>
      </p:sp>
    </p:spTree>
    <p:extLst>
      <p:ext uri="{BB962C8B-B14F-4D97-AF65-F5344CB8AC3E}">
        <p14:creationId xmlns:p14="http://schemas.microsoft.com/office/powerpoint/2010/main" val="1651702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30864"/>
      </p:ext>
    </p:extLst>
  </p:cSld>
  <p:clrMapOvr>
    <a:masterClrMapping/>
  </p:clrMapOvr>
</p:sld>
</file>

<file path=ppt/theme/theme1.xml><?xml version="1.0" encoding="utf-8"?>
<a:theme xmlns:a="http://schemas.openxmlformats.org/drawingml/2006/main" name="Dark Mod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MS2026Midway.potx" id="{1CD45872-530B-4F7C-9591-6697A1BD1523}" vid="{7704F53D-36FD-4B2E-B3FE-34DA81DFE0B1}"/>
    </a:ext>
  </a:extLst>
</a:theme>
</file>

<file path=ppt/theme/theme2.xml><?xml version="1.0" encoding="utf-8"?>
<a:theme xmlns:a="http://schemas.openxmlformats.org/drawingml/2006/main" name="Light Mod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MS2026Midway.potx" id="{1CD45872-530B-4F7C-9591-6697A1BD1523}" vid="{F97CCE97-21E9-40C0-A587-75D4786DBD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6787FB9552CF40BFF026EAAC52FBCA" ma:contentTypeVersion="20" ma:contentTypeDescription="Create a new document." ma:contentTypeScope="" ma:versionID="edddbbb644e7c0bd6adf7ea50799224d">
  <xsd:schema xmlns:xsd="http://www.w3.org/2001/XMLSchema" xmlns:xs="http://www.w3.org/2001/XMLSchema" xmlns:p="http://schemas.microsoft.com/office/2006/metadata/properties" xmlns:ns2="0f628621-369a-46c7-83bd-de17ca407533" xmlns:ns3="994c1987-0261-432a-b2ef-a9da39f1b5e2" targetNamespace="http://schemas.microsoft.com/office/2006/metadata/properties" ma:root="true" ma:fieldsID="49108ad5585ca2305a1dbbeb1151d3a3" ns2:_="" ns3:_="">
    <xsd:import namespace="0f628621-369a-46c7-83bd-de17ca407533"/>
    <xsd:import namespace="994c1987-0261-432a-b2ef-a9da39f1b5e2"/>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28621-369a-46c7-83bd-de17ca40753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3" nillable="true" ma:displayName="Taxonomy Catch All Column" ma:hidden="true" ma:list="{373337a8-41f0-47ae-895f-b179ccc8878d}" ma:internalName="TaxCatchAll" ma:showField="CatchAllData" ma:web="0f628621-369a-46c7-83bd-de17ca4075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4c1987-0261-432a-b2ef-a9da39f1b5e2"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4f3eb32-8128-4a7e-868e-0456b78e6ea9"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4c1987-0261-432a-b2ef-a9da39f1b5e2">
      <Terms xmlns="http://schemas.microsoft.com/office/infopath/2007/PartnerControls"/>
    </lcf76f155ced4ddcb4097134ff3c332f>
    <TaxCatchAll xmlns="0f628621-369a-46c7-83bd-de17ca407533" xsi:nil="true"/>
  </documentManagement>
</p:properties>
</file>

<file path=customXml/itemProps1.xml><?xml version="1.0" encoding="utf-8"?>
<ds:datastoreItem xmlns:ds="http://schemas.openxmlformats.org/officeDocument/2006/customXml" ds:itemID="{FBB99CDF-4DD1-4BCA-94A9-937C9978E90C}">
  <ds:schemaRefs>
    <ds:schemaRef ds:uri="http://schemas.microsoft.com/sharepoint/v3/contenttype/forms"/>
  </ds:schemaRefs>
</ds:datastoreItem>
</file>

<file path=customXml/itemProps2.xml><?xml version="1.0" encoding="utf-8"?>
<ds:datastoreItem xmlns:ds="http://schemas.openxmlformats.org/officeDocument/2006/customXml" ds:itemID="{99065E6A-98D3-49B8-B8B2-3F4A0FC766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628621-369a-46c7-83bd-de17ca407533"/>
    <ds:schemaRef ds:uri="994c1987-0261-432a-b2ef-a9da39f1b5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CE0B4D4-529D-4984-8525-2DCCA1BEFF9D}">
  <ds:schemaRefs>
    <ds:schemaRef ds:uri="994c1987-0261-432a-b2ef-a9da39f1b5e2"/>
    <ds:schemaRef ds:uri="http://schemas.openxmlformats.org/package/2006/metadata/core-properties"/>
    <ds:schemaRef ds:uri="0f628621-369a-46c7-83bd-de17ca407533"/>
    <ds:schemaRef ds:uri="http://www.w3.org/XML/1998/namespace"/>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1791</TotalTime>
  <Words>3827</Words>
  <Application>Microsoft Office PowerPoint</Application>
  <PresentationFormat>Widescreen</PresentationFormat>
  <Paragraphs>296</Paragraphs>
  <Slides>25</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Aptos</vt:lpstr>
      <vt:lpstr>Aptos Display</vt:lpstr>
      <vt:lpstr>Arial</vt:lpstr>
      <vt:lpstr>Calibri</vt:lpstr>
      <vt:lpstr>Courier New</vt:lpstr>
      <vt:lpstr>Wingdings</vt:lpstr>
      <vt:lpstr>Dark Mode</vt:lpstr>
      <vt:lpstr>Light Mode</vt:lpstr>
      <vt:lpstr>Empowering SOC Teams</vt:lpstr>
      <vt:lpstr>Attention   </vt:lpstr>
      <vt:lpstr>PowerPoint Presentation</vt:lpstr>
      <vt:lpstr>Flight Plan</vt:lpstr>
      <vt:lpstr>The SOC Is Stalled</vt:lpstr>
      <vt:lpstr>The SOC Is Drowning in Alerts</vt:lpstr>
      <vt:lpstr>Volume Eases. The Manual Loop Does Not.</vt:lpstr>
      <vt:lpstr>What Good Looks Like</vt:lpstr>
      <vt:lpstr>The Agentic Stack</vt:lpstr>
      <vt:lpstr>Three Assistants, One SOC</vt:lpstr>
      <vt:lpstr>MCP: The USB-C Port for Security Data</vt:lpstr>
      <vt:lpstr>From Chatbot to Agent: The Maturity Ladder</vt:lpstr>
      <vt:lpstr>Live Missions</vt:lpstr>
      <vt:lpstr>Mission 1: Wire the Model</vt:lpstr>
      <vt:lpstr>Mission 1 Walkthrough</vt:lpstr>
      <vt:lpstr>Anatomy of a Triage Agent</vt:lpstr>
      <vt:lpstr>Mission 2: Auto-Triage + HITL</vt:lpstr>
      <vt:lpstr>Mission 2 Walkthrough</vt:lpstr>
      <vt:lpstr>Ship It Without Getting Fired</vt:lpstr>
      <vt:lpstr>Human-in-the-Loop Is a Design Pattern</vt:lpstr>
      <vt:lpstr>Measuring ROI: Instrument, Then Automate</vt:lpstr>
      <vt:lpstr>Scaling the Agentic SOC: 30 / 60 / 90</vt:lpstr>
      <vt:lpstr>Takeaways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MMS Midway Edition</dc:subject>
  <dc:creator>Brian Mason</dc:creator>
  <cp:lastModifiedBy>Rod Trent</cp:lastModifiedBy>
  <cp:revision>28</cp:revision>
  <dcterms:created xsi:type="dcterms:W3CDTF">2026-07-27T17:28:52Z</dcterms:created>
  <dcterms:modified xsi:type="dcterms:W3CDTF">2026-09-05T18:05:59Z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0x010100066787FB9552CF40BFF026EAAC52FBCA</vt:lpwstr>
  </property>
  <property fmtid="{D5CDD505-2E9C-101B-9397-08002B2CF9AE}" pid="3" name="MediaServiceImageTags">
    <vt:lpwstr/>
  </property>
</Properties>
</file>