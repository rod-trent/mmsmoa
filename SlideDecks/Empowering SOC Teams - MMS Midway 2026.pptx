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 The 60% is the stake: Prophet Security's 2026 survey found 60% of respondents had an alert they ignored or never investigated later prove material - customer data exposed, systems down, or business disrupted - and for 34% of them that happened three or more times in twelve months. Pair it with the 42% tile: the queue is not just long, the things being skipped are real. Prophet puts the uninvestigated rate at 28% average, 22% median, with 39% of teams leaving 30% or more untouched, so if someone challenges the 42% you have a second source that tells the same story.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 The new caption is the whole argument of the slide: Vectra's 2026 report has average volume falling from 3,832 to 2,992 alerts a day, yet 63% of alerts still go unaddressed. Less water, same size bucket. Vectra surveyed 1,450 practitioners and published it on 10 February 2026.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 The 76% is your answer to 'is anyone actually doing this?' - Vectra 2026: 76% of defenders say AI agents or assistants already handle more than 10% of their workload. Most of that is Level 1. The point of the ladder is that the value and the risk both change as you climb, and that 76% have already started climbing whether or not they governed it. Related: 71% say they set aside important security tasks at least two days a week.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11 minutes with step 7, or 9 if you cut).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 Step 7 uses the PREVIEW graph tools, which need two more things than the rest of Mission 1: the data lake onboarded to the Defender portal, and at least read-only access in Microsoft Security Exposure Management. They bill against the Sentinel graph meter. If you are running long, cut the 'can it write?' detour; if the tenant is misbehaving, step 7 is the first thing to drop - it is the newest and least stable part of the demo, and the offline version in the demo site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 Step 7 is new and it is the one people will ask about afterwards. Two things to land: the key vault is NOT in the blast radius because PIM eligibility is not activation - a tool that counted edges would have got that wrong - and there are two doors into the mailbox, so revoking the OAuth grant has to come BEFORE the password reset. Containment order is a graph question. The graph tools are preview and bill against the Sentinel graph meter, so say 'preview' out loud once.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 Two baselines for the uninvestigated rate now: Microsoft/Omdia's 42% and Prophet's 28% average (22% median) from 2026. Use whichever is closer to the room's reality - the point is to measure your own for 30 days, not to adopt an industry number.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530352"/>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a:p>
            <a:pPr algn="l"/>
            <a:r>
              <a:rPr sz="1400" b="0" i="1">
                <a:solidFill>
                  <a:srgbClr val="C9D6F0"/>
                </a:solidFill>
                <a:latin typeface="Calibri"/>
              </a:rPr>
              <a:t>And it matters: 60% say an alert they ignored or never investigated later proved material (Prophet Security,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603504"/>
          </a:xfrm>
          <a:prstGeom prst="rect">
            <a:avLst/>
          </a:prstGeom>
          <a:noFill/>
        </p:spPr>
        <p:txBody>
          <a:bodyPr wrap="square" lIns="0" tIns="18288" rIns="0" bIns="18288" anchor="t">
            <a:spAutoFit/>
          </a:bodyPr>
          <a:lstStyle/>
          <a:p>
            <a:pPr algn="l"/>
            <a:r>
              <a:rPr sz="1150" b="0" i="0">
                <a:solidFill>
                  <a:srgbClr val="C9D6F0"/>
                </a:solidFill>
                <a:latin typeface="Calibri"/>
              </a:rPr>
              <a:t>The queue shrank. The gap did not — 63% of alerts still go unaddressed.</a:t>
            </a:r>
          </a:p>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658368"/>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a:p>
            <a:pPr algn="l"/>
            <a:r>
              <a:rPr sz="1300" b="0" i="1">
                <a:solidFill>
                  <a:srgbClr val="C9D6F0"/>
                </a:solidFill>
                <a:latin typeface="Calibri"/>
              </a:rPr>
              <a:t>This is not hypothetical: 76% of defenders say AI agents or assistants already handle more than 10% of their workload (Vectra AI,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481328" y="5138928"/>
            <a:ext cx="1463040" cy="1463040"/>
          </a:xfrm>
          <a:prstGeom prst="rect">
            <a:avLst/>
          </a:prstGeom>
        </p:spPr>
      </p:pic>
      <p:sp>
        <p:nvSpPr>
          <p:cNvPr id="7" name="TextBox 6"/>
          <p:cNvSpPr txBox="1"/>
          <p:nvPr/>
        </p:nvSpPr>
        <p:spPr>
          <a:xfrm>
            <a:off x="3154680"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154680"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
        <p:nvSpPr>
          <p:cNvPr id="9" name="QR repo TextBox 6"/>
          <p:cNvSpPr txBox="1"/>
          <p:nvPr/>
        </p:nvSpPr>
        <p:spPr>
          <a:xfrm>
            <a:off x="8439912" y="557784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439912" y="594360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766560" y="513892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6144768"/>
            <a:ext cx="10515600" cy="603504"/>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6245352"/>
            <a:ext cx="411480" cy="411480"/>
          </a:xfrm>
          <a:prstGeom prst="rect">
            <a:avLst/>
          </a:prstGeom>
        </p:spPr>
      </p:pic>
      <p:sp>
        <p:nvSpPr>
          <p:cNvPr id="29" name="TextBox 28"/>
          <p:cNvSpPr txBox="1"/>
          <p:nvPr/>
        </p:nvSpPr>
        <p:spPr>
          <a:xfrm>
            <a:off x="1554480" y="6144768"/>
            <a:ext cx="9692640" cy="603504"/>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
        <p:nvSpPr>
          <p:cNvPr id="30" name="Rounded Rectangle 98-g7"/>
          <p:cNvSpPr/>
          <p:nvPr/>
        </p:nvSpPr>
        <p:spPr>
          <a:xfrm>
            <a:off x="841248" y="4846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99-g7"/>
          <p:cNvSpPr/>
          <p:nvPr/>
        </p:nvSpPr>
        <p:spPr>
          <a:xfrm>
            <a:off x="1024128" y="5074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7</a:t>
            </a:r>
          </a:p>
        </p:txBody>
      </p:sp>
      <p:sp>
        <p:nvSpPr>
          <p:cNvPr id="32" name="TextBox 90-g7"/>
          <p:cNvSpPr txBox="1"/>
          <p:nvPr/>
        </p:nvSpPr>
        <p:spPr>
          <a:xfrm>
            <a:off x="1709928" y="4956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Map the blast radius</a:t>
            </a:r>
          </a:p>
        </p:txBody>
      </p:sp>
      <p:sp>
        <p:nvSpPr>
          <p:cNvPr id="33" name="TextBox 91-g7"/>
          <p:cNvSpPr txBox="1"/>
          <p:nvPr/>
        </p:nvSpPr>
        <p:spPr>
          <a:xfrm>
            <a:off x="1709928" y="5285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Preview graph tools: what the account can actually reach, what is blocked and why, and why a reset alone will not close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(Omdia) or 28% (Prophet, 2026)</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